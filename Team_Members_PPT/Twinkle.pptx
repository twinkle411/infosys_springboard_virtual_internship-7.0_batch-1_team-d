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7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3" Type="http://schemas.openxmlformats.org/officeDocument/2006/relationships/image" Target="../media/image24.png"/><Relationship Id="rId2" Type="http://schemas.openxmlformats.org/officeDocument/2006/relationships/image" Target="../media/image18.png"/><Relationship Id="rId1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home/claude/logo.png"/>
          <p:cNvPicPr>
            <a:picLocks noChangeAspect="1"/>
          </p:cNvPicPr>
          <p:nvPr/>
        </p:nvPicPr>
        <p:blipFill>
          <a:blip r:embed="rId1"/>
          <a:srcRect r="23827" b="22809"/>
          <a:stretch>
            <a:fillRect/>
          </a:stretch>
        </p:blipFill>
        <p:spPr>
          <a:xfrm>
            <a:off x="658495" y="457835"/>
            <a:ext cx="2763520" cy="13747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393315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sz="2000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21792" y="2697480"/>
            <a:ext cx="1024128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7030A0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Cyber Threat Analytics Platform with Incident Visualization System Group-1</a:t>
            </a:r>
            <a:endParaRPr lang="en-US" sz="4000" b="1" dirty="0">
              <a:solidFill>
                <a:srgbClr val="7030A0"/>
              </a:solidFill>
              <a:latin typeface="Cambria" panose="02040503050406030204" charset="0"/>
              <a:ea typeface="Calibri" panose="020F0502020204030204" pitchFamily="34" charset="-122"/>
              <a:cs typeface="Cambria" panose="0204050305040603020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480060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Presented By:  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Twinkle Mohanty  |  Team D | </a:t>
            </a:r>
            <a:r>
              <a:rPr lang="en-US" alt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Batch – 1, Group - 1</a:t>
            </a:r>
            <a:endParaRPr lang="en-US" altLang="en-US" sz="2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" y="5193792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Organization: </a:t>
            </a:r>
            <a:r>
              <a:rPr lang="en-US" sz="2000" b="1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Infosys Springboard — Virtual Internship 7.0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5586984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Mentor:  </a:t>
            </a:r>
            <a:r>
              <a:rPr lang="en-US" alt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Mrs. Nithyasree</a:t>
            </a:r>
            <a:endParaRPr lang="en-US" altLang="en-US" sz="2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 flipV="1">
            <a:off x="640080" y="4466590"/>
            <a:ext cx="8518525" cy="9525"/>
          </a:xfrm>
          <a:prstGeom prst="line">
            <a:avLst/>
          </a:prstGeom>
          <a:noFill/>
          <a:ln w="31750">
            <a:solidFill>
              <a:srgbClr val="F2A93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48640" y="64643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OVERVIEW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56005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Project Objectives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640" y="1947672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3A48"/>
          </a:solidFill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221992"/>
            <a:ext cx="685800" cy="6858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8" name="Image 1" descr="/home/claude/icons/FiLay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114" y="2311146"/>
            <a:ext cx="507492" cy="5074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91640" y="2203704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the Data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22960" y="2999232"/>
            <a:ext cx="47091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Structure cleaned features into aggregations and relationships ready for dashboarding.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172200" y="1947672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3A48"/>
          </a:solidFill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46520" y="2221992"/>
            <a:ext cx="685800" cy="6858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3" name="Image 2" descr="/home/claude/icons/FiBarCh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674" y="2311146"/>
            <a:ext cx="507492" cy="507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15200" y="2203704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Visualize Insights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446520" y="2999232"/>
            <a:ext cx="47091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 interactive Power BI dashboards across incidents, actors, and geography.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4416552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3A48"/>
          </a:solidFill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690872"/>
            <a:ext cx="685800" cy="6858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8" name="Image 3" descr="/home/claude/icons/Fi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4780026"/>
            <a:ext cx="507492" cy="5074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672584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Analyze Patterns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22960" y="5468112"/>
            <a:ext cx="47091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Uncover attack-type, motive, and country-level threat patterns in the data.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6172200" y="4416552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3A48"/>
          </a:solidFill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46520" y="4690872"/>
            <a:ext cx="685800" cy="6858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23" name="Image 4" descr="/home/claude/icons/FiFile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674" y="4780026"/>
            <a:ext cx="507492" cy="5074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315200" y="4672584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 Findings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446520" y="5468112"/>
            <a:ext cx="470916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5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Summarize insights into an executive-ready threat analytics view.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5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sz="1100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124585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Project Description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764792"/>
            <a:ext cx="1088136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This project models a cleaned cybersecurity incident dataset — 10,228 records spanning 141 countries and 1971–2024 — and turns it into seven interactive Power BI dashboards that reveal attack patterns, actor behaviour, and global threat distribution at a glance.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77063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8" name="Text 5"/>
          <p:cNvSpPr/>
          <p:nvPr/>
        </p:nvSpPr>
        <p:spPr>
          <a:xfrm>
            <a:off x="749808" y="288036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333756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Collection &amp; Understanding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49808" y="373075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Sourced result.csv and profiled all 21 columns across 10,228 incident records.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33672" y="277063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12" name="Text 9"/>
          <p:cNvSpPr/>
          <p:nvPr/>
        </p:nvSpPr>
        <p:spPr>
          <a:xfrm>
            <a:off x="4434840" y="288036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34840" y="333756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Connection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434840" y="373075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Connected the cleaned dataset to Power BI and loaded it into the data model.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18704" y="277063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16" name="Text 13"/>
          <p:cNvSpPr/>
          <p:nvPr/>
        </p:nvSpPr>
        <p:spPr>
          <a:xfrm>
            <a:off x="8119872" y="288036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119872" y="333756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Preprocessing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119872" y="373075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Cleaned, encoded, and scaled fields into a model-ready dataset.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50799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20" name="Text 17"/>
          <p:cNvSpPr/>
          <p:nvPr/>
        </p:nvSpPr>
        <p:spPr>
          <a:xfrm>
            <a:off x="749808" y="461772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749808" y="507492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Modelling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749808" y="546811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Aggregated and related incident, actor, asset, and geography dimensions.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33672" y="450799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24" name="Text 21"/>
          <p:cNvSpPr/>
          <p:nvPr/>
        </p:nvSpPr>
        <p:spPr>
          <a:xfrm>
            <a:off x="4434840" y="461772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4434840" y="507492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Visualization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434840" y="546811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7 interactive dashboards covering incidents, actors, assets, and threat patterns.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918704" y="4507992"/>
            <a:ext cx="3502152" cy="1536192"/>
          </a:xfrm>
          <a:prstGeom prst="roundRect">
            <a:avLst>
              <a:gd name="adj" fmla="val 4167"/>
            </a:avLst>
          </a:prstGeom>
          <a:solidFill>
            <a:srgbClr val="153A48"/>
          </a:solidFill>
        </p:spPr>
      </p:sp>
      <p:sp>
        <p:nvSpPr>
          <p:cNvPr id="28" name="Text 25"/>
          <p:cNvSpPr/>
          <p:nvPr/>
        </p:nvSpPr>
        <p:spPr>
          <a:xfrm>
            <a:off x="8119872" y="4617720"/>
            <a:ext cx="914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8119872" y="5074920"/>
            <a:ext cx="3099816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Insights &amp; Reporting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119872" y="5468112"/>
            <a:ext cx="3099816" cy="5303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2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Synthesized cross-dashboard findings into an executive-ready threat view.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1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21665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PROCESS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Workflow Diagram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pic>
        <p:nvPicPr>
          <p:cNvPr id="6" name="Image 1" descr="/home/claude/work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657086"/>
            <a:ext cx="11064240" cy="47782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Text Box 8"/>
          <p:cNvSpPr txBox="1"/>
          <p:nvPr/>
        </p:nvSpPr>
        <p:spPr>
          <a:xfrm>
            <a:off x="563880" y="146050"/>
            <a:ext cx="6096000" cy="5372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sz="1100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pPr marL="0" indent="0">
              <a:buNone/>
            </a:pPr>
            <a:endParaRPr lang="en-US" sz="1100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2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530225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48" name="Shape 38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Box 49"/>
          <p:cNvSpPr txBox="1"/>
          <p:nvPr/>
        </p:nvSpPr>
        <p:spPr>
          <a:xfrm>
            <a:off x="548640" y="717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Box 50"/>
          <p:cNvSpPr txBox="1"/>
          <p:nvPr/>
        </p:nvSpPr>
        <p:spPr>
          <a:xfrm>
            <a:off x="640080" y="920750"/>
            <a:ext cx="7552055" cy="7245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  <a:sym typeface="+mn-ea"/>
              </a:rPr>
              <a:t>Top Visualizations / Components Used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  <a:p>
            <a:endParaRPr lang="en-US" sz="3000" b="1" dirty="0">
              <a:solidFill>
                <a:srgbClr val="FFFFFF"/>
              </a:solidFill>
              <a:latin typeface="Cambria" panose="02040503050406030204" charset="0"/>
              <a:ea typeface="Calibri" panose="020F0502020204030204" pitchFamily="34" charset="-122"/>
              <a:cs typeface="Cambria" panose="02040503050406030204" charset="0"/>
              <a:sym typeface="+mn-ea"/>
            </a:endParaRPr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1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101" name="Row Bg 0"/>
          <p:cNvSpPr/>
          <p:nvPr/>
        </p:nvSpPr>
        <p:spPr>
          <a:xfrm>
            <a:off x="548640" y="1444752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02" name="Icon Circle 0"/>
          <p:cNvSpPr/>
          <p:nvPr/>
        </p:nvSpPr>
        <p:spPr>
          <a:xfrm>
            <a:off x="640080" y="1530502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03" name="Icon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80" y="1610502"/>
            <a:ext cx="240000" cy="240000"/>
          </a:xfrm>
          <a:prstGeom prst="rect">
            <a:avLst/>
          </a:prstGeom>
        </p:spPr>
      </p:pic>
      <p:sp>
        <p:nvSpPr>
          <p:cNvPr id="104" name="Title 0"/>
          <p:cNvSpPr/>
          <p:nvPr/>
        </p:nvSpPr>
        <p:spPr>
          <a:xfrm>
            <a:off x="1417320" y="1444752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KPI Cards</a:t>
            </a:r>
            <a:endParaRPr lang="en-US" sz="1300" dirty="0"/>
          </a:p>
        </p:txBody>
      </p:sp>
      <p:sp>
        <p:nvSpPr>
          <p:cNvPr id="105" name="Desc 0"/>
          <p:cNvSpPr/>
          <p:nvPr/>
        </p:nvSpPr>
        <p:spPr>
          <a:xfrm>
            <a:off x="4600000" y="1444752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Surface total incidents, average per category, and countries covered at a glance.</a:t>
            </a:r>
            <a:endParaRPr lang="en-US" sz="1200" dirty="0"/>
          </a:p>
        </p:txBody>
      </p:sp>
      <p:sp>
        <p:nvSpPr>
          <p:cNvPr id="106" name="Row Bg 1"/>
          <p:cNvSpPr/>
          <p:nvPr/>
        </p:nvSpPr>
        <p:spPr>
          <a:xfrm>
            <a:off x="548640" y="2150376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07" name="Icon Circle 1"/>
          <p:cNvSpPr/>
          <p:nvPr/>
        </p:nvSpPr>
        <p:spPr>
          <a:xfrm>
            <a:off x="640080" y="2236126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08" name="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80" y="2316126"/>
            <a:ext cx="240000" cy="240000"/>
          </a:xfrm>
          <a:prstGeom prst="rect">
            <a:avLst/>
          </a:prstGeom>
        </p:spPr>
      </p:pic>
      <p:sp>
        <p:nvSpPr>
          <p:cNvPr id="109" name="Title 1"/>
          <p:cNvSpPr/>
          <p:nvPr/>
        </p:nvSpPr>
        <p:spPr>
          <a:xfrm>
            <a:off x="1417320" y="2150376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 / Area Chart</a:t>
            </a:r>
            <a:endParaRPr lang="en-US" sz="1300" dirty="0"/>
          </a:p>
        </p:txBody>
      </p:sp>
      <p:sp>
        <p:nvSpPr>
          <p:cNvPr id="110" name="Desc 1"/>
          <p:cNvSpPr/>
          <p:nvPr/>
        </p:nvSpPr>
        <p:spPr>
          <a:xfrm>
            <a:off x="4600000" y="2150376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Track attack and actor trends by year, including spikes and long-term shifts.</a:t>
            </a:r>
            <a:endParaRPr lang="en-US" sz="1200" dirty="0"/>
          </a:p>
        </p:txBody>
      </p:sp>
      <p:sp>
        <p:nvSpPr>
          <p:cNvPr id="111" name="Row Bg 2"/>
          <p:cNvSpPr/>
          <p:nvPr/>
        </p:nvSpPr>
        <p:spPr>
          <a:xfrm>
            <a:off x="548640" y="2856000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12" name="Icon Circle 2"/>
          <p:cNvSpPr/>
          <p:nvPr/>
        </p:nvSpPr>
        <p:spPr>
          <a:xfrm>
            <a:off x="640080" y="2941750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13" name="Ic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0" y="3021750"/>
            <a:ext cx="240000" cy="240000"/>
          </a:xfrm>
          <a:prstGeom prst="rect">
            <a:avLst/>
          </a:prstGeom>
        </p:spPr>
      </p:pic>
      <p:sp>
        <p:nvSpPr>
          <p:cNvPr id="114" name="Title 2"/>
          <p:cNvSpPr/>
          <p:nvPr/>
        </p:nvSpPr>
        <p:spPr>
          <a:xfrm>
            <a:off x="1417320" y="2856000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Pie Chart</a:t>
            </a:r>
            <a:endParaRPr lang="en-US" sz="1300" dirty="0"/>
          </a:p>
        </p:txBody>
      </p:sp>
      <p:sp>
        <p:nvSpPr>
          <p:cNvPr id="115" name="Desc 2"/>
          <p:cNvSpPr/>
          <p:nvPr/>
        </p:nvSpPr>
        <p:spPr>
          <a:xfrm>
            <a:off x="4600000" y="2856000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Compare the distribution of incidents across attack categories.</a:t>
            </a:r>
            <a:endParaRPr lang="en-US" sz="1200" dirty="0"/>
          </a:p>
        </p:txBody>
      </p:sp>
      <p:sp>
        <p:nvSpPr>
          <p:cNvPr id="116" name="Row Bg 3"/>
          <p:cNvSpPr/>
          <p:nvPr/>
        </p:nvSpPr>
        <p:spPr>
          <a:xfrm>
            <a:off x="548640" y="3561624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17" name="Icon Circle 3"/>
          <p:cNvSpPr/>
          <p:nvPr/>
        </p:nvSpPr>
        <p:spPr>
          <a:xfrm>
            <a:off x="640080" y="3647374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18" name="Ico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80" y="3727374"/>
            <a:ext cx="240000" cy="240000"/>
          </a:xfrm>
          <a:prstGeom prst="rect">
            <a:avLst/>
          </a:prstGeom>
        </p:spPr>
      </p:pic>
      <p:sp>
        <p:nvSpPr>
          <p:cNvPr id="119" name="Title 3"/>
          <p:cNvSpPr/>
          <p:nvPr/>
        </p:nvSpPr>
        <p:spPr>
          <a:xfrm>
            <a:off x="1417320" y="3561624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Bar Chart / Ranked List</a:t>
            </a:r>
            <a:endParaRPr lang="en-US" sz="1300" dirty="0"/>
          </a:p>
        </p:txBody>
      </p:sp>
      <p:sp>
        <p:nvSpPr>
          <p:cNvPr id="120" name="Desc 3"/>
          <p:cNvSpPr/>
          <p:nvPr/>
        </p:nvSpPr>
        <p:spPr>
          <a:xfrm>
            <a:off x="4600000" y="3561624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 the top targeted countries and attack details by incident count.</a:t>
            </a:r>
            <a:endParaRPr lang="en-US" sz="1200" dirty="0"/>
          </a:p>
        </p:txBody>
      </p:sp>
      <p:sp>
        <p:nvSpPr>
          <p:cNvPr id="121" name="Row Bg 4"/>
          <p:cNvSpPr/>
          <p:nvPr/>
        </p:nvSpPr>
        <p:spPr>
          <a:xfrm>
            <a:off x="548640" y="4267248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22" name="Icon Circle 4"/>
          <p:cNvSpPr/>
          <p:nvPr/>
        </p:nvSpPr>
        <p:spPr>
          <a:xfrm>
            <a:off x="640080" y="4352998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23" name="Ico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80" y="4432998"/>
            <a:ext cx="240000" cy="240000"/>
          </a:xfrm>
          <a:prstGeom prst="rect">
            <a:avLst/>
          </a:prstGeom>
        </p:spPr>
      </p:pic>
      <p:sp>
        <p:nvSpPr>
          <p:cNvPr id="124" name="Title 4"/>
          <p:cNvSpPr/>
          <p:nvPr/>
        </p:nvSpPr>
        <p:spPr>
          <a:xfrm>
            <a:off x="1417320" y="4267248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Bubble Map</a:t>
            </a:r>
            <a:endParaRPr lang="en-US" sz="1300" dirty="0"/>
          </a:p>
        </p:txBody>
      </p:sp>
      <p:sp>
        <p:nvSpPr>
          <p:cNvPr id="125" name="Desc 4"/>
          <p:cNvSpPr/>
          <p:nvPr/>
        </p:nvSpPr>
        <p:spPr>
          <a:xfrm>
            <a:off x="4600000" y="4267248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Plot global incident concentration and attacker origin by country.</a:t>
            </a:r>
            <a:endParaRPr lang="en-US" sz="1200" dirty="0"/>
          </a:p>
        </p:txBody>
      </p:sp>
      <p:sp>
        <p:nvSpPr>
          <p:cNvPr id="126" name="Row Bg 5"/>
          <p:cNvSpPr/>
          <p:nvPr/>
        </p:nvSpPr>
        <p:spPr>
          <a:xfrm>
            <a:off x="548640" y="4972872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27" name="Icon Circle 5"/>
          <p:cNvSpPr/>
          <p:nvPr/>
        </p:nvSpPr>
        <p:spPr>
          <a:xfrm>
            <a:off x="640080" y="5058622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28" name="Icon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80" y="5138622"/>
            <a:ext cx="240000" cy="240000"/>
          </a:xfrm>
          <a:prstGeom prst="rect">
            <a:avLst/>
          </a:prstGeom>
        </p:spPr>
      </p:pic>
      <p:sp>
        <p:nvSpPr>
          <p:cNvPr id="129" name="Title 5"/>
          <p:cNvSpPr/>
          <p:nvPr/>
        </p:nvSpPr>
        <p:spPr>
          <a:xfrm>
            <a:off x="1417320" y="4972872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Clustered Column Chart</a:t>
            </a:r>
            <a:endParaRPr lang="en-US" sz="1300" dirty="0"/>
          </a:p>
        </p:txBody>
      </p:sp>
      <p:sp>
        <p:nvSpPr>
          <p:cNvPr id="130" name="Desc 5"/>
          <p:cNvSpPr/>
          <p:nvPr/>
        </p:nvSpPr>
        <p:spPr>
          <a:xfrm>
            <a:off x="4600000" y="4972872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Compare actor type against attack type side by side.</a:t>
            </a:r>
            <a:endParaRPr lang="en-US" sz="1200" dirty="0"/>
          </a:p>
        </p:txBody>
      </p:sp>
      <p:sp>
        <p:nvSpPr>
          <p:cNvPr id="131" name="Row Bg 6"/>
          <p:cNvSpPr/>
          <p:nvPr/>
        </p:nvSpPr>
        <p:spPr>
          <a:xfrm>
            <a:off x="548640" y="5678496"/>
            <a:ext cx="11064240" cy="571500"/>
          </a:xfrm>
          <a:prstGeom prst="roundRect">
            <a:avLst>
              <a:gd name="adj" fmla="val 8000"/>
            </a:avLst>
          </a:prstGeom>
          <a:solidFill>
            <a:srgbClr val="153A48"/>
          </a:solidFill>
        </p:spPr>
      </p:sp>
      <p:sp>
        <p:nvSpPr>
          <p:cNvPr id="132" name="Icon Circle 6"/>
          <p:cNvSpPr/>
          <p:nvPr/>
        </p:nvSpPr>
        <p:spPr>
          <a:xfrm>
            <a:off x="640080" y="5764246"/>
            <a:ext cx="400000" cy="4000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33" name="Icon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80" y="5844246"/>
            <a:ext cx="240000" cy="240000"/>
          </a:xfrm>
          <a:prstGeom prst="rect">
            <a:avLst/>
          </a:prstGeom>
        </p:spPr>
      </p:pic>
      <p:sp>
        <p:nvSpPr>
          <p:cNvPr id="134" name="Title 6"/>
          <p:cNvSpPr/>
          <p:nvPr/>
        </p:nvSpPr>
        <p:spPr>
          <a:xfrm>
            <a:off x="1417320" y="5678496"/>
            <a:ext cx="29260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Matrix  Table</a:t>
            </a:r>
            <a:endParaRPr lang="en-US" sz="1300" dirty="0"/>
          </a:p>
        </p:txBody>
      </p:sp>
      <p:sp>
        <p:nvSpPr>
          <p:cNvPr id="135" name="Desc 6"/>
          <p:cNvSpPr/>
          <p:nvPr/>
        </p:nvSpPr>
        <p:spPr>
          <a:xfrm>
            <a:off x="4600000" y="5678496"/>
            <a:ext cx="681288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Break down attack type against motive as a detailed cross-tab.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ROADMAP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Project Execution Milestones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764792"/>
            <a:ext cx="10881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project was executed through 4 structured milestones to ensure systematic progress and accuracy.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221992"/>
            <a:ext cx="10881360" cy="457200"/>
          </a:xfrm>
          <a:prstGeom prst="roundRect">
            <a:avLst>
              <a:gd name="adj" fmla="val 12000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2221992"/>
            <a:ext cx="104241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/ Source Used:  </a:t>
            </a: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result.csv  →  preprocessing_report.xlsx  →  Power BI Dashboards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53A48"/>
          </a:solidFill>
        </p:spPr>
      </p:sp>
      <p:sp>
        <p:nvSpPr>
          <p:cNvPr id="10" name="Shape 7"/>
          <p:cNvSpPr/>
          <p:nvPr/>
        </p:nvSpPr>
        <p:spPr>
          <a:xfrm>
            <a:off x="777240" y="3154680"/>
            <a:ext cx="2112010" cy="548640"/>
          </a:xfrm>
          <a:prstGeom prst="flowChartAlternateProcess">
            <a:avLst/>
          </a:prstGeom>
          <a:solidFill>
            <a:srgbClr val="E8934A"/>
          </a:solidFill>
        </p:spPr>
      </p:sp>
      <p:sp>
        <p:nvSpPr>
          <p:cNvPr id="11" name="Text 8"/>
          <p:cNvSpPr/>
          <p:nvPr/>
        </p:nvSpPr>
        <p:spPr>
          <a:xfrm>
            <a:off x="1013460" y="3154680"/>
            <a:ext cx="1694180" cy="548640"/>
          </a:xfrm>
          <a:prstGeom prst="flowChartProcess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Milestone-1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77240" y="388620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Understanding &amp; Preprocessing</a:t>
            </a:r>
            <a:endParaRPr lang="en-US" altLang="en-US" sz="14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77240" y="4846320"/>
            <a:ext cx="214884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Loaded and profiled 10,228 records; cleaned, encoded, and scaled every field.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55848" y="292608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53A48"/>
          </a:solidFill>
        </p:spPr>
      </p:sp>
      <p:sp>
        <p:nvSpPr>
          <p:cNvPr id="16" name="Text 13"/>
          <p:cNvSpPr/>
          <p:nvPr/>
        </p:nvSpPr>
        <p:spPr>
          <a:xfrm>
            <a:off x="3584448" y="31546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3584448" y="388620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alt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Core Dashboard Development</a:t>
            </a:r>
            <a:endParaRPr lang="en-US" altLang="en-US" sz="14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584448" y="4892040"/>
            <a:ext cx="214884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alt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the first two interactive Power BI dashboards for cybersecurity analysis.</a:t>
            </a:r>
            <a:endParaRPr lang="en-US" altLang="en-US" sz="1100" dirty="0">
              <a:solidFill>
                <a:srgbClr val="AFC4C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163056" y="292608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53A48"/>
          </a:solidFill>
        </p:spPr>
      </p:sp>
      <p:sp>
        <p:nvSpPr>
          <p:cNvPr id="21" name="Text 18"/>
          <p:cNvSpPr/>
          <p:nvPr/>
        </p:nvSpPr>
        <p:spPr>
          <a:xfrm>
            <a:off x="6391656" y="31546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91656" y="3886200"/>
            <a:ext cx="21488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alt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Advanced Visualization &amp;  Threat Pattern Analysis</a:t>
            </a:r>
            <a:endParaRPr lang="en-US" altLang="en-US" sz="14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391656" y="4892040"/>
            <a:ext cx="214884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alt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Created three additional interactive dashboards to perform deeper cybersecurity threat pattern analysis and generate insights.</a:t>
            </a:r>
            <a:endParaRPr lang="en-US" altLang="en-US" sz="1100" dirty="0">
              <a:solidFill>
                <a:srgbClr val="AFC4C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970264" y="292608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53A48"/>
          </a:solidFill>
        </p:spPr>
      </p:sp>
      <p:sp>
        <p:nvSpPr>
          <p:cNvPr id="26" name="Text 23"/>
          <p:cNvSpPr/>
          <p:nvPr/>
        </p:nvSpPr>
        <p:spPr>
          <a:xfrm>
            <a:off x="9198864" y="31546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9198610" y="3886200"/>
            <a:ext cx="20497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alt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Insight Generation, Reporting &amp; Documentation</a:t>
            </a:r>
            <a:endParaRPr lang="en-US" altLang="en-US" sz="14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199245" y="4846320"/>
            <a:ext cx="2262505" cy="11156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alt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Created the remaining two </a:t>
            </a:r>
            <a:r>
              <a:rPr lang="en-US" alt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additional interactive </a:t>
            </a:r>
            <a:r>
              <a:rPr lang="en-US" alt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dashboards, consolidated findings, generated cybersecurity insights, and completed the final project documentation.</a:t>
            </a:r>
            <a:endParaRPr lang="en-US" altLang="en-US" sz="1100" dirty="0">
              <a:solidFill>
                <a:srgbClr val="AFC4C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3108960" y="3182112"/>
            <a:ext cx="292608" cy="292608"/>
          </a:xfrm>
          <a:prstGeom prst="ellipse">
            <a:avLst/>
          </a:prstGeom>
          <a:solidFill>
            <a:srgbClr val="0E2A36"/>
          </a:solidFill>
          <a:ln w="19050">
            <a:solidFill>
              <a:srgbClr val="4A93B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108960" y="3163824"/>
            <a:ext cx="292608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916168" y="3182112"/>
            <a:ext cx="292608" cy="292608"/>
          </a:xfrm>
          <a:prstGeom prst="ellipse">
            <a:avLst/>
          </a:prstGeom>
          <a:solidFill>
            <a:srgbClr val="0E2A36"/>
          </a:solidFill>
          <a:ln w="19050">
            <a:solidFill>
              <a:srgbClr val="4A93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16168" y="3163824"/>
            <a:ext cx="292608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23376" y="3182112"/>
            <a:ext cx="292608" cy="292608"/>
          </a:xfrm>
          <a:prstGeom prst="ellipse">
            <a:avLst/>
          </a:prstGeom>
          <a:solidFill>
            <a:srgbClr val="0E2A36"/>
          </a:solidFill>
          <a:ln w="19050">
            <a:solidFill>
              <a:srgbClr val="4A93B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723376" y="3163824"/>
            <a:ext cx="292608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1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48640" y="1619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3662045" y="3145790"/>
            <a:ext cx="2022475" cy="548640"/>
          </a:xfrm>
          <a:prstGeom prst="flowChartAlternateProcess">
            <a:avLst/>
          </a:prstGeom>
          <a:solidFill>
            <a:srgbClr val="E8934A"/>
          </a:solidFill>
        </p:spPr>
        <p:txBody>
          <a:bodyPr/>
          <a:p>
            <a:pPr marL="0" indent="0" algn="ctr">
              <a:buNone/>
            </a:pPr>
            <a:r>
              <a:rPr lang="en-US" sz="2000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Milestone-2</a:t>
            </a:r>
            <a:endParaRPr lang="en-US" sz="2000"/>
          </a:p>
        </p:txBody>
      </p:sp>
      <p:sp>
        <p:nvSpPr>
          <p:cNvPr id="40" name="Shape 7"/>
          <p:cNvSpPr/>
          <p:nvPr/>
        </p:nvSpPr>
        <p:spPr>
          <a:xfrm>
            <a:off x="6457315" y="3145790"/>
            <a:ext cx="2112010" cy="548640"/>
          </a:xfrm>
          <a:prstGeom prst="flowChartAlternateProcess">
            <a:avLst/>
          </a:prstGeom>
          <a:solidFill>
            <a:srgbClr val="E8934A"/>
          </a:solidFill>
        </p:spPr>
        <p:txBody>
          <a:bodyPr/>
          <a:p>
            <a:r>
              <a:rPr lang="en-US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  </a:t>
            </a:r>
            <a:r>
              <a:rPr lang="en-US" sz="2000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Milestone-3</a:t>
            </a:r>
            <a:endParaRPr lang="en-US" sz="2000" b="1" dirty="0">
              <a:solidFill>
                <a:srgbClr val="0E2A3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endParaRPr lang="en-US" sz="2000"/>
          </a:p>
        </p:txBody>
      </p:sp>
      <p:sp>
        <p:nvSpPr>
          <p:cNvPr id="41" name="Shape 7"/>
          <p:cNvSpPr/>
          <p:nvPr/>
        </p:nvSpPr>
        <p:spPr>
          <a:xfrm>
            <a:off x="9248140" y="3145790"/>
            <a:ext cx="2112010" cy="548640"/>
          </a:xfrm>
          <a:prstGeom prst="flowChartAlternateProcess">
            <a:avLst/>
          </a:prstGeom>
          <a:solidFill>
            <a:srgbClr val="E8934A"/>
          </a:solidFill>
        </p:spPr>
        <p:txBody>
          <a:bodyPr/>
          <a:p>
            <a:r>
              <a:rPr lang="en-US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</a:t>
            </a:r>
            <a:r>
              <a:rPr lang="en-US" sz="2000" b="1" dirty="0">
                <a:solidFill>
                  <a:srgbClr val="0E2A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   Milestone-4</a:t>
            </a:r>
            <a:endParaRPr lang="en-US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SOLVING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Challenges Faced and Resolutions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3502152" cy="4434840"/>
          </a:xfrm>
          <a:prstGeom prst="roundRect">
            <a:avLst>
              <a:gd name="adj" fmla="val 2089"/>
            </a:avLst>
          </a:prstGeom>
          <a:solidFill>
            <a:srgbClr val="153A48"/>
          </a:solidFill>
        </p:spPr>
      </p:sp>
      <p:sp>
        <p:nvSpPr>
          <p:cNvPr id="7" name="Shape 4"/>
          <p:cNvSpPr/>
          <p:nvPr/>
        </p:nvSpPr>
        <p:spPr>
          <a:xfrm>
            <a:off x="804672" y="2039112"/>
            <a:ext cx="566928" cy="566928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8" name="Image 1" descr="/home/claude/icons/FiShuff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12813"/>
            <a:ext cx="419527" cy="41952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57400"/>
            <a:ext cx="231343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 1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508760" y="2286000"/>
            <a:ext cx="2313432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Messy, Inconsistent Data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804672" y="2926080"/>
            <a:ext cx="2990088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raw dataset had inconsistent category labels and a large volume of missing values.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4672" y="3931920"/>
            <a:ext cx="2990088" cy="0"/>
          </a:xfrm>
          <a:prstGeom prst="line">
            <a:avLst/>
          </a:prstGeom>
          <a:noFill/>
          <a:ln w="12700">
            <a:solidFill>
              <a:srgbClr val="2C546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4114800"/>
            <a:ext cx="457200" cy="4572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4" name="Image 2" descr="/home/claude/icons/FiCheck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08" y="4174236"/>
            <a:ext cx="338328" cy="338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4142232"/>
            <a:ext cx="2404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RESOLUTION 1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804672" y="4663440"/>
            <a:ext cx="2990088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Standardized labels and imputed missing values through a systematic cleaning pipeline.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33672" y="1783080"/>
            <a:ext cx="3502152" cy="4434840"/>
          </a:xfrm>
          <a:prstGeom prst="roundRect">
            <a:avLst>
              <a:gd name="adj" fmla="val 2089"/>
            </a:avLst>
          </a:prstGeom>
          <a:solidFill>
            <a:srgbClr val="153A48"/>
          </a:solidFill>
        </p:spPr>
      </p:sp>
      <p:sp>
        <p:nvSpPr>
          <p:cNvPr id="18" name="Shape 13"/>
          <p:cNvSpPr/>
          <p:nvPr/>
        </p:nvSpPr>
        <p:spPr>
          <a:xfrm>
            <a:off x="4489704" y="2039112"/>
            <a:ext cx="566928" cy="566928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19" name="Image 3" descr="/home/claude/icons/FiAlert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3405" y="2112813"/>
            <a:ext cx="419527" cy="41952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193792" y="2057400"/>
            <a:ext cx="231343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 2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193792" y="2286000"/>
            <a:ext cx="2313432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Interacting Dimensions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4489704" y="2926080"/>
            <a:ext cx="2990088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Attack type, actor type, motive, and geography interact simultaneously, obscuring trends.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89704" y="3931920"/>
            <a:ext cx="2990088" cy="0"/>
          </a:xfrm>
          <a:prstGeom prst="line">
            <a:avLst/>
          </a:prstGeom>
          <a:noFill/>
          <a:ln w="12700">
            <a:solidFill>
              <a:srgbClr val="2C5464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489704" y="4114800"/>
            <a:ext cx="457200" cy="4572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25" name="Image 4" descr="/home/claude/icons/FiCheck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9140" y="4174236"/>
            <a:ext cx="338328" cy="33832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102352" y="4142232"/>
            <a:ext cx="2404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RESOLUTION 2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4489704" y="4663440"/>
            <a:ext cx="2990088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Aggregated and related the data across dimensions in Power BI's model for instant cross-filtering.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918704" y="1783080"/>
            <a:ext cx="3502152" cy="4434840"/>
          </a:xfrm>
          <a:prstGeom prst="roundRect">
            <a:avLst>
              <a:gd name="adj" fmla="val 2089"/>
            </a:avLst>
          </a:prstGeom>
          <a:solidFill>
            <a:srgbClr val="153A48"/>
          </a:solidFill>
        </p:spPr>
      </p:sp>
      <p:sp>
        <p:nvSpPr>
          <p:cNvPr id="29" name="Shape 22"/>
          <p:cNvSpPr/>
          <p:nvPr/>
        </p:nvSpPr>
        <p:spPr>
          <a:xfrm>
            <a:off x="8174736" y="2039112"/>
            <a:ext cx="566928" cy="566928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30" name="Image 5" descr="/home/claude/icons/FiUser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8437" y="2112813"/>
            <a:ext cx="419527" cy="419527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878824" y="2057400"/>
            <a:ext cx="231343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 3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8878824" y="2286000"/>
            <a:ext cx="2313432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Unknown Attribution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174736" y="2926080"/>
            <a:ext cx="2990088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large share of incidents had no confirmed attacker country or identity.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8174736" y="3931920"/>
            <a:ext cx="2990088" cy="0"/>
          </a:xfrm>
          <a:prstGeom prst="line">
            <a:avLst/>
          </a:prstGeom>
          <a:noFill/>
          <a:ln w="12700">
            <a:solidFill>
              <a:srgbClr val="2C5464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174736" y="4114800"/>
            <a:ext cx="457200" cy="4572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36" name="Image 6" descr="/home/claude/icons/FiCheck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172" y="4174236"/>
            <a:ext cx="338328" cy="33832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8787384" y="4142232"/>
            <a:ext cx="2404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RESOLUTION 3</a:t>
            </a:r>
            <a:endParaRPr lang="en-US" sz="1050" dirty="0"/>
          </a:p>
        </p:txBody>
      </p:sp>
      <p:sp>
        <p:nvSpPr>
          <p:cNvPr id="38" name="Text 29"/>
          <p:cNvSpPr/>
          <p:nvPr/>
        </p:nvSpPr>
        <p:spPr>
          <a:xfrm>
            <a:off x="8174736" y="4663440"/>
            <a:ext cx="2990088" cy="1417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Built dedicated filters and visuals to isolate and analyze 'Unknown' attribution on its own.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5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619760" y="17081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GROWTH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Learnings &amp; Skills Acquired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640" y="1810512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153A48"/>
          </a:solidFill>
        </p:spPr>
      </p:sp>
      <p:sp>
        <p:nvSpPr>
          <p:cNvPr id="7" name="Shape 4"/>
          <p:cNvSpPr/>
          <p:nvPr/>
        </p:nvSpPr>
        <p:spPr>
          <a:xfrm>
            <a:off x="822960" y="2084832"/>
            <a:ext cx="502920" cy="50292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8" name="Image 1" descr="/home/claude/icons/FiCod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340" y="2150212"/>
            <a:ext cx="372161" cy="37216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103120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Technical Skills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770632"/>
            <a:ext cx="461772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Power BI dashboard design and DAX-based aggregation</a:t>
            </a:r>
            <a:endParaRPr lang="en-US" sz="1250" dirty="0"/>
          </a:p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&amp; pandas for data cleaning and preprocessing</a:t>
            </a:r>
            <a:endParaRPr lang="en-US" sz="1250" dirty="0"/>
          </a:p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modelling and relationship design</a:t>
            </a:r>
            <a:endParaRPr lang="en-US" sz="1250" dirty="0"/>
          </a:p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Translating raw data into visual analytics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1810512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153A48"/>
          </a:solidFill>
        </p:spPr>
      </p:sp>
      <p:sp>
        <p:nvSpPr>
          <p:cNvPr id="12" name="Shape 8"/>
          <p:cNvSpPr/>
          <p:nvPr/>
        </p:nvSpPr>
        <p:spPr>
          <a:xfrm>
            <a:off x="6446520" y="2084832"/>
            <a:ext cx="502920" cy="502920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13" name="Image 2" descr="/home/claude/icons/Fi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2150212"/>
            <a:ext cx="372161" cy="37216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2103120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Soft Skills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492240" y="2770632"/>
            <a:ext cx="461772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Analytical and structured problem-solving</a:t>
            </a:r>
            <a:endParaRPr lang="en-US" sz="1250" dirty="0"/>
          </a:p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Attention to detail with large, messy datasets</a:t>
            </a:r>
            <a:endParaRPr lang="en-US" sz="1250" dirty="0"/>
          </a:p>
          <a:p>
            <a:pPr marL="177800" indent="-1778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Communicating technical insights clearly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4965192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68680" y="4965192"/>
            <a:ext cx="10332720" cy="1234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Overall Learning:  </a:t>
            </a:r>
            <a:r>
              <a:rPr lang="en-US" sz="12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This milestone gave end-to-end, hands-on experience turning a large, messy dataset into decision-ready visual intelligence — from data profiling through modelling to executive dashboard storytelling.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3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48640" y="19875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WHAT'S NEXT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Future Enhancements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764792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Enhancements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76272"/>
            <a:ext cx="5257800" cy="932688"/>
          </a:xfrm>
          <a:prstGeom prst="roundRect">
            <a:avLst>
              <a:gd name="adj" fmla="val 6863"/>
            </a:avLst>
          </a:prstGeom>
          <a:solidFill>
            <a:srgbClr val="153A48"/>
          </a:solidFill>
        </p:spPr>
      </p:sp>
      <p:sp>
        <p:nvSpPr>
          <p:cNvPr id="8" name="Shape 5"/>
          <p:cNvSpPr/>
          <p:nvPr/>
        </p:nvSpPr>
        <p:spPr>
          <a:xfrm>
            <a:off x="749808" y="2368296"/>
            <a:ext cx="548640" cy="54864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9" name="Image 1" descr="/home/claude/icons/FiZ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" y="2439619"/>
            <a:ext cx="405994" cy="40599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176272"/>
            <a:ext cx="4114800" cy="9326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real-time data refresh for live threat monitoring.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2176272"/>
            <a:ext cx="5257800" cy="932688"/>
          </a:xfrm>
          <a:prstGeom prst="roundRect">
            <a:avLst>
              <a:gd name="adj" fmla="val 6863"/>
            </a:avLst>
          </a:prstGeom>
          <a:solidFill>
            <a:srgbClr val="153A48"/>
          </a:solidFill>
        </p:spPr>
      </p:sp>
      <p:sp>
        <p:nvSpPr>
          <p:cNvPr id="12" name="Shape 8"/>
          <p:cNvSpPr/>
          <p:nvPr/>
        </p:nvSpPr>
        <p:spPr>
          <a:xfrm>
            <a:off x="6373368" y="2368296"/>
            <a:ext cx="548640" cy="54864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3" name="Image 2" descr="/home/claude/icons/FiTrending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691" y="2439619"/>
            <a:ext cx="405994" cy="40599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2176272"/>
            <a:ext cx="4114800" cy="9326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Incorporate predictive analytics to forecast attack trends.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291840"/>
            <a:ext cx="5257800" cy="932688"/>
          </a:xfrm>
          <a:prstGeom prst="roundRect">
            <a:avLst>
              <a:gd name="adj" fmla="val 6863"/>
            </a:avLst>
          </a:prstGeom>
          <a:solidFill>
            <a:srgbClr val="153A48"/>
          </a:solidFill>
        </p:spPr>
      </p:sp>
      <p:sp>
        <p:nvSpPr>
          <p:cNvPr id="16" name="Shape 11"/>
          <p:cNvSpPr/>
          <p:nvPr/>
        </p:nvSpPr>
        <p:spPr>
          <a:xfrm>
            <a:off x="749808" y="3483864"/>
            <a:ext cx="548640" cy="54864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7" name="Image 3" descr="/home/claude/icons/Fi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" y="3555187"/>
            <a:ext cx="405994" cy="40599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91840"/>
            <a:ext cx="4114800" cy="9326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Expand the dataset with more recent incident records.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172200" y="3291840"/>
            <a:ext cx="5257800" cy="932688"/>
          </a:xfrm>
          <a:prstGeom prst="roundRect">
            <a:avLst>
              <a:gd name="adj" fmla="val 6863"/>
            </a:avLst>
          </a:prstGeom>
          <a:solidFill>
            <a:srgbClr val="153A48"/>
          </a:solidFill>
        </p:spPr>
      </p:sp>
      <p:sp>
        <p:nvSpPr>
          <p:cNvPr id="20" name="Shape 14"/>
          <p:cNvSpPr/>
          <p:nvPr/>
        </p:nvSpPr>
        <p:spPr>
          <a:xfrm>
            <a:off x="6373368" y="3483864"/>
            <a:ext cx="548640" cy="54864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21" name="Image 4" descr="/home/claude/icons/Fi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691" y="3555187"/>
            <a:ext cx="405994" cy="40599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86600" y="3291840"/>
            <a:ext cx="4114800" cy="9326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drill-through pages for deeper per-incident investigation.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548640" y="4636008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Insights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548640" y="5047488"/>
            <a:ext cx="3447288" cy="1051560"/>
          </a:xfrm>
          <a:prstGeom prst="roundRect">
            <a:avLst>
              <a:gd name="adj" fmla="val 6087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731520" y="5047488"/>
            <a:ext cx="3081528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Hacking dominates attack volume — 3.4K of ~10.2K incidents.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4178808" y="5047488"/>
            <a:ext cx="3447288" cy="1051560"/>
          </a:xfrm>
          <a:prstGeom prst="roundRect">
            <a:avLst>
              <a:gd name="adj" fmla="val 6087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4361688" y="5047488"/>
            <a:ext cx="3081528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Financial gain drives most motives — 3,951 incidents.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7808976" y="5047488"/>
            <a:ext cx="3447288" cy="1051560"/>
          </a:xfrm>
          <a:prstGeom prst="roundRect">
            <a:avLst>
              <a:gd name="adj" fmla="val 6087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991856" y="5047488"/>
            <a:ext cx="3081528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US is targeted far more than any other country — ~5K incidents.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5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48640" y="23622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WRAP UP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Conclusion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810512"/>
            <a:ext cx="108813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Cyber Threat Analytics Platform with Incident Visualization System </a:t>
            </a:r>
            <a:r>
              <a:rPr lang="en-US" sz="16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successfully transformed a cleaned cybersecurity incident dataset into interactive, decision-ready Power BI dashboards.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153A48"/>
          </a:solidFill>
        </p:spPr>
      </p:sp>
      <p:sp>
        <p:nvSpPr>
          <p:cNvPr id="8" name="Shape 5"/>
          <p:cNvSpPr/>
          <p:nvPr/>
        </p:nvSpPr>
        <p:spPr>
          <a:xfrm>
            <a:off x="804672" y="3227832"/>
            <a:ext cx="594360" cy="59436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9" name="Image 1" descr="/home/claude/icons/FiCod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939" y="3305099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4672" y="3977640"/>
            <a:ext cx="2990088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Learning / Technical Impact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4663440"/>
            <a:ext cx="2990088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Deepened skills in data modelling, DAX, and dashboard design across a real-world scale dataset.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233672" y="297180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153A48"/>
          </a:solidFill>
        </p:spPr>
      </p:sp>
      <p:sp>
        <p:nvSpPr>
          <p:cNvPr id="13" name="Shape 9"/>
          <p:cNvSpPr/>
          <p:nvPr/>
        </p:nvSpPr>
        <p:spPr>
          <a:xfrm>
            <a:off x="4489704" y="3227832"/>
            <a:ext cx="594360" cy="59436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4" name="Image 2" descr="/home/claude/icons/Fi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971" y="3305099"/>
            <a:ext cx="439826" cy="43982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89704" y="3977640"/>
            <a:ext cx="2990088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Industry / Practical Experience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489704" y="4663440"/>
            <a:ext cx="2990088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Simulated a real-world security analytics workflow, from raw records to stakeholder-ready visuals.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918704" y="297180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153A48"/>
          </a:solidFill>
        </p:spPr>
      </p:sp>
      <p:sp>
        <p:nvSpPr>
          <p:cNvPr id="18" name="Shape 13"/>
          <p:cNvSpPr/>
          <p:nvPr/>
        </p:nvSpPr>
        <p:spPr>
          <a:xfrm>
            <a:off x="8174736" y="3227832"/>
            <a:ext cx="594360" cy="59436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19" name="Image 3" descr="/home/claude/icons/FiA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003" y="3305099"/>
            <a:ext cx="439826" cy="43982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74736" y="3977640"/>
            <a:ext cx="2990088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Overall Conclusion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174736" y="4663440"/>
            <a:ext cx="2990088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Turned 10,228 numeric records into clear, actionable threat intelligence for decision-makers.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4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609600" y="25590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E8934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GRATITUDE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107899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charset="0"/>
                <a:ea typeface="Calibri" panose="020F0502020204030204" pitchFamily="34" charset="-122"/>
                <a:cs typeface="Cambria" panose="02040503050406030204" charset="0"/>
              </a:rPr>
              <a:t>Acknowledgements and References</a:t>
            </a:r>
            <a:endParaRPr lang="en-US" sz="3000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1764792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would like to express my heartfelt gratitude to: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290445"/>
            <a:ext cx="5257800" cy="868680"/>
          </a:xfrm>
          <a:prstGeom prst="roundRect">
            <a:avLst>
              <a:gd name="adj" fmla="val 7368"/>
            </a:avLst>
          </a:prstGeom>
          <a:solidFill>
            <a:srgbClr val="153A48"/>
          </a:solidFill>
        </p:spPr>
      </p:sp>
      <p:sp>
        <p:nvSpPr>
          <p:cNvPr id="8" name="Shape 5"/>
          <p:cNvSpPr/>
          <p:nvPr/>
        </p:nvSpPr>
        <p:spPr>
          <a:xfrm>
            <a:off x="731520" y="2459736"/>
            <a:ext cx="502920" cy="502920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9" name="Image 1" descr="/home/claude/icons/FiHear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900" y="2525116"/>
            <a:ext cx="372161" cy="37216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286000"/>
            <a:ext cx="420624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Infosys Springboard  Virtual Internship 7.0 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172200" y="2286000"/>
            <a:ext cx="5257800" cy="868680"/>
          </a:xfrm>
          <a:prstGeom prst="roundRect">
            <a:avLst>
              <a:gd name="adj" fmla="val 7368"/>
            </a:avLst>
          </a:prstGeom>
          <a:solidFill>
            <a:srgbClr val="153A48"/>
          </a:solidFill>
        </p:spPr>
      </p:sp>
      <p:sp>
        <p:nvSpPr>
          <p:cNvPr id="12" name="Shape 8"/>
          <p:cNvSpPr/>
          <p:nvPr/>
        </p:nvSpPr>
        <p:spPr>
          <a:xfrm>
            <a:off x="6355080" y="2459736"/>
            <a:ext cx="502920" cy="502920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13" name="Image 2" descr="/home/claude/icons/Fi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460" y="2525116"/>
            <a:ext cx="372161" cy="37216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40880" y="2286000"/>
            <a:ext cx="420624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My mentor, </a:t>
            </a:r>
            <a:r>
              <a:rPr lang="en-US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Mrs. Nithyasree</a:t>
            </a: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, for continuous guidance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319272"/>
            <a:ext cx="5257800" cy="868680"/>
          </a:xfrm>
          <a:prstGeom prst="roundRect">
            <a:avLst>
              <a:gd name="adj" fmla="val 7368"/>
            </a:avLst>
          </a:prstGeom>
          <a:solidFill>
            <a:srgbClr val="153A48"/>
          </a:solidFill>
        </p:spPr>
      </p:sp>
      <p:sp>
        <p:nvSpPr>
          <p:cNvPr id="16" name="Shape 11"/>
          <p:cNvSpPr/>
          <p:nvPr/>
        </p:nvSpPr>
        <p:spPr>
          <a:xfrm>
            <a:off x="731520" y="3493008"/>
            <a:ext cx="502920" cy="502920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17" name="Image 3" descr="/home/claude/icons/Fi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00" y="3558388"/>
            <a:ext cx="372161" cy="37216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319272"/>
            <a:ext cx="420624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My teammates in Team D : </a:t>
            </a:r>
            <a:r>
              <a:rPr lang="en-US" altLang="en-US" sz="1500" b="1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Vennela Pathipaka, Subhashree Subhasmita, </a:t>
            </a:r>
            <a:r>
              <a:rPr lang="en-US" altLang="en-US" sz="1500" b="1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Maddula </a:t>
            </a:r>
            <a:r>
              <a:rPr lang="en-US" altLang="en-US" sz="1500" b="1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Tejasri Lakshmi,</a:t>
            </a:r>
            <a:r>
              <a:rPr lang="en-US" alt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 their collaboration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6172200" y="3319272"/>
            <a:ext cx="5257800" cy="868680"/>
          </a:xfrm>
          <a:prstGeom prst="roundRect">
            <a:avLst>
              <a:gd name="adj" fmla="val 7368"/>
            </a:avLst>
          </a:prstGeom>
          <a:solidFill>
            <a:srgbClr val="153A48"/>
          </a:solidFill>
        </p:spPr>
      </p:sp>
      <p:sp>
        <p:nvSpPr>
          <p:cNvPr id="20" name="Shape 14"/>
          <p:cNvSpPr/>
          <p:nvPr/>
        </p:nvSpPr>
        <p:spPr>
          <a:xfrm>
            <a:off x="6355080" y="3493008"/>
            <a:ext cx="502920" cy="502920"/>
          </a:xfrm>
          <a:prstGeom prst="ellipse">
            <a:avLst/>
          </a:prstGeom>
          <a:solidFill>
            <a:srgbClr val="E8934A"/>
          </a:solidFill>
        </p:spPr>
      </p:sp>
      <p:pic>
        <p:nvPicPr>
          <p:cNvPr id="21" name="Image 4" descr="/home/claude/icons/FiHear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0460" y="3558388"/>
            <a:ext cx="372161" cy="37216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40880" y="3319272"/>
            <a:ext cx="420624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EAF2F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Everyone who supported this project along the way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48640" y="4626864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2333F"/>
          </a:solidFill>
          <a:ln w="12700">
            <a:solidFill>
              <a:srgbClr val="2C5464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777240" y="4855464"/>
            <a:ext cx="457200" cy="457200"/>
          </a:xfrm>
          <a:prstGeom prst="ellipse">
            <a:avLst/>
          </a:prstGeom>
          <a:solidFill>
            <a:srgbClr val="4A93B8"/>
          </a:solidFill>
        </p:spPr>
      </p:sp>
      <p:pic>
        <p:nvPicPr>
          <p:cNvPr id="25" name="Image 5" descr="/home/claude/icons/FiBook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4914900"/>
            <a:ext cx="338328" cy="33832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371600" y="4828032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References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868680" y="5312664"/>
            <a:ext cx="10241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177800" indent="-1778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Cybersecurity incident dataset (result.csv / preprocessing_report.xlsx)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Microsoft Power BI documentation</a:t>
            </a:r>
            <a:endParaRPr lang="en-US" sz="1300" dirty="0"/>
          </a:p>
          <a:p>
            <a:pPr marL="177800" indent="-1778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AFC4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pandas documentation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4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48640" y="24447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31790" y="1554480"/>
            <a:ext cx="882650" cy="776605"/>
          </a:xfrm>
          <a:prstGeom prst="ellipse">
            <a:avLst/>
          </a:prstGeom>
          <a:solidFill>
            <a:srgbClr val="4A93B8"/>
          </a:solidFill>
        </p:spPr>
      </p:sp>
      <p:sp>
        <p:nvSpPr>
          <p:cNvPr id="8" name="Text 4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9" name="Shape 5"/>
          <p:cNvSpPr/>
          <p:nvPr/>
        </p:nvSpPr>
        <p:spPr>
          <a:xfrm>
            <a:off x="5632704" y="3886200"/>
            <a:ext cx="914400" cy="0"/>
          </a:xfrm>
          <a:prstGeom prst="line">
            <a:avLst/>
          </a:prstGeom>
          <a:noFill/>
          <a:ln w="38100">
            <a:solidFill>
              <a:srgbClr val="E893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1457432" y="6355080"/>
            <a:ext cx="365760" cy="365760"/>
          </a:xfrm>
          <a:prstGeom prst="ellipse">
            <a:avLst/>
          </a:prstGeom>
          <a:solidFill>
            <a:srgbClr val="12333F"/>
          </a:solidFill>
          <a:ln w="15875">
            <a:solidFill>
              <a:srgbClr val="4A93B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1457432" y="63550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200" dirty="0"/>
          </a:p>
        </p:txBody>
      </p:sp>
      <p:pic>
        <p:nvPicPr>
          <p:cNvPr id="9002" name="Header Infosys Logo"/>
          <p:cNvPicPr>
            <a:picLocks noChangeAspect="1"/>
          </p:cNvPicPr>
          <p:nvPr/>
        </p:nvPicPr>
        <p:blipFill>
          <a:blip r:embed="rId1"/>
          <a:srcRect t="1800" r="14605" b="21680"/>
          <a:stretch>
            <a:fillRect/>
          </a:stretch>
        </p:blipFill>
        <p:spPr>
          <a:xfrm>
            <a:off x="10363835" y="101600"/>
            <a:ext cx="1572260" cy="6477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450" y="1680210"/>
            <a:ext cx="525780" cy="52578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218440" y="1619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b="1" kern="0" spc="150" dirty="0">
                <a:solidFill>
                  <a:srgbClr val="E862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VIRTUAL INTERNSHIP 7.0</a:t>
            </a:r>
            <a:endParaRPr lang="en-US" b="1" kern="0" spc="150" dirty="0">
              <a:solidFill>
                <a:srgbClr val="E862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6101</Words>
  <Application>WPS Presentation</Application>
  <PresentationFormat>On-screen Show (16:9)</PresentationFormat>
  <Paragraphs>315</Paragraphs>
  <Slides>12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KIIT0001</cp:lastModifiedBy>
  <cp:revision>6</cp:revision>
  <dcterms:created xsi:type="dcterms:W3CDTF">2026-08-16T12:40:00Z</dcterms:created>
  <dcterms:modified xsi:type="dcterms:W3CDTF">2026-08-20T20:16:53Z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A3AC93843BD84AA7B34B41AC79624E2D_13</vt:lpwstr>
  </property>
</Properties>
</file>