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27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8" r:id="rId7"/>
    <p:sldId id="267" r:id="rId8"/>
    <p:sldId id="261" r:id="rId9"/>
    <p:sldId id="262" r:id="rId10"/>
    <p:sldId id="263" r:id="rId11"/>
    <p:sldId id="264" r:id="rId12"/>
    <p:sldId id="265" r:id="rId13"/>
    <p:sldId id="266" r:id="rId14"/>
  </p:sldIdLst>
  <p:sldSz cx="16256000" cy="9144000"/>
  <p:notesSz cx="9144000" cy="16256000"/>
  <p:embeddedFontLst>
    <p:embeddedFont>
      <p:font typeface="Agency FB" panose="020B0503020202020204" pitchFamily="34" charset="0"/>
      <p:regular r:id="rId16"/>
      <p:bold r:id="rId17"/>
    </p:embeddedFont>
    <p:embeddedFont>
      <p:font typeface="Algerian" panose="04020705040A02060702" pitchFamily="82" charset="0"/>
      <p:regular r:id="rId18"/>
    </p:embeddedFont>
    <p:embeddedFont>
      <p:font typeface="Arial Nova Light" panose="020B0304020202020204" pitchFamily="34" charset="0"/>
      <p:regular r:id="rId19"/>
    </p:embeddedFont>
    <p:embeddedFont>
      <p:font typeface="Inter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66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1T13:59:12.09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2173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053" y="-1"/>
            <a:ext cx="16256001" cy="9144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8128000" cy="9143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66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202519"/>
            <a:ext cx="8128000" cy="5941483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867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8/25/2026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201175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7" y="963043"/>
            <a:ext cx="13106689" cy="975360"/>
          </a:xfrm>
        </p:spPr>
        <p:txBody>
          <a:bodyPr anchor="b">
            <a:normAutofit/>
          </a:bodyPr>
          <a:lstStyle>
            <a:lvl1pPr>
              <a:defRPr sz="3733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8/25/2026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2336" y="2682240"/>
            <a:ext cx="15203424" cy="585216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526288" y="2273115"/>
            <a:ext cx="15203424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443982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6256000" cy="9144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0" y="-1"/>
            <a:ext cx="8128000" cy="9143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69741" y="5641785"/>
            <a:ext cx="9586259" cy="3502215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867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160001" y="280416"/>
            <a:ext cx="1964268" cy="487680"/>
          </a:xfrm>
        </p:spPr>
        <p:txBody>
          <a:bodyPr/>
          <a:lstStyle/>
          <a:p>
            <a:fld id="{4AAD347D-5ACD-4C99-B74B-A9C85AD731AF}" type="datetimeFigureOut">
              <a:rPr lang="en-US" smtClean="0"/>
              <a:t>8/25/2026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2219895" y="280416"/>
            <a:ext cx="2908468" cy="48768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5263615" y="280416"/>
            <a:ext cx="598407" cy="487680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754819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1510952"/>
            <a:ext cx="15508637" cy="2434232"/>
          </a:xfrm>
        </p:spPr>
        <p:txBody>
          <a:bodyPr anchor="t"/>
          <a:lstStyle>
            <a:lvl1pPr>
              <a:defRPr sz="666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335" y="7134968"/>
            <a:ext cx="9647939" cy="1028368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2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8/25/2026</a:t>
            </a:fld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4576162"/>
            <a:ext cx="16256000" cy="2433377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7918179" y="-1329137"/>
            <a:ext cx="2433379" cy="14242265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29995537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489629" y="489634"/>
            <a:ext cx="9155141" cy="817587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2637265" y="3076441"/>
            <a:ext cx="8704825" cy="343029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2" y="5621479"/>
            <a:ext cx="11849732" cy="3526044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666" y="1270000"/>
            <a:ext cx="11849732" cy="7515731"/>
          </a:xfrm>
        </p:spPr>
        <p:txBody>
          <a:bodyPr anchor="b">
            <a:normAutofit/>
          </a:bodyPr>
          <a:lstStyle>
            <a:lvl1pPr algn="r">
              <a:defRPr sz="9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21204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37934" y="0"/>
            <a:ext cx="10133580" cy="9144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1" y="4545930"/>
            <a:ext cx="10146180" cy="4598071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526421" y="-501089"/>
            <a:ext cx="9144000" cy="10146180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584817" y="557303"/>
            <a:ext cx="7357483" cy="9815911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40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3" y="2285997"/>
            <a:ext cx="6614156" cy="6297168"/>
          </a:xfrm>
        </p:spPr>
        <p:txBody>
          <a:bodyPr/>
          <a:lstStyle>
            <a:lvl1pPr>
              <a:defRPr sz="66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8/25/2026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0545824" y="280152"/>
            <a:ext cx="3345712" cy="48768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602977" y="1662602"/>
            <a:ext cx="4539036" cy="6564247"/>
          </a:xfrm>
        </p:spPr>
        <p:txBody>
          <a:bodyPr vert="horz" lIns="91440" tIns="45720" rIns="91440" bIns="45720" rtlCol="0" anchor="t">
            <a:normAutofit/>
          </a:bodyPr>
          <a:lstStyle>
            <a:lvl1pPr marL="609585" indent="-609585">
              <a:spcBef>
                <a:spcPts val="1333"/>
              </a:spcBef>
              <a:spcAft>
                <a:spcPts val="800"/>
              </a:spcAft>
              <a:buFont typeface="+mj-lt"/>
              <a:buAutoNum type="arabicPeriod"/>
              <a:defRPr lang="en-US" sz="2133" dirty="0"/>
            </a:lvl1pPr>
            <a:lvl2pPr marL="761981" indent="-457189">
              <a:spcBef>
                <a:spcPts val="1333"/>
              </a:spcBef>
              <a:spcAft>
                <a:spcPts val="800"/>
              </a:spcAft>
              <a:buFont typeface="+mj-lt"/>
              <a:buAutoNum type="arabicPeriod"/>
              <a:defRPr lang="en-US" sz="1867" dirty="0"/>
            </a:lvl2pPr>
            <a:lvl3pPr marL="1066773" indent="-457189">
              <a:spcBef>
                <a:spcPts val="1333"/>
              </a:spcBef>
              <a:spcAft>
                <a:spcPts val="800"/>
              </a:spcAft>
              <a:buFont typeface="+mj-lt"/>
              <a:buAutoNum type="arabicPeriod"/>
              <a:defRPr lang="en-US" sz="1867" dirty="0"/>
            </a:lvl3pPr>
            <a:lvl4pPr>
              <a:spcBef>
                <a:spcPts val="1333"/>
              </a:spcBef>
              <a:spcAft>
                <a:spcPts val="800"/>
              </a:spcAft>
              <a:buFont typeface="+mj-lt"/>
              <a:buAutoNum type="arabicPeriod"/>
              <a:defRPr lang="en-US" sz="1867" dirty="0"/>
            </a:lvl4pPr>
            <a:lvl5pPr>
              <a:spcBef>
                <a:spcPts val="1333"/>
              </a:spcBef>
              <a:spcAft>
                <a:spcPts val="800"/>
              </a:spcAft>
              <a:buFont typeface="+mj-lt"/>
              <a:buAutoNum type="arabicPeriod"/>
              <a:defRPr lang="en-US" sz="1867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10670080" y="1016000"/>
            <a:ext cx="512064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875820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9493" y="-3"/>
            <a:ext cx="16236505" cy="5989872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965205" y="1549274"/>
            <a:ext cx="15290796" cy="4440596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9494" y="-9954"/>
            <a:ext cx="8147495" cy="333387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1958565"/>
            <a:ext cx="6794901" cy="3281744"/>
          </a:xfrm>
        </p:spPr>
        <p:txBody>
          <a:bodyPr/>
          <a:lstStyle>
            <a:lvl1pPr>
              <a:defRPr sz="66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58801" y="280152"/>
            <a:ext cx="2752119" cy="4876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8/25/2026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636000" y="280152"/>
            <a:ext cx="4335344" cy="4876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649844" y="1549274"/>
            <a:ext cx="5544211" cy="3691037"/>
          </a:xfrm>
        </p:spPr>
        <p:txBody>
          <a:bodyPr vert="horz" lIns="91440" tIns="45720" rIns="91440" bIns="45720" rtlCol="0" anchor="b">
            <a:normAutofit/>
          </a:bodyPr>
          <a:lstStyle>
            <a:lvl1pPr marL="609585" indent="-609585">
              <a:spcBef>
                <a:spcPts val="1333"/>
              </a:spcBef>
              <a:spcAft>
                <a:spcPts val="800"/>
              </a:spcAft>
              <a:buFont typeface="+mj-lt"/>
              <a:buAutoNum type="arabicPeriod"/>
              <a:defRPr lang="en-US" sz="2133" dirty="0"/>
            </a:lvl1pPr>
            <a:lvl2pPr marL="761981" indent="-457189">
              <a:spcBef>
                <a:spcPts val="1333"/>
              </a:spcBef>
              <a:spcAft>
                <a:spcPts val="800"/>
              </a:spcAft>
              <a:buFont typeface="+mj-lt"/>
              <a:buAutoNum type="arabicPeriod"/>
              <a:defRPr lang="en-US" sz="1867" dirty="0"/>
            </a:lvl2pPr>
            <a:lvl3pPr marL="1066773" indent="-457189">
              <a:spcBef>
                <a:spcPts val="1333"/>
              </a:spcBef>
              <a:spcAft>
                <a:spcPts val="800"/>
              </a:spcAft>
              <a:buFont typeface="+mj-lt"/>
              <a:buAutoNum type="arabicPeriod"/>
              <a:defRPr lang="en-US" sz="1867" dirty="0"/>
            </a:lvl3pPr>
            <a:lvl4pPr>
              <a:spcBef>
                <a:spcPts val="1333"/>
              </a:spcBef>
              <a:spcAft>
                <a:spcPts val="800"/>
              </a:spcAft>
              <a:buFont typeface="+mj-lt"/>
              <a:buAutoNum type="arabicPeriod"/>
              <a:defRPr lang="en-US" sz="1867" dirty="0"/>
            </a:lvl4pPr>
            <a:lvl5pPr>
              <a:spcBef>
                <a:spcPts val="1333"/>
              </a:spcBef>
              <a:spcAft>
                <a:spcPts val="800"/>
              </a:spcAft>
              <a:buFont typeface="+mj-lt"/>
              <a:buAutoNum type="arabicPeriod"/>
              <a:defRPr lang="en-US" sz="1867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989870"/>
            <a:ext cx="16256000" cy="3154129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31970406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1"/>
            <a:ext cx="16256000" cy="915943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1" y="2303276"/>
            <a:ext cx="16256001" cy="684072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5713398" y="-1383164"/>
            <a:ext cx="9159439" cy="11925765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4782291" y="-908940"/>
            <a:ext cx="9044220" cy="11061651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4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526288" y="8134773"/>
            <a:ext cx="15203424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6256000" cy="7041899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1219200"/>
            <a:ext cx="9997440" cy="3495040"/>
          </a:xfrm>
        </p:spPr>
        <p:txBody>
          <a:bodyPr anchor="b">
            <a:normAutofit/>
          </a:bodyPr>
          <a:lstStyle>
            <a:lvl1pPr>
              <a:defRPr sz="64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2335" y="5201920"/>
            <a:ext cx="9997440" cy="24384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1762989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522403" y="1031797"/>
            <a:ext cx="15733597" cy="4202536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1031796"/>
            <a:ext cx="14702117" cy="2179027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9200" y="2557525"/>
            <a:ext cx="3918915" cy="279575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8/25/2026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112001" y="280152"/>
            <a:ext cx="3919321" cy="48768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112000" y="2557527"/>
            <a:ext cx="6654800" cy="55107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6084562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1270000"/>
            <a:ext cx="4443712" cy="2109216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402336" y="274648"/>
            <a:ext cx="1463040" cy="487680"/>
          </a:xfrm>
        </p:spPr>
        <p:txBody>
          <a:bodyPr/>
          <a:lstStyle/>
          <a:p>
            <a:fld id="{4AAD347D-5ACD-4C99-B74B-A9C85AD731AF}" type="datetimeFigureOut">
              <a:rPr lang="en-US" smtClean="0"/>
              <a:t>8/25/2026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992504" y="276388"/>
            <a:ext cx="2185829" cy="48768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187680" y="280152"/>
            <a:ext cx="658368" cy="487680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2336" y="4133088"/>
            <a:ext cx="4443712" cy="4072128"/>
          </a:xfrm>
        </p:spPr>
        <p:txBody>
          <a:bodyPr>
            <a:normAutofit/>
          </a:bodyPr>
          <a:lstStyle>
            <a:lvl1pPr marL="0" indent="0">
              <a:buNone/>
              <a:defRPr sz="1867"/>
            </a:lvl1pPr>
            <a:lvl2pPr marL="304792" indent="0">
              <a:buNone/>
              <a:defRPr sz="1867"/>
            </a:lvl2pPr>
            <a:lvl3pPr marL="609585" indent="0">
              <a:buNone/>
              <a:defRPr sz="1867"/>
            </a:lvl3pPr>
            <a:lvl4pPr marL="914377" indent="0">
              <a:buNone/>
              <a:defRPr sz="1867"/>
            </a:lvl4pPr>
            <a:lvl5pPr marL="1219170" indent="0">
              <a:buNone/>
              <a:defRPr sz="186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537200" y="0"/>
            <a:ext cx="10718800" cy="9144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529717" y="3748369"/>
            <a:ext cx="4328184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584894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5709401"/>
            <a:ext cx="4547944" cy="2043968"/>
          </a:xfrm>
        </p:spPr>
        <p:txBody>
          <a:bodyPr anchor="t">
            <a:normAutofit/>
          </a:bodyPr>
          <a:lstStyle>
            <a:lvl1pPr>
              <a:defRPr sz="373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"/>
            <a:ext cx="16256000" cy="51521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74081" y="5709401"/>
            <a:ext cx="9347199" cy="2043968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2133"/>
            </a:lvl1pPr>
            <a:lvl2pPr marL="304792" indent="0">
              <a:buFont typeface="Arial" panose="020B0604020202020204" pitchFamily="34" charset="0"/>
              <a:buNone/>
              <a:defRPr sz="1867"/>
            </a:lvl2pPr>
            <a:lvl3pPr marL="609585" indent="0">
              <a:buFont typeface="Arial" panose="020B0604020202020204" pitchFamily="34" charset="0"/>
              <a:buNone/>
              <a:defRPr sz="1600"/>
            </a:lvl3pPr>
            <a:lvl4pPr marL="914377" indent="0">
              <a:buFont typeface="Arial" panose="020B0604020202020204" pitchFamily="34" charset="0"/>
              <a:buNone/>
              <a:defRPr sz="1467"/>
            </a:lvl4pPr>
            <a:lvl5pPr marL="121917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2336" y="8351520"/>
            <a:ext cx="2345717" cy="487680"/>
          </a:xfrm>
        </p:spPr>
        <p:txBody>
          <a:bodyPr/>
          <a:lstStyle/>
          <a:p>
            <a:fld id="{4AAD347D-5ACD-4C99-B74B-A9C85AD731AF}" type="datetimeFigureOut">
              <a:rPr lang="en-US" smtClean="0"/>
              <a:t>8/25/2026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74080" y="8351520"/>
            <a:ext cx="3345712" cy="48768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67098" y="8351520"/>
            <a:ext cx="807300" cy="487680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526288" y="8126924"/>
            <a:ext cx="15203424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650617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9279466" y="7666240"/>
            <a:ext cx="6976533" cy="147776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9312" y="1274414"/>
            <a:ext cx="5486400" cy="1658735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9279467" cy="9144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959241" y="280152"/>
            <a:ext cx="1981200" cy="487680"/>
          </a:xfrm>
        </p:spPr>
        <p:txBody>
          <a:bodyPr/>
          <a:lstStyle/>
          <a:p>
            <a:fld id="{4AAD347D-5ACD-4C99-B74B-A9C85AD731AF}" type="datetimeFigureOut">
              <a:rPr lang="en-US" smtClean="0"/>
              <a:t>8/25/2026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501461" y="280152"/>
            <a:ext cx="2480619" cy="48768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989312" y="3721377"/>
            <a:ext cx="5486400" cy="45110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10127256" y="3301008"/>
            <a:ext cx="5348457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9279466" y="7666240"/>
            <a:ext cx="6976533" cy="147776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80981544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1356915"/>
            <a:ext cx="4547944" cy="2043968"/>
          </a:xfrm>
        </p:spPr>
        <p:txBody>
          <a:bodyPr anchor="t">
            <a:normAutofit/>
          </a:bodyPr>
          <a:lstStyle>
            <a:lvl1pPr>
              <a:defRPr sz="373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74080" y="280152"/>
            <a:ext cx="3345712" cy="48768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74081" y="1356915"/>
            <a:ext cx="9347199" cy="316992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2133"/>
            </a:lvl1pPr>
            <a:lvl2pPr marL="304792" indent="0">
              <a:buFont typeface="Arial" panose="020B0604020202020204" pitchFamily="34" charset="0"/>
              <a:buNone/>
              <a:defRPr sz="1867"/>
            </a:lvl2pPr>
            <a:lvl3pPr marL="609585" indent="0">
              <a:buFont typeface="Arial" panose="020B0604020202020204" pitchFamily="34" charset="0"/>
              <a:buNone/>
              <a:defRPr sz="1600"/>
            </a:lvl3pPr>
            <a:lvl4pPr marL="914377" indent="0">
              <a:buFont typeface="Arial" panose="020B0604020202020204" pitchFamily="34" charset="0"/>
              <a:buNone/>
              <a:defRPr sz="1467"/>
            </a:lvl4pPr>
            <a:lvl5pPr marL="121917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5116946"/>
            <a:ext cx="16256000" cy="4027055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61014055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1828800"/>
            <a:ext cx="4632960" cy="3048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8/25/2026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943601" y="280152"/>
            <a:ext cx="3812409" cy="48768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0148763" y="280152"/>
            <a:ext cx="807300" cy="487680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43600" y="1828801"/>
            <a:ext cx="4491704" cy="6269257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641394" y="1"/>
            <a:ext cx="4614607" cy="915583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1" y="6361430"/>
            <a:ext cx="6499548" cy="2794407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3" y="5137212"/>
            <a:ext cx="3764133" cy="4030461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529336" y="1001751"/>
            <a:ext cx="1030224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695521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7" y="1269999"/>
            <a:ext cx="9001503" cy="166782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402336" y="271816"/>
            <a:ext cx="3048000" cy="487680"/>
          </a:xfrm>
        </p:spPr>
        <p:txBody>
          <a:bodyPr/>
          <a:lstStyle/>
          <a:p>
            <a:fld id="{4AAD347D-5ACD-4C99-B74B-A9C85AD731AF}" type="datetimeFigureOut">
              <a:rPr lang="en-US" smtClean="0"/>
              <a:t>8/25/2026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454401" y="271816"/>
            <a:ext cx="3700004" cy="48768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8329781" y="271816"/>
            <a:ext cx="1153059" cy="487680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2336" y="3214024"/>
            <a:ext cx="9007352" cy="50765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60000" y="0"/>
            <a:ext cx="6096000" cy="9144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4941464"/>
            <a:ext cx="10160000" cy="4202536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7462816"/>
            <a:ext cx="10160000" cy="1681184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529336" y="1001751"/>
            <a:ext cx="882700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26431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779519"/>
            <a:ext cx="4019176" cy="3901440"/>
          </a:xfrm>
        </p:spPr>
        <p:txBody>
          <a:bodyPr anchor="t">
            <a:normAutofit/>
          </a:bodyPr>
          <a:lstStyle>
            <a:lvl1pPr>
              <a:defRPr sz="373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3728" y="0"/>
            <a:ext cx="16279728" cy="322679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74080" y="3779520"/>
            <a:ext cx="9601200" cy="3901440"/>
          </a:xfrm>
        </p:spPr>
        <p:txBody>
          <a:bodyPr>
            <a:noAutofit/>
          </a:bodyPr>
          <a:lstStyle>
            <a:lvl1pPr marL="380990" indent="-380990">
              <a:buFont typeface="Arial" panose="020B0604020202020204" pitchFamily="34" charset="0"/>
              <a:buNone/>
              <a:defRPr sz="2400"/>
            </a:lvl1pPr>
            <a:lvl2pPr marL="685783" indent="-380990">
              <a:buFont typeface="Arial" panose="020B0604020202020204" pitchFamily="34" charset="0"/>
              <a:buNone/>
              <a:defRPr sz="2133"/>
            </a:lvl2pPr>
            <a:lvl3pPr marL="990575" indent="-380990">
              <a:buFont typeface="Arial" panose="020B0604020202020204" pitchFamily="34" charset="0"/>
              <a:buNone/>
              <a:defRPr sz="1867"/>
            </a:lvl3pPr>
            <a:lvl4pPr marL="1142971" indent="-228594">
              <a:buFont typeface="Arial" panose="020B0604020202020204" pitchFamily="34" charset="0"/>
              <a:buNone/>
              <a:defRPr sz="1600"/>
            </a:lvl4pPr>
            <a:lvl5pPr marL="1447764" indent="-228594">
              <a:buFont typeface="Arial" panose="020B0604020202020204" pitchFamily="34" charset="0"/>
              <a:buNone/>
              <a:defRPr sz="146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402336" y="8365377"/>
            <a:ext cx="4019176" cy="487680"/>
          </a:xfrm>
        </p:spPr>
        <p:txBody>
          <a:bodyPr/>
          <a:lstStyle/>
          <a:p>
            <a:fld id="{4AAD347D-5ACD-4C99-B74B-A9C85AD731AF}" type="datetimeFigureOut">
              <a:rPr lang="en-US" smtClean="0"/>
              <a:t>8/25/2026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974080" y="8365377"/>
            <a:ext cx="4216400" cy="48768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5057121" y="8365377"/>
            <a:ext cx="758556" cy="487680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526288" y="8126924"/>
            <a:ext cx="15203424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547427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1347912"/>
            <a:ext cx="4676557" cy="1864659"/>
          </a:xfrm>
        </p:spPr>
        <p:txBody>
          <a:bodyPr anchor="t">
            <a:normAutofit/>
          </a:bodyPr>
          <a:lstStyle>
            <a:lvl1pPr>
              <a:defRPr sz="3733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8/25/2026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576907" y="280152"/>
            <a:ext cx="3345712" cy="48768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01802" y="3573930"/>
            <a:ext cx="4477092" cy="48827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895603" y="7796088"/>
            <a:ext cx="13360397" cy="1347912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10356486" y="3244484"/>
            <a:ext cx="6592044" cy="520698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5902432" y="1434354"/>
            <a:ext cx="0" cy="6592047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76905" y="1347909"/>
            <a:ext cx="8656320" cy="69494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6630472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1359749"/>
            <a:ext cx="4559173" cy="2475404"/>
          </a:xfrm>
        </p:spPr>
        <p:txBody>
          <a:bodyPr anchor="t">
            <a:normAutofit/>
          </a:bodyPr>
          <a:lstStyle>
            <a:lvl1pPr>
              <a:defRPr sz="3733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8/25/2026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971959" y="280152"/>
            <a:ext cx="3345712" cy="48768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09853" y="4060055"/>
            <a:ext cx="4451656" cy="439665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71957" y="1359747"/>
            <a:ext cx="9753600" cy="7437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72879631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5998" y="6543482"/>
            <a:ext cx="7093713" cy="1918497"/>
          </a:xfrm>
        </p:spPr>
        <p:txBody>
          <a:bodyPr anchor="t"/>
          <a:lstStyle>
            <a:lvl1pPr>
              <a:lnSpc>
                <a:spcPct val="100000"/>
              </a:lnSpc>
              <a:defRPr sz="2667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66184" y="1022352"/>
            <a:ext cx="15093949" cy="4652433"/>
          </a:xfrm>
        </p:spPr>
        <p:txBody>
          <a:bodyPr/>
          <a:lstStyle>
            <a:lvl1pPr>
              <a:lnSpc>
                <a:spcPct val="85000"/>
              </a:lnSpc>
              <a:defRPr sz="31999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526288" y="6216324"/>
            <a:ext cx="15203424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1627805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2" y="0"/>
            <a:ext cx="16256003" cy="9144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4911288" y="0"/>
            <a:ext cx="11344712" cy="9144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2227211" y="-2227211"/>
            <a:ext cx="9990059" cy="1444448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864" y="-1511808"/>
            <a:ext cx="14203680" cy="12897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6708989" y="-27115"/>
            <a:ext cx="9547011" cy="9171115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11948" y="3606106"/>
            <a:ext cx="16244051" cy="5537895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65761" y="3606595"/>
            <a:ext cx="13068300" cy="4718051"/>
          </a:xfrm>
        </p:spPr>
        <p:txBody>
          <a:bodyPr anchor="b"/>
          <a:lstStyle>
            <a:lvl1pPr>
              <a:lnSpc>
                <a:spcPct val="100000"/>
              </a:lnSpc>
              <a:defRPr sz="7200"/>
            </a:lvl1pPr>
            <a:lvl2pPr>
              <a:lnSpc>
                <a:spcPct val="100000"/>
              </a:lnSpc>
              <a:defRPr sz="6400"/>
            </a:lvl2pPr>
            <a:lvl3pPr>
              <a:lnSpc>
                <a:spcPct val="100000"/>
              </a:lnSpc>
              <a:defRPr sz="5867"/>
            </a:lvl3pPr>
            <a:lvl4pPr>
              <a:lnSpc>
                <a:spcPct val="100000"/>
              </a:lnSpc>
              <a:defRPr sz="5333"/>
            </a:lvl4pPr>
            <a:lvl5pPr>
              <a:lnSpc>
                <a:spcPct val="100000"/>
              </a:lnSpc>
              <a:defRPr sz="48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15454468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148550"/>
            <a:ext cx="16256000" cy="401436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3556006" y="-3555994"/>
            <a:ext cx="9143995" cy="16255991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5842000" y="-5831247"/>
            <a:ext cx="4572000" cy="16234493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89200" y="6623713"/>
            <a:ext cx="11312144" cy="1402687"/>
          </a:xfrm>
        </p:spPr>
        <p:txBody>
          <a:bodyPr anchor="ctr">
            <a:normAutofit/>
          </a:bodyPr>
          <a:lstStyle>
            <a:lvl1pPr marL="182875" indent="-182875">
              <a:lnSpc>
                <a:spcPct val="100000"/>
              </a:lnSpc>
              <a:defRPr sz="2667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8/25/2026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489200" y="1874292"/>
            <a:ext cx="11312144" cy="4116829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5333" b="0" dirty="0">
                <a:solidFill>
                  <a:schemeClr val="tx1"/>
                </a:solidFill>
              </a:defRPr>
            </a:lvl1pPr>
            <a:lvl2pPr marL="304792" indent="0">
              <a:lnSpc>
                <a:spcPct val="100000"/>
              </a:lnSpc>
              <a:buNone/>
              <a:defRPr lang="en-US" sz="5333" b="0" dirty="0">
                <a:solidFill>
                  <a:schemeClr val="tx1"/>
                </a:solidFill>
              </a:defRPr>
            </a:lvl2pPr>
            <a:lvl3pPr marL="609585" indent="0">
              <a:lnSpc>
                <a:spcPct val="100000"/>
              </a:lnSpc>
              <a:buNone/>
              <a:defRPr lang="en-US" sz="5333" b="0" dirty="0">
                <a:solidFill>
                  <a:schemeClr val="tx1"/>
                </a:solidFill>
              </a:defRPr>
            </a:lvl3pPr>
            <a:lvl4pPr marL="914377" indent="0">
              <a:lnSpc>
                <a:spcPct val="100000"/>
              </a:lnSpc>
              <a:buNone/>
              <a:defRPr lang="en-US" sz="5333" b="0" dirty="0">
                <a:solidFill>
                  <a:schemeClr val="tx1"/>
                </a:solidFill>
              </a:defRPr>
            </a:lvl4pPr>
            <a:lvl5pPr marL="1219170" indent="0">
              <a:lnSpc>
                <a:spcPct val="100000"/>
              </a:lnSpc>
              <a:buNone/>
              <a:defRPr lang="en-US" sz="48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769714" y="6414419"/>
            <a:ext cx="11031631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7652205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7" y="1016000"/>
            <a:ext cx="9350513" cy="1841909"/>
          </a:xfrm>
        </p:spPr>
        <p:txBody>
          <a:bodyPr anchor="t">
            <a:noAutofit/>
          </a:bodyPr>
          <a:lstStyle>
            <a:lvl1pPr>
              <a:defRPr sz="5867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526288" y="4043960"/>
            <a:ext cx="15203424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6353389" y="-758615"/>
            <a:ext cx="3549225" cy="16256003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6021494" y="-1090509"/>
            <a:ext cx="4213013" cy="16256004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0974" y="4572000"/>
            <a:ext cx="14895599" cy="328748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0173789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6694564" y="-3240174"/>
            <a:ext cx="2433379" cy="15822507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3454388"/>
            <a:ext cx="16256000" cy="2433377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7" y="1016000"/>
            <a:ext cx="8127999" cy="1939341"/>
          </a:xfrm>
        </p:spPr>
        <p:txBody>
          <a:bodyPr anchor="t">
            <a:norm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160001" y="4450081"/>
            <a:ext cx="4793561" cy="377144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400" dirty="0"/>
            </a:lvl1pPr>
            <a:lvl2pPr marL="304792" indent="0">
              <a:buNone/>
              <a:defRPr lang="en-US" sz="1867" dirty="0"/>
            </a:lvl2pPr>
            <a:lvl3pPr marL="609585" indent="0">
              <a:buNone/>
              <a:defRPr lang="en-US" sz="1600" dirty="0"/>
            </a:lvl3pPr>
            <a:lvl4pPr marL="914377" indent="0">
              <a:buNone/>
              <a:defRPr lang="en-US" sz="1467" dirty="0"/>
            </a:lvl4pPr>
            <a:lvl5pPr marL="121917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07680392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975361"/>
            <a:ext cx="14478000" cy="92318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02168" y="2408766"/>
            <a:ext cx="6887633" cy="6115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8965188" y="2408766"/>
            <a:ext cx="6654800" cy="6115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526288" y="2113280"/>
            <a:ext cx="15203424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0906429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1" y="1"/>
            <a:ext cx="16255999" cy="1783644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975360"/>
            <a:ext cx="15447264" cy="88274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8/25/2026</a:t>
            </a:fld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2336" y="2367705"/>
            <a:ext cx="6888480" cy="85344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2133" b="1" cap="none" baseline="0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02168" y="3323308"/>
            <a:ext cx="6887633" cy="52005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961120" y="2367703"/>
            <a:ext cx="6888480" cy="85344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2133" b="1" cap="none" baseline="0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8965188" y="3323308"/>
            <a:ext cx="6909209" cy="52005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526288" y="2106579"/>
            <a:ext cx="15203424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1" y="1"/>
            <a:ext cx="16255999" cy="1783644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996708650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1341120"/>
            <a:ext cx="13208000" cy="106805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4458204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8/25/2026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523115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6777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1158853"/>
            <a:ext cx="15472061" cy="12922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02336" y="280152"/>
            <a:ext cx="2345717" cy="487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1067" cap="none" spc="0" baseline="0">
                <a:solidFill>
                  <a:schemeClr val="tx1"/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8/25/2026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163313" y="280152"/>
            <a:ext cx="3345712" cy="487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1067" cap="none" spc="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067098" y="280152"/>
            <a:ext cx="807300" cy="487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67" cap="none" spc="0" baseline="0">
                <a:solidFill>
                  <a:schemeClr val="tx1"/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2336" y="2729713"/>
            <a:ext cx="15472061" cy="5646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526288" y="1001751"/>
            <a:ext cx="15203424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66728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  <p:sldLayoutId id="2147483739" r:id="rId12"/>
    <p:sldLayoutId id="2147483740" r:id="rId13"/>
    <p:sldLayoutId id="2147483741" r:id="rId14"/>
    <p:sldLayoutId id="2147483742" r:id="rId15"/>
    <p:sldLayoutId id="2147483743" r:id="rId16"/>
    <p:sldLayoutId id="2147483744" r:id="rId17"/>
    <p:sldLayoutId id="2147483745" r:id="rId18"/>
    <p:sldLayoutId id="2147483746" r:id="rId19"/>
    <p:sldLayoutId id="2147483747" r:id="rId20"/>
    <p:sldLayoutId id="2147483748" r:id="rId21"/>
    <p:sldLayoutId id="2147483749" r:id="rId22"/>
    <p:sldLayoutId id="2147483750" r:id="rId23"/>
    <p:sldLayoutId id="2147483751" r:id="rId24"/>
    <p:sldLayoutId id="2147483752" r:id="rId25"/>
    <p:sldLayoutId id="2147483753" r:id="rId26"/>
    <p:sldLayoutId id="2147483754" r:id="rId27"/>
    <p:sldLayoutId id="2147483755" r:id="rId28"/>
  </p:sldLayoutIdLst>
  <p:hf sldNum="0" hdr="0" ftr="0" dt="0"/>
  <p:txStyles>
    <p:titleStyle>
      <a:lvl1pPr algn="l" defTabSz="1219170" rtl="0" eaLnBrk="1" latinLnBrk="0" hangingPunct="1">
        <a:lnSpc>
          <a:spcPct val="85000"/>
        </a:lnSpc>
        <a:spcBef>
          <a:spcPct val="0"/>
        </a:spcBef>
        <a:buNone/>
        <a:defRPr sz="3733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219170" rtl="0" eaLnBrk="1" latinLnBrk="0" hangingPunct="1">
        <a:lnSpc>
          <a:spcPct val="120000"/>
        </a:lnSpc>
        <a:spcBef>
          <a:spcPts val="1333"/>
        </a:spcBef>
        <a:buFont typeface="Arial" panose="020B0604020202020204" pitchFamily="34" charset="0"/>
        <a:buNone/>
        <a:defRPr sz="1867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304792" indent="0" algn="l" defTabSz="1219170" rtl="0" eaLnBrk="1" latinLnBrk="0" hangingPunct="1">
        <a:lnSpc>
          <a:spcPct val="120000"/>
        </a:lnSpc>
        <a:spcBef>
          <a:spcPts val="667"/>
        </a:spcBef>
        <a:buFont typeface="Arial" panose="020B0604020202020204" pitchFamily="34" charset="0"/>
        <a:buNone/>
        <a:defRPr sz="1867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609585" indent="0" algn="l" defTabSz="1219170" rtl="0" eaLnBrk="1" latinLnBrk="0" hangingPunct="1">
        <a:lnSpc>
          <a:spcPct val="120000"/>
        </a:lnSpc>
        <a:spcBef>
          <a:spcPts val="667"/>
        </a:spcBef>
        <a:buFont typeface="Arial" panose="020B0604020202020204" pitchFamily="34" charset="0"/>
        <a:buNone/>
        <a:defRPr sz="1867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914377" indent="0" algn="l" defTabSz="1219170" rtl="0" eaLnBrk="1" latinLnBrk="0" hangingPunct="1">
        <a:lnSpc>
          <a:spcPct val="120000"/>
        </a:lnSpc>
        <a:spcBef>
          <a:spcPts val="667"/>
        </a:spcBef>
        <a:buFont typeface="Arial" panose="020B0604020202020204" pitchFamily="34" charset="0"/>
        <a:buNone/>
        <a:defRPr sz="1867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1219170" indent="0" algn="l" defTabSz="1219170" rtl="0" eaLnBrk="1" latinLnBrk="0" hangingPunct="1">
        <a:lnSpc>
          <a:spcPct val="120000"/>
        </a:lnSpc>
        <a:spcBef>
          <a:spcPts val="667"/>
        </a:spcBef>
        <a:buFont typeface="Arial" panose="020B0604020202020204" pitchFamily="34" charset="0"/>
        <a:buNone/>
        <a:defRPr sz="1867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27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hyperlink" Target="https://learn.microsoft.com/en-us/power-query/power-query-what-is-power-query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Relationship Id="rId6" Type="http://schemas.openxmlformats.org/officeDocument/2006/relationships/hyperlink" Target="https://www.kaggle.com/datasets/guijas/vcdb-dataset" TargetMode="External"/><Relationship Id="rId5" Type="http://schemas.openxmlformats.org/officeDocument/2006/relationships/hyperlink" Target="https://verisframework.org/vcdb.html" TargetMode="External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header"/>
          <p:cNvSpPr/>
          <p:nvPr/>
        </p:nvSpPr>
        <p:spPr>
          <a:xfrm>
            <a:off x="0" y="0"/>
            <a:ext cx="16256000" cy="11684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cover-internship"/>
          <p:cNvSpPr/>
          <p:nvPr/>
        </p:nvSpPr>
        <p:spPr>
          <a:xfrm>
            <a:off x="660400" y="3810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0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Virtual Internship 7.0</a:t>
            </a:r>
            <a:endParaRPr lang="en-US" sz="2000" dirty="0"/>
          </a:p>
        </p:txBody>
      </p:sp>
      <p:sp>
        <p:nvSpPr>
          <p:cNvPr id="4" name="cover-org"/>
          <p:cNvSpPr/>
          <p:nvPr/>
        </p:nvSpPr>
        <p:spPr>
          <a:xfrm>
            <a:off x="9652000" y="355600"/>
            <a:ext cx="59436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800" dirty="0">
                <a:solidFill>
                  <a:srgbClr val="1E6F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Infosys  |  Springboard</a:t>
            </a:r>
            <a:endParaRPr lang="en-US" sz="1800" dirty="0"/>
          </a:p>
        </p:txBody>
      </p:sp>
      <p:sp>
        <p:nvSpPr>
          <p:cNvPr id="5" name="cover-glow"/>
          <p:cNvSpPr/>
          <p:nvPr/>
        </p:nvSpPr>
        <p:spPr>
          <a:xfrm>
            <a:off x="12827000" y="1905000"/>
            <a:ext cx="2794000" cy="2794000"/>
          </a:xfrm>
          <a:prstGeom prst="ellipse">
            <a:avLst/>
          </a:prstGeom>
          <a:solidFill>
            <a:srgbClr val="00E5FF">
              <a:alpha val="3000"/>
            </a:srgbClr>
          </a:solidFill>
          <a:ln/>
        </p:spPr>
      </p:sp>
      <p:sp>
        <p:nvSpPr>
          <p:cNvPr id="6" name="cover-title"/>
          <p:cNvSpPr/>
          <p:nvPr/>
        </p:nvSpPr>
        <p:spPr>
          <a:xfrm>
            <a:off x="1524000" y="2667000"/>
            <a:ext cx="13208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ts val="5428"/>
              </a:lnSpc>
            </a:pPr>
            <a:r>
              <a:rPr lang="en-IN" sz="3600" b="1" dirty="0">
                <a:solidFill>
                  <a:schemeClr val="bg1">
                    <a:lumMod val="75000"/>
                  </a:schemeClr>
                </a:solidFill>
                <a:highlight>
                  <a:srgbClr val="C0C0C0"/>
                </a:highlight>
                <a:latin typeface="Algerian" panose="04020705040A02060702" pitchFamily="82" charset="0"/>
              </a:rPr>
              <a:t>Cyber Threat Analytics Platform with Incident Visualization System</a:t>
            </a:r>
          </a:p>
        </p:txBody>
      </p:sp>
      <p:sp>
        <p:nvSpPr>
          <p:cNvPr id="7" name="cover-underline"/>
          <p:cNvSpPr/>
          <p:nvPr/>
        </p:nvSpPr>
        <p:spPr>
          <a:xfrm>
            <a:off x="6667500" y="5016500"/>
            <a:ext cx="2921000" cy="9144"/>
          </a:xfrm>
          <a:prstGeom prst="line">
            <a:avLst/>
          </a:prstGeom>
          <a:ln w="50800">
            <a:solidFill>
              <a:srgbClr val="00E5FF"/>
            </a:solidFill>
            <a:prstDash val="solid"/>
          </a:ln>
        </p:spPr>
      </p:sp>
      <p:sp>
        <p:nvSpPr>
          <p:cNvPr id="8" name="cover-presented"/>
          <p:cNvSpPr/>
          <p:nvPr/>
        </p:nvSpPr>
        <p:spPr>
          <a:xfrm>
            <a:off x="2794000" y="5397500"/>
            <a:ext cx="1066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By: Tejasri Lakshmi</a:t>
            </a:r>
            <a:endParaRPr lang="en-US" sz="2100" dirty="0"/>
          </a:p>
        </p:txBody>
      </p:sp>
      <p:sp>
        <p:nvSpPr>
          <p:cNvPr id="9" name="cover-internship-org"/>
          <p:cNvSpPr/>
          <p:nvPr/>
        </p:nvSpPr>
        <p:spPr>
          <a:xfrm>
            <a:off x="2794000" y="5842000"/>
            <a:ext cx="1066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800" dirty="0">
                <a:solidFill>
                  <a:srgbClr val="B6C6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Virtual Internship 7.0  |  Infosys Springboard</a:t>
            </a:r>
            <a:endParaRPr lang="en-US" sz="1800" dirty="0"/>
          </a:p>
        </p:txBody>
      </p:sp>
      <p:sp>
        <p:nvSpPr>
          <p:cNvPr id="10" name="cover-mentor"/>
          <p:cNvSpPr/>
          <p:nvPr/>
        </p:nvSpPr>
        <p:spPr>
          <a:xfrm>
            <a:off x="2794000" y="6286500"/>
            <a:ext cx="1066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800" dirty="0">
                <a:solidFill>
                  <a:srgbClr val="B6C6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Mentor: NityaSree</a:t>
            </a:r>
            <a:endParaRPr lang="en-US" sz="1800" dirty="0"/>
          </a:p>
        </p:txBody>
      </p:sp>
      <p:sp>
        <p:nvSpPr>
          <p:cNvPr id="11" name="cover-pill"/>
          <p:cNvSpPr/>
          <p:nvPr/>
        </p:nvSpPr>
        <p:spPr>
          <a:xfrm>
            <a:off x="6375400" y="6959600"/>
            <a:ext cx="3505200" cy="533400"/>
          </a:xfrm>
          <a:prstGeom prst="roundRect">
            <a:avLst>
              <a:gd name="adj" fmla="val 50000"/>
            </a:avLst>
          </a:prstGeom>
          <a:solidFill>
            <a:srgbClr val="0F2C45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pPr algn="ctr"/>
            <a:r>
              <a:rPr lang="en-US" dirty="0"/>
              <a:t>Team D</a:t>
            </a:r>
            <a:endParaRPr lang="en-IN" dirty="0"/>
          </a:p>
        </p:txBody>
      </p:sp>
      <p:sp>
        <p:nvSpPr>
          <p:cNvPr id="12" name="cover-pill-text"/>
          <p:cNvSpPr/>
          <p:nvPr/>
        </p:nvSpPr>
        <p:spPr>
          <a:xfrm>
            <a:off x="6375400" y="6959600"/>
            <a:ext cx="35052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-title-rule"/>
          <p:cNvSpPr/>
          <p:nvPr/>
        </p:nvSpPr>
        <p:spPr>
          <a:xfrm>
            <a:off x="863600" y="1092200"/>
            <a:ext cx="63500" cy="431800"/>
          </a:xfrm>
          <a:prstGeom prst="line">
            <a:avLst/>
          </a:prstGeom>
          <a:ln w="63500">
            <a:solidFill>
              <a:srgbClr val="00E5FF"/>
            </a:solidFill>
            <a:prstDash val="solid"/>
          </a:ln>
        </p:spPr>
      </p:sp>
      <p:sp>
        <p:nvSpPr>
          <p:cNvPr id="3" name="obj-title"/>
          <p:cNvSpPr/>
          <p:nvPr/>
        </p:nvSpPr>
        <p:spPr>
          <a:xfrm>
            <a:off x="1117600" y="1041400"/>
            <a:ext cx="9144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obj-subtitle"/>
          <p:cNvSpPr/>
          <p:nvPr/>
        </p:nvSpPr>
        <p:spPr>
          <a:xfrm>
            <a:off x="1117600" y="1549400"/>
            <a:ext cx="1346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500" dirty="0">
                <a:solidFill>
                  <a:srgbClr val="A9C1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structured framework for turning incident records into security intelligence.</a:t>
            </a:r>
            <a:endParaRPr lang="en-US" sz="1500" dirty="0"/>
          </a:p>
        </p:txBody>
      </p:sp>
      <p:sp>
        <p:nvSpPr>
          <p:cNvPr id="5" name="obj-card-1"/>
          <p:cNvSpPr/>
          <p:nvPr/>
        </p:nvSpPr>
        <p:spPr>
          <a:xfrm>
            <a:off x="889000" y="2222500"/>
            <a:ext cx="7112000" cy="1841500"/>
          </a:xfrm>
          <a:prstGeom prst="roundRect">
            <a:avLst>
              <a:gd name="adj" fmla="val 6897"/>
            </a:avLst>
          </a:prstGeom>
          <a:solidFill>
            <a:srgbClr val="0F2C45"/>
          </a:solidFill>
          <a:ln w="12700">
            <a:solidFill>
              <a:srgbClr val="1C5068"/>
            </a:solidFill>
            <a:prstDash val="solid"/>
          </a:ln>
        </p:spPr>
      </p:sp>
      <p:pic>
        <p:nvPicPr>
          <p:cNvPr id="6" name="obj-icon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0" y="2552700"/>
            <a:ext cx="482600" cy="482600"/>
          </a:xfrm>
          <a:prstGeom prst="rect">
            <a:avLst/>
          </a:prstGeom>
        </p:spPr>
      </p:pic>
      <p:sp>
        <p:nvSpPr>
          <p:cNvPr id="7" name="obj-head-1"/>
          <p:cNvSpPr/>
          <p:nvPr/>
        </p:nvSpPr>
        <p:spPr>
          <a:xfrm>
            <a:off x="1905000" y="2451100"/>
            <a:ext cx="546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 and classify cyber threats</a:t>
            </a:r>
            <a:endParaRPr lang="en-US" sz="2000" dirty="0"/>
          </a:p>
        </p:txBody>
      </p:sp>
      <p:sp>
        <p:nvSpPr>
          <p:cNvPr id="8" name="obj-desc-1"/>
          <p:cNvSpPr/>
          <p:nvPr/>
        </p:nvSpPr>
        <p:spPr>
          <a:xfrm>
            <a:off x="1905000" y="2946400"/>
            <a:ext cx="5461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altLang="en-US" sz="1600" dirty="0">
                <a:solidFill>
                  <a:srgbClr val="C9D7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malicious incident patterns and organize events by attack type, actor, motive, asset, and severity.</a:t>
            </a:r>
            <a:endParaRPr lang="en-US" sz="1600" dirty="0"/>
          </a:p>
        </p:txBody>
      </p:sp>
      <p:sp>
        <p:nvSpPr>
          <p:cNvPr id="9" name="obj-card-2"/>
          <p:cNvSpPr/>
          <p:nvPr/>
        </p:nvSpPr>
        <p:spPr>
          <a:xfrm>
            <a:off x="8255000" y="2222500"/>
            <a:ext cx="7112000" cy="1841500"/>
          </a:xfrm>
          <a:prstGeom prst="roundRect">
            <a:avLst>
              <a:gd name="adj" fmla="val 6897"/>
            </a:avLst>
          </a:prstGeom>
          <a:solidFill>
            <a:srgbClr val="0F2C45"/>
          </a:solidFill>
          <a:ln w="12700">
            <a:solidFill>
              <a:srgbClr val="1C5068"/>
            </a:solidFill>
            <a:prstDash val="solid"/>
          </a:ln>
        </p:spPr>
      </p:sp>
      <p:pic>
        <p:nvPicPr>
          <p:cNvPr id="10" name="obj-icon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9800" y="2552700"/>
            <a:ext cx="482600" cy="482600"/>
          </a:xfrm>
          <a:prstGeom prst="rect">
            <a:avLst/>
          </a:prstGeom>
        </p:spPr>
      </p:pic>
      <p:sp>
        <p:nvSpPr>
          <p:cNvPr id="11" name="obj-head-2"/>
          <p:cNvSpPr/>
          <p:nvPr/>
        </p:nvSpPr>
        <p:spPr>
          <a:xfrm>
            <a:off x="9271000" y="2451100"/>
            <a:ext cx="546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 and prepare incident data</a:t>
            </a:r>
            <a:endParaRPr lang="en-US" sz="2000" dirty="0"/>
          </a:p>
        </p:txBody>
      </p:sp>
      <p:sp>
        <p:nvSpPr>
          <p:cNvPr id="12" name="obj-desc-2"/>
          <p:cNvSpPr/>
          <p:nvPr/>
        </p:nvSpPr>
        <p:spPr>
          <a:xfrm>
            <a:off x="9271000" y="2946400"/>
            <a:ext cx="5461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altLang="en-US" sz="1600" dirty="0">
                <a:solidFill>
                  <a:srgbClr val="C9D7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Standardize missing months, motives, actor varieties, countries, and other fields without losing records.</a:t>
            </a:r>
            <a:endParaRPr lang="en-US" sz="1600" dirty="0"/>
          </a:p>
        </p:txBody>
      </p:sp>
      <p:sp>
        <p:nvSpPr>
          <p:cNvPr id="13" name="obj-card-3"/>
          <p:cNvSpPr/>
          <p:nvPr/>
        </p:nvSpPr>
        <p:spPr>
          <a:xfrm>
            <a:off x="889000" y="4381500"/>
            <a:ext cx="7112000" cy="1841500"/>
          </a:xfrm>
          <a:prstGeom prst="roundRect">
            <a:avLst>
              <a:gd name="adj" fmla="val 6897"/>
            </a:avLst>
          </a:prstGeom>
          <a:solidFill>
            <a:srgbClr val="0F2C45"/>
          </a:solidFill>
          <a:ln w="12700">
            <a:solidFill>
              <a:srgbClr val="1C5068"/>
            </a:solidFill>
            <a:prstDash val="solid"/>
          </a:ln>
        </p:spPr>
      </p:sp>
      <p:pic>
        <p:nvPicPr>
          <p:cNvPr id="14" name="obj-icon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3800" y="4711700"/>
            <a:ext cx="482600" cy="482600"/>
          </a:xfrm>
          <a:prstGeom prst="rect">
            <a:avLst/>
          </a:prstGeom>
        </p:spPr>
      </p:pic>
      <p:sp>
        <p:nvSpPr>
          <p:cNvPr id="15" name="obj-head-3"/>
          <p:cNvSpPr/>
          <p:nvPr/>
        </p:nvSpPr>
        <p:spPr>
          <a:xfrm>
            <a:off x="1905000" y="4610100"/>
            <a:ext cx="546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Visualize security intelligence</a:t>
            </a:r>
            <a:endParaRPr lang="en-US" sz="2000" dirty="0"/>
          </a:p>
        </p:txBody>
      </p:sp>
      <p:sp>
        <p:nvSpPr>
          <p:cNvPr id="16" name="obj-desc-3"/>
          <p:cNvSpPr/>
          <p:nvPr/>
        </p:nvSpPr>
        <p:spPr>
          <a:xfrm>
            <a:off x="1905000" y="5105400"/>
            <a:ext cx="5461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altLang="en-US" sz="1600" dirty="0">
                <a:solidFill>
                  <a:srgbClr val="C9D7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 complex incident data into dashboards, charts, timelines, maps, and comparisons for rapid interpretation.</a:t>
            </a:r>
            <a:endParaRPr lang="en-US" sz="1600" dirty="0"/>
          </a:p>
        </p:txBody>
      </p:sp>
      <p:sp>
        <p:nvSpPr>
          <p:cNvPr id="17" name="obj-card-4"/>
          <p:cNvSpPr/>
          <p:nvPr/>
        </p:nvSpPr>
        <p:spPr>
          <a:xfrm>
            <a:off x="8255000" y="4381500"/>
            <a:ext cx="7112000" cy="1841500"/>
          </a:xfrm>
          <a:prstGeom prst="roundRect">
            <a:avLst>
              <a:gd name="adj" fmla="val 6897"/>
            </a:avLst>
          </a:prstGeom>
          <a:solidFill>
            <a:srgbClr val="0F2C45"/>
          </a:solidFill>
          <a:ln w="12700">
            <a:solidFill>
              <a:srgbClr val="1C5068"/>
            </a:solidFill>
            <a:prstDash val="solid"/>
          </a:ln>
        </p:spPr>
      </p:sp>
      <p:pic>
        <p:nvPicPr>
          <p:cNvPr id="18" name="obj-icon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9800" y="4711700"/>
            <a:ext cx="482600" cy="482600"/>
          </a:xfrm>
          <a:prstGeom prst="rect">
            <a:avLst/>
          </a:prstGeom>
        </p:spPr>
      </p:pic>
      <p:sp>
        <p:nvSpPr>
          <p:cNvPr id="19" name="obj-head-4"/>
          <p:cNvSpPr/>
          <p:nvPr/>
        </p:nvSpPr>
        <p:spPr>
          <a:xfrm>
            <a:off x="9271000" y="4610100"/>
            <a:ext cx="546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faster incident response</a:t>
            </a:r>
            <a:endParaRPr lang="en-US" sz="2000" dirty="0"/>
          </a:p>
        </p:txBody>
      </p:sp>
      <p:sp>
        <p:nvSpPr>
          <p:cNvPr id="20" name="obj-desc-4"/>
          <p:cNvSpPr/>
          <p:nvPr/>
        </p:nvSpPr>
        <p:spPr>
          <a:xfrm>
            <a:off x="9271000" y="5105400"/>
            <a:ext cx="5461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altLang="en-US" sz="1600" dirty="0">
                <a:solidFill>
                  <a:srgbClr val="C9D7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Surface high-risk patterns and actionable insights so analysts can prioritize investigation and mitigation.</a:t>
            </a:r>
            <a:endParaRPr lang="en-US" sz="1600" dirty="0"/>
          </a:p>
        </p:txBody>
      </p:sp>
      <p:sp>
        <p:nvSpPr>
          <p:cNvPr id="21" name="obj-stats"/>
          <p:cNvSpPr/>
          <p:nvPr/>
        </p:nvSpPr>
        <p:spPr>
          <a:xfrm>
            <a:off x="889000" y="7429500"/>
            <a:ext cx="14478000" cy="736600"/>
          </a:xfrm>
          <a:prstGeom prst="roundRect">
            <a:avLst>
              <a:gd name="adj" fmla="val 13793"/>
            </a:avLst>
          </a:prstGeom>
          <a:solidFill>
            <a:srgbClr val="0F2C45"/>
          </a:solidFill>
          <a:ln w="12700">
            <a:solidFill>
              <a:srgbClr val="1C5068"/>
            </a:solidFill>
            <a:prstDash val="solid"/>
          </a:ln>
        </p:spPr>
      </p:sp>
      <p:sp>
        <p:nvSpPr>
          <p:cNvPr id="22" name="obj-stats-text"/>
          <p:cNvSpPr/>
          <p:nvPr/>
        </p:nvSpPr>
        <p:spPr>
          <a:xfrm>
            <a:off x="1168400" y="7429500"/>
            <a:ext cx="139192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altLang="en-US" sz="19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10,229</a:t>
            </a:r>
            <a:r>
              <a:rPr lang="en-US" alt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records   |   </a:t>
            </a:r>
            <a:r>
              <a:rPr lang="en-US" altLang="en-US" sz="19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r>
              <a:rPr lang="en-US" alt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columns   |   </a:t>
            </a:r>
            <a:r>
              <a:rPr lang="en-US" altLang="en-US" sz="19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141</a:t>
            </a:r>
            <a:r>
              <a:rPr lang="en-US" alt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countries represented in the analyzed dashboards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sc-title-rule"/>
          <p:cNvSpPr/>
          <p:nvPr/>
        </p:nvSpPr>
        <p:spPr>
          <a:xfrm>
            <a:off x="863600" y="990600"/>
            <a:ext cx="63500" cy="431800"/>
          </a:xfrm>
          <a:prstGeom prst="line">
            <a:avLst/>
          </a:prstGeom>
          <a:ln w="63500">
            <a:solidFill>
              <a:srgbClr val="00E5FF"/>
            </a:solidFill>
            <a:prstDash val="solid"/>
          </a:ln>
        </p:spPr>
      </p:sp>
      <p:sp>
        <p:nvSpPr>
          <p:cNvPr id="3" name="desc-title"/>
          <p:cNvSpPr/>
          <p:nvPr/>
        </p:nvSpPr>
        <p:spPr>
          <a:xfrm>
            <a:off x="1117600" y="939800"/>
            <a:ext cx="9144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Description</a:t>
            </a:r>
            <a:endParaRPr lang="en-US" sz="3000" dirty="0"/>
          </a:p>
        </p:txBody>
      </p:sp>
      <p:sp>
        <p:nvSpPr>
          <p:cNvPr id="4" name="desc-intro"/>
          <p:cNvSpPr/>
          <p:nvPr/>
        </p:nvSpPr>
        <p:spPr>
          <a:xfrm>
            <a:off x="1117600" y="1498600"/>
            <a:ext cx="1320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altLang="en-US" sz="1700" dirty="0">
                <a:solidFill>
                  <a:srgbClr val="C9D7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repeatable framework that connects cybersecurity analytics, data preparation, machine-learning readiness, and dashboard design.</a:t>
            </a:r>
            <a:endParaRPr lang="en-US" sz="1700" dirty="0"/>
          </a:p>
        </p:txBody>
      </p:sp>
      <p:sp>
        <p:nvSpPr>
          <p:cNvPr id="5" name="desc-module-1"/>
          <p:cNvSpPr/>
          <p:nvPr/>
        </p:nvSpPr>
        <p:spPr>
          <a:xfrm>
            <a:off x="889000" y="2260600"/>
            <a:ext cx="7874000" cy="787400"/>
          </a:xfrm>
          <a:prstGeom prst="roundRect">
            <a:avLst>
              <a:gd name="adj" fmla="val 12903"/>
            </a:avLst>
          </a:prstGeom>
          <a:solidFill>
            <a:srgbClr val="0F2C45"/>
          </a:solidFill>
          <a:ln/>
        </p:spPr>
      </p:sp>
      <p:sp>
        <p:nvSpPr>
          <p:cNvPr id="6" name="desc-m1"/>
          <p:cNvSpPr/>
          <p:nvPr/>
        </p:nvSpPr>
        <p:spPr>
          <a:xfrm>
            <a:off x="1117600" y="2362200"/>
            <a:ext cx="74295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en-US" sz="15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1 — Problem Understanding:</a:t>
            </a:r>
            <a:r>
              <a:rPr lang="en-US" alt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Define the threat-analysis questions and decisions the dashboards must support.</a:t>
            </a:r>
            <a:endParaRPr lang="en-US" sz="1500" dirty="0"/>
          </a:p>
        </p:txBody>
      </p:sp>
      <p:sp>
        <p:nvSpPr>
          <p:cNvPr id="7" name="desc-module-2"/>
          <p:cNvSpPr/>
          <p:nvPr/>
        </p:nvSpPr>
        <p:spPr>
          <a:xfrm>
            <a:off x="889000" y="3175000"/>
            <a:ext cx="7874000" cy="787400"/>
          </a:xfrm>
          <a:prstGeom prst="roundRect">
            <a:avLst>
              <a:gd name="adj" fmla="val 12903"/>
            </a:avLst>
          </a:prstGeom>
          <a:solidFill>
            <a:srgbClr val="0F2C45"/>
          </a:solidFill>
          <a:ln/>
        </p:spPr>
      </p:sp>
      <p:sp>
        <p:nvSpPr>
          <p:cNvPr id="8" name="desc-m2"/>
          <p:cNvSpPr/>
          <p:nvPr/>
        </p:nvSpPr>
        <p:spPr>
          <a:xfrm>
            <a:off x="1117600" y="3276600"/>
            <a:ext cx="74295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en-US" sz="15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2 — Data Collection:</a:t>
            </a:r>
            <a:r>
              <a:rPr lang="en-US" alt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Use the VERIS Community Database dataset sourced through Kaggle.</a:t>
            </a:r>
            <a:endParaRPr lang="en-US" sz="1500" dirty="0"/>
          </a:p>
        </p:txBody>
      </p:sp>
      <p:sp>
        <p:nvSpPr>
          <p:cNvPr id="9" name="desc-module-3"/>
          <p:cNvSpPr/>
          <p:nvPr/>
        </p:nvSpPr>
        <p:spPr>
          <a:xfrm>
            <a:off x="889000" y="4089400"/>
            <a:ext cx="7874000" cy="787400"/>
          </a:xfrm>
          <a:prstGeom prst="roundRect">
            <a:avLst>
              <a:gd name="adj" fmla="val 12903"/>
            </a:avLst>
          </a:prstGeom>
          <a:solidFill>
            <a:srgbClr val="0F2C45"/>
          </a:solidFill>
          <a:ln/>
        </p:spPr>
      </p:sp>
      <p:sp>
        <p:nvSpPr>
          <p:cNvPr id="10" name="desc-m3"/>
          <p:cNvSpPr/>
          <p:nvPr/>
        </p:nvSpPr>
        <p:spPr>
          <a:xfrm>
            <a:off x="1117600" y="4191000"/>
            <a:ext cx="74295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en-US" sz="15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3 — Data Connection:</a:t>
            </a:r>
            <a:r>
              <a:rPr lang="en-US" alt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Bring incident records into the workflow and establish the source baseline.</a:t>
            </a:r>
            <a:endParaRPr lang="en-US" sz="1500" dirty="0"/>
          </a:p>
        </p:txBody>
      </p:sp>
      <p:sp>
        <p:nvSpPr>
          <p:cNvPr id="11" name="desc-module-4"/>
          <p:cNvSpPr/>
          <p:nvPr/>
        </p:nvSpPr>
        <p:spPr>
          <a:xfrm>
            <a:off x="889000" y="5003800"/>
            <a:ext cx="7874000" cy="787400"/>
          </a:xfrm>
          <a:prstGeom prst="roundRect">
            <a:avLst>
              <a:gd name="adj" fmla="val 12903"/>
            </a:avLst>
          </a:prstGeom>
          <a:solidFill>
            <a:srgbClr val="0F2C45"/>
          </a:solidFill>
          <a:ln/>
        </p:spPr>
      </p:sp>
      <p:sp>
        <p:nvSpPr>
          <p:cNvPr id="12" name="desc-m4"/>
          <p:cNvSpPr/>
          <p:nvPr/>
        </p:nvSpPr>
        <p:spPr>
          <a:xfrm>
            <a:off x="1117600" y="5105400"/>
            <a:ext cx="74295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en-US" sz="15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4 — Data Preprocessing:</a:t>
            </a:r>
            <a:r>
              <a:rPr lang="en-US" alt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Clean nulls, harmonize categories, cast types, and create conditional fields.</a:t>
            </a:r>
            <a:endParaRPr lang="en-US" sz="1500" dirty="0"/>
          </a:p>
        </p:txBody>
      </p:sp>
      <p:sp>
        <p:nvSpPr>
          <p:cNvPr id="13" name="desc-module-5"/>
          <p:cNvSpPr/>
          <p:nvPr/>
        </p:nvSpPr>
        <p:spPr>
          <a:xfrm>
            <a:off x="889000" y="5918200"/>
            <a:ext cx="7874000" cy="787400"/>
          </a:xfrm>
          <a:prstGeom prst="roundRect">
            <a:avLst>
              <a:gd name="adj" fmla="val 12903"/>
            </a:avLst>
          </a:prstGeom>
          <a:solidFill>
            <a:srgbClr val="0F2C45"/>
          </a:solidFill>
          <a:ln/>
        </p:spPr>
      </p:sp>
      <p:sp>
        <p:nvSpPr>
          <p:cNvPr id="14" name="desc-m5"/>
          <p:cNvSpPr/>
          <p:nvPr/>
        </p:nvSpPr>
        <p:spPr>
          <a:xfrm>
            <a:off x="1117600" y="6019800"/>
            <a:ext cx="74295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en-US" sz="15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5 — Data Modeling:</a:t>
            </a:r>
            <a:r>
              <a:rPr lang="en-US" alt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Organize threat vectors across actor, action, asset, motive, country, and time.</a:t>
            </a:r>
            <a:endParaRPr lang="en-US" sz="1500" dirty="0"/>
          </a:p>
        </p:txBody>
      </p:sp>
      <p:sp>
        <p:nvSpPr>
          <p:cNvPr id="15" name="desc-module-6"/>
          <p:cNvSpPr/>
          <p:nvPr/>
        </p:nvSpPr>
        <p:spPr>
          <a:xfrm>
            <a:off x="889000" y="6832600"/>
            <a:ext cx="7874000" cy="787400"/>
          </a:xfrm>
          <a:prstGeom prst="roundRect">
            <a:avLst>
              <a:gd name="adj" fmla="val 12903"/>
            </a:avLst>
          </a:prstGeom>
          <a:solidFill>
            <a:srgbClr val="0F2C45"/>
          </a:solidFill>
          <a:ln/>
        </p:spPr>
      </p:sp>
      <p:sp>
        <p:nvSpPr>
          <p:cNvPr id="16" name="desc-m6"/>
          <p:cNvSpPr/>
          <p:nvPr/>
        </p:nvSpPr>
        <p:spPr>
          <a:xfrm>
            <a:off x="1117600" y="6934200"/>
            <a:ext cx="74295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en-US" sz="15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6 — Data Visualization:</a:t>
            </a:r>
            <a:r>
              <a:rPr lang="en-US" alt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Publish dashboards for incident analytics, threat patterns, vulnerability, and severity.</a:t>
            </a:r>
            <a:endParaRPr lang="en-US" sz="1500" dirty="0"/>
          </a:p>
        </p:txBody>
      </p:sp>
      <p:sp>
        <p:nvSpPr>
          <p:cNvPr id="17" name="desc-red-tab"/>
          <p:cNvSpPr/>
          <p:nvPr/>
        </p:nvSpPr>
        <p:spPr>
          <a:xfrm>
            <a:off x="14757400" y="0"/>
            <a:ext cx="660400" cy="9144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8" name="desc-panel"/>
          <p:cNvSpPr/>
          <p:nvPr/>
        </p:nvSpPr>
        <p:spPr>
          <a:xfrm>
            <a:off x="9588500" y="2235200"/>
            <a:ext cx="5588000" cy="5943600"/>
          </a:xfrm>
          <a:prstGeom prst="rect">
            <a:avLst/>
          </a:prstGeom>
          <a:solidFill>
            <a:srgbClr val="F8F9FA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9" name="desc-side-heading"/>
          <p:cNvSpPr/>
          <p:nvPr/>
        </p:nvSpPr>
        <p:spPr>
          <a:xfrm>
            <a:off x="9081770" y="1879600"/>
            <a:ext cx="266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altLang="en-US" sz="2000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</a:t>
            </a:r>
            <a:endParaRPr lang="en-US" sz="2000" dirty="0"/>
          </a:p>
        </p:txBody>
      </p:sp>
      <p:sp>
        <p:nvSpPr>
          <p:cNvPr id="20" name="desc-side-heading-rule"/>
          <p:cNvSpPr/>
          <p:nvPr/>
        </p:nvSpPr>
        <p:spPr>
          <a:xfrm>
            <a:off x="11874500" y="2032000"/>
            <a:ext cx="2667000" cy="9144"/>
          </a:xfrm>
          <a:prstGeom prst="line">
            <a:avLst/>
          </a:prstGeom>
          <a:ln w="25400">
            <a:solidFill>
              <a:srgbClr val="00E5FF"/>
            </a:solidFill>
            <a:prstDash val="solid"/>
          </a:ln>
        </p:spPr>
      </p:sp>
      <p:pic>
        <p:nvPicPr>
          <p:cNvPr id="21" name="workflow-original" descr="preencoded.png"/>
          <p:cNvPicPr>
            <a:picLocks noChangeAspect="1"/>
          </p:cNvPicPr>
          <p:nvPr/>
        </p:nvPicPr>
        <p:blipFill>
          <a:blip r:embed="rId3"/>
          <a:srcRect l="-2176" r="-2176"/>
          <a:stretch/>
        </p:blipFill>
        <p:spPr>
          <a:xfrm>
            <a:off x="10020300" y="2413000"/>
            <a:ext cx="4724400" cy="5791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z-header"/>
          <p:cNvSpPr/>
          <p:nvPr/>
        </p:nvSpPr>
        <p:spPr>
          <a:xfrm>
            <a:off x="0" y="0"/>
            <a:ext cx="16256000" cy="13462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viz-red-tab"/>
          <p:cNvSpPr/>
          <p:nvPr/>
        </p:nvSpPr>
        <p:spPr>
          <a:xfrm>
            <a:off x="14757400" y="0"/>
            <a:ext cx="660400" cy="9144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viz-title-rule"/>
          <p:cNvSpPr/>
          <p:nvPr/>
        </p:nvSpPr>
        <p:spPr>
          <a:xfrm>
            <a:off x="863600" y="457200"/>
            <a:ext cx="63500" cy="431800"/>
          </a:xfrm>
          <a:prstGeom prst="line">
            <a:avLst/>
          </a:prstGeom>
          <a:ln w="63500">
            <a:solidFill>
              <a:srgbClr val="00E5FF"/>
            </a:solidFill>
            <a:prstDash val="solid"/>
          </a:ln>
        </p:spPr>
      </p:sp>
      <p:sp>
        <p:nvSpPr>
          <p:cNvPr id="5" name="viz-title"/>
          <p:cNvSpPr/>
          <p:nvPr/>
        </p:nvSpPr>
        <p:spPr>
          <a:xfrm>
            <a:off x="1117600" y="381000"/>
            <a:ext cx="11176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0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Visualizations / Components Used</a:t>
            </a:r>
            <a:endParaRPr lang="en-US" sz="3000" dirty="0"/>
          </a:p>
        </p:txBody>
      </p:sp>
      <p:sp>
        <p:nvSpPr>
          <p:cNvPr id="6" name="viz-subtitle"/>
          <p:cNvSpPr/>
          <p:nvPr/>
        </p:nvSpPr>
        <p:spPr>
          <a:xfrm>
            <a:off x="1117600" y="939800"/>
            <a:ext cx="1168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4B60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Seven views used to move from incident volume to actionable threat insight.</a:t>
            </a:r>
            <a:endParaRPr lang="en-US" sz="1400" dirty="0"/>
          </a:p>
        </p:txBody>
      </p:sp>
      <p:sp>
        <p:nvSpPr>
          <p:cNvPr id="7" name="viz-col-head"/>
          <p:cNvSpPr/>
          <p:nvPr/>
        </p:nvSpPr>
        <p:spPr>
          <a:xfrm>
            <a:off x="889000" y="1727200"/>
            <a:ext cx="14478000" cy="533400"/>
          </a:xfrm>
          <a:prstGeom prst="roundRect">
            <a:avLst>
              <a:gd name="adj" fmla="val 14286"/>
            </a:avLst>
          </a:prstGeom>
          <a:solidFill>
            <a:srgbClr val="0F6176"/>
          </a:solidFill>
          <a:ln/>
        </p:spPr>
      </p:sp>
      <p:sp>
        <p:nvSpPr>
          <p:cNvPr id="8" name="viz-col-1"/>
          <p:cNvSpPr/>
          <p:nvPr/>
        </p:nvSpPr>
        <p:spPr>
          <a:xfrm>
            <a:off x="1168400" y="1727200"/>
            <a:ext cx="2794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alt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Type</a:t>
            </a:r>
            <a:endParaRPr lang="en-US" sz="1600" dirty="0"/>
          </a:p>
        </p:txBody>
      </p:sp>
      <p:sp>
        <p:nvSpPr>
          <p:cNvPr id="9" name="viz-col-2"/>
          <p:cNvSpPr/>
          <p:nvPr/>
        </p:nvSpPr>
        <p:spPr>
          <a:xfrm>
            <a:off x="4318000" y="1727200"/>
            <a:ext cx="8763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alt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 / What It Shows</a:t>
            </a:r>
            <a:endParaRPr lang="en-US" sz="1600" dirty="0"/>
          </a:p>
        </p:txBody>
      </p:sp>
      <p:sp>
        <p:nvSpPr>
          <p:cNvPr id="10" name="viz-col-3"/>
          <p:cNvSpPr/>
          <p:nvPr/>
        </p:nvSpPr>
        <p:spPr>
          <a:xfrm>
            <a:off x="13716000" y="1727200"/>
            <a:ext cx="127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alt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Icon</a:t>
            </a:r>
            <a:endParaRPr lang="en-US" sz="1600" dirty="0"/>
          </a:p>
        </p:txBody>
      </p:sp>
      <p:sp>
        <p:nvSpPr>
          <p:cNvPr id="11" name="viz-row-1"/>
          <p:cNvSpPr/>
          <p:nvPr/>
        </p:nvSpPr>
        <p:spPr>
          <a:xfrm>
            <a:off x="889000" y="2387600"/>
            <a:ext cx="14478000" cy="736600"/>
          </a:xfrm>
          <a:prstGeom prst="roundRect">
            <a:avLst>
              <a:gd name="adj" fmla="val 8621"/>
            </a:avLst>
          </a:prstGeom>
          <a:solidFill>
            <a:srgbClr val="0F2C45"/>
          </a:solidFill>
          <a:ln/>
        </p:spPr>
      </p:sp>
      <p:pic>
        <p:nvPicPr>
          <p:cNvPr id="12" name="viz-icon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000" y="2514600"/>
            <a:ext cx="431800" cy="431800"/>
          </a:xfrm>
          <a:prstGeom prst="rect">
            <a:avLst/>
          </a:prstGeom>
        </p:spPr>
      </p:pic>
      <p:sp>
        <p:nvSpPr>
          <p:cNvPr id="13" name="viz-type-1"/>
          <p:cNvSpPr/>
          <p:nvPr/>
        </p:nvSpPr>
        <p:spPr>
          <a:xfrm>
            <a:off x="1168400" y="2387600"/>
            <a:ext cx="29210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alt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Incident analytics dashboard</a:t>
            </a:r>
            <a:endParaRPr lang="en-US" sz="1600" dirty="0"/>
          </a:p>
        </p:txBody>
      </p:sp>
      <p:sp>
        <p:nvSpPr>
          <p:cNvPr id="14" name="viz-purpose-1"/>
          <p:cNvSpPr/>
          <p:nvPr/>
        </p:nvSpPr>
        <p:spPr>
          <a:xfrm>
            <a:off x="4318000" y="2387600"/>
            <a:ext cx="8763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1500" dirty="0">
                <a:solidFill>
                  <a:srgbClr val="C9D7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Overall volume, attack types, countries, and major incident indicators.</a:t>
            </a:r>
            <a:endParaRPr lang="en-US" sz="1500" dirty="0"/>
          </a:p>
        </p:txBody>
      </p:sp>
      <p:sp>
        <p:nvSpPr>
          <p:cNvPr id="15" name="viz-row-2"/>
          <p:cNvSpPr/>
          <p:nvPr/>
        </p:nvSpPr>
        <p:spPr>
          <a:xfrm>
            <a:off x="889000" y="3200400"/>
            <a:ext cx="14478000" cy="736600"/>
          </a:xfrm>
          <a:prstGeom prst="roundRect">
            <a:avLst>
              <a:gd name="adj" fmla="val 8621"/>
            </a:avLst>
          </a:prstGeom>
          <a:solidFill>
            <a:srgbClr val="10334B"/>
          </a:solidFill>
          <a:ln/>
        </p:spPr>
      </p:sp>
      <p:pic>
        <p:nvPicPr>
          <p:cNvPr id="16" name="viz-icon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7000" y="3327400"/>
            <a:ext cx="431800" cy="431800"/>
          </a:xfrm>
          <a:prstGeom prst="rect">
            <a:avLst/>
          </a:prstGeom>
        </p:spPr>
      </p:pic>
      <p:sp>
        <p:nvSpPr>
          <p:cNvPr id="17" name="viz-type-2"/>
          <p:cNvSpPr/>
          <p:nvPr/>
        </p:nvSpPr>
        <p:spPr>
          <a:xfrm>
            <a:off x="1168400" y="3200400"/>
            <a:ext cx="29210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alt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Threat analysis view</a:t>
            </a:r>
            <a:endParaRPr lang="en-US" sz="1600" dirty="0"/>
          </a:p>
        </p:txBody>
      </p:sp>
      <p:sp>
        <p:nvSpPr>
          <p:cNvPr id="18" name="viz-purpose-2"/>
          <p:cNvSpPr/>
          <p:nvPr/>
        </p:nvSpPr>
        <p:spPr>
          <a:xfrm>
            <a:off x="4318000" y="3200400"/>
            <a:ext cx="8763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1500" dirty="0">
                <a:solidFill>
                  <a:srgbClr val="C9D7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Attack trends, severity distribution, and filterable threat categories.</a:t>
            </a:r>
            <a:endParaRPr lang="en-US" sz="1500" dirty="0"/>
          </a:p>
        </p:txBody>
      </p:sp>
      <p:sp>
        <p:nvSpPr>
          <p:cNvPr id="19" name="viz-row-3"/>
          <p:cNvSpPr/>
          <p:nvPr/>
        </p:nvSpPr>
        <p:spPr>
          <a:xfrm>
            <a:off x="889000" y="4013200"/>
            <a:ext cx="14478000" cy="736600"/>
          </a:xfrm>
          <a:prstGeom prst="roundRect">
            <a:avLst>
              <a:gd name="adj" fmla="val 8621"/>
            </a:avLst>
          </a:prstGeom>
          <a:solidFill>
            <a:srgbClr val="0F2C45"/>
          </a:solidFill>
          <a:ln/>
        </p:spPr>
      </p:sp>
      <p:pic>
        <p:nvPicPr>
          <p:cNvPr id="20" name="viz-icon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97000" y="4140200"/>
            <a:ext cx="431800" cy="431800"/>
          </a:xfrm>
          <a:prstGeom prst="rect">
            <a:avLst/>
          </a:prstGeom>
        </p:spPr>
      </p:pic>
      <p:sp>
        <p:nvSpPr>
          <p:cNvPr id="21" name="viz-type-3"/>
          <p:cNvSpPr/>
          <p:nvPr/>
        </p:nvSpPr>
        <p:spPr>
          <a:xfrm>
            <a:off x="1168400" y="4013200"/>
            <a:ext cx="29210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alt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Attacker and actor intelligence</a:t>
            </a:r>
            <a:endParaRPr lang="en-US" sz="1600" dirty="0"/>
          </a:p>
        </p:txBody>
      </p:sp>
      <p:sp>
        <p:nvSpPr>
          <p:cNvPr id="22" name="viz-purpose-3"/>
          <p:cNvSpPr/>
          <p:nvPr/>
        </p:nvSpPr>
        <p:spPr>
          <a:xfrm>
            <a:off x="4318000" y="4013200"/>
            <a:ext cx="8763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1500" dirty="0">
                <a:solidFill>
                  <a:srgbClr val="C9D7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Actor types, geographic distribution, and responsible profiles.</a:t>
            </a:r>
            <a:endParaRPr lang="en-US" sz="1500" dirty="0"/>
          </a:p>
        </p:txBody>
      </p:sp>
      <p:sp>
        <p:nvSpPr>
          <p:cNvPr id="23" name="viz-row-4"/>
          <p:cNvSpPr/>
          <p:nvPr/>
        </p:nvSpPr>
        <p:spPr>
          <a:xfrm>
            <a:off x="889000" y="4826000"/>
            <a:ext cx="14478000" cy="736600"/>
          </a:xfrm>
          <a:prstGeom prst="roundRect">
            <a:avLst>
              <a:gd name="adj" fmla="val 8621"/>
            </a:avLst>
          </a:prstGeom>
          <a:solidFill>
            <a:srgbClr val="10334B"/>
          </a:solidFill>
          <a:ln/>
        </p:spPr>
      </p:sp>
      <p:pic>
        <p:nvPicPr>
          <p:cNvPr id="24" name="viz-icon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97000" y="4953000"/>
            <a:ext cx="431800" cy="431800"/>
          </a:xfrm>
          <a:prstGeom prst="rect">
            <a:avLst/>
          </a:prstGeom>
        </p:spPr>
      </p:pic>
      <p:sp>
        <p:nvSpPr>
          <p:cNvPr id="25" name="viz-type-4"/>
          <p:cNvSpPr/>
          <p:nvPr/>
        </p:nvSpPr>
        <p:spPr>
          <a:xfrm>
            <a:off x="1168400" y="4826000"/>
            <a:ext cx="29210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alt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and asset vulnerability</a:t>
            </a:r>
            <a:endParaRPr lang="en-US" sz="1600" dirty="0"/>
          </a:p>
        </p:txBody>
      </p:sp>
      <p:sp>
        <p:nvSpPr>
          <p:cNvPr id="26" name="viz-purpose-4"/>
          <p:cNvSpPr/>
          <p:nvPr/>
        </p:nvSpPr>
        <p:spPr>
          <a:xfrm>
            <a:off x="4318000" y="4826000"/>
            <a:ext cx="8763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1500" dirty="0">
                <a:solidFill>
                  <a:srgbClr val="C9D7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Targeted assets, attack details, and vulnerable surfaces.</a:t>
            </a:r>
            <a:endParaRPr lang="en-US" sz="1500" dirty="0"/>
          </a:p>
        </p:txBody>
      </p:sp>
      <p:sp>
        <p:nvSpPr>
          <p:cNvPr id="27" name="viz-row-5"/>
          <p:cNvSpPr/>
          <p:nvPr/>
        </p:nvSpPr>
        <p:spPr>
          <a:xfrm>
            <a:off x="889000" y="5638800"/>
            <a:ext cx="14478000" cy="736600"/>
          </a:xfrm>
          <a:prstGeom prst="roundRect">
            <a:avLst>
              <a:gd name="adj" fmla="val 8621"/>
            </a:avLst>
          </a:prstGeom>
          <a:solidFill>
            <a:srgbClr val="0F2C45"/>
          </a:solidFill>
          <a:ln/>
        </p:spPr>
      </p:sp>
      <p:pic>
        <p:nvPicPr>
          <p:cNvPr id="28" name="viz-icon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097000" y="5765800"/>
            <a:ext cx="431800" cy="431800"/>
          </a:xfrm>
          <a:prstGeom prst="rect">
            <a:avLst/>
          </a:prstGeom>
        </p:spPr>
      </p:pic>
      <p:sp>
        <p:nvSpPr>
          <p:cNvPr id="29" name="viz-type-5"/>
          <p:cNvSpPr/>
          <p:nvPr/>
        </p:nvSpPr>
        <p:spPr>
          <a:xfrm>
            <a:off x="1168400" y="5638800"/>
            <a:ext cx="29210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alt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and incident severity</a:t>
            </a:r>
            <a:endParaRPr lang="en-US" sz="1600" dirty="0"/>
          </a:p>
        </p:txBody>
      </p:sp>
      <p:sp>
        <p:nvSpPr>
          <p:cNvPr id="30" name="viz-purpose-5"/>
          <p:cNvSpPr/>
          <p:nvPr/>
        </p:nvSpPr>
        <p:spPr>
          <a:xfrm>
            <a:off x="4318000" y="5638800"/>
            <a:ext cx="8763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1500" dirty="0">
                <a:solidFill>
                  <a:srgbClr val="C9D7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Severity patterns across attacks, assets, environments, and time.</a:t>
            </a:r>
            <a:endParaRPr lang="en-US" sz="1500" dirty="0"/>
          </a:p>
        </p:txBody>
      </p:sp>
      <p:sp>
        <p:nvSpPr>
          <p:cNvPr id="31" name="viz-row-6"/>
          <p:cNvSpPr/>
          <p:nvPr/>
        </p:nvSpPr>
        <p:spPr>
          <a:xfrm>
            <a:off x="889000" y="6451600"/>
            <a:ext cx="14478000" cy="736600"/>
          </a:xfrm>
          <a:prstGeom prst="roundRect">
            <a:avLst>
              <a:gd name="adj" fmla="val 8621"/>
            </a:avLst>
          </a:prstGeom>
          <a:solidFill>
            <a:srgbClr val="10334B"/>
          </a:solidFill>
          <a:ln/>
        </p:spPr>
      </p:sp>
      <p:pic>
        <p:nvPicPr>
          <p:cNvPr id="32" name="viz-icon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097000" y="6578600"/>
            <a:ext cx="431800" cy="431800"/>
          </a:xfrm>
          <a:prstGeom prst="rect">
            <a:avLst/>
          </a:prstGeom>
        </p:spPr>
      </p:pic>
      <p:sp>
        <p:nvSpPr>
          <p:cNvPr id="33" name="viz-type-6"/>
          <p:cNvSpPr/>
          <p:nvPr/>
        </p:nvSpPr>
        <p:spPr>
          <a:xfrm>
            <a:off x="1168400" y="6451600"/>
            <a:ext cx="29210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alt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Threat pattern deep dive</a:t>
            </a:r>
            <a:endParaRPr lang="en-US" sz="1600" dirty="0"/>
          </a:p>
        </p:txBody>
      </p:sp>
      <p:sp>
        <p:nvSpPr>
          <p:cNvPr id="34" name="viz-purpose-6"/>
          <p:cNvSpPr/>
          <p:nvPr/>
        </p:nvSpPr>
        <p:spPr>
          <a:xfrm>
            <a:off x="4318000" y="6451600"/>
            <a:ext cx="8763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1500" dirty="0">
                <a:solidFill>
                  <a:srgbClr val="C9D7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Motive, asset, application, and peak-period relationships.</a:t>
            </a:r>
            <a:endParaRPr lang="en-US" sz="1500" dirty="0"/>
          </a:p>
        </p:txBody>
      </p:sp>
      <p:sp>
        <p:nvSpPr>
          <p:cNvPr id="35" name="viz-row-7"/>
          <p:cNvSpPr/>
          <p:nvPr/>
        </p:nvSpPr>
        <p:spPr>
          <a:xfrm>
            <a:off x="889000" y="7264400"/>
            <a:ext cx="14478000" cy="736600"/>
          </a:xfrm>
          <a:prstGeom prst="roundRect">
            <a:avLst>
              <a:gd name="adj" fmla="val 8621"/>
            </a:avLst>
          </a:prstGeom>
          <a:solidFill>
            <a:srgbClr val="0F2C45"/>
          </a:solidFill>
          <a:ln/>
        </p:spPr>
      </p:sp>
      <p:pic>
        <p:nvPicPr>
          <p:cNvPr id="36" name="viz-icon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097000" y="7391400"/>
            <a:ext cx="431800" cy="431800"/>
          </a:xfrm>
          <a:prstGeom prst="rect">
            <a:avLst/>
          </a:prstGeom>
        </p:spPr>
      </p:pic>
      <p:sp>
        <p:nvSpPr>
          <p:cNvPr id="37" name="viz-type-7"/>
          <p:cNvSpPr/>
          <p:nvPr/>
        </p:nvSpPr>
        <p:spPr>
          <a:xfrm>
            <a:off x="1168400" y="7264400"/>
            <a:ext cx="29210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alt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Attack pattern analysis</a:t>
            </a:r>
            <a:endParaRPr lang="en-US" sz="1600" dirty="0"/>
          </a:p>
        </p:txBody>
      </p:sp>
      <p:sp>
        <p:nvSpPr>
          <p:cNvPr id="38" name="viz-purpose-7"/>
          <p:cNvSpPr/>
          <p:nvPr/>
        </p:nvSpPr>
        <p:spPr>
          <a:xfrm>
            <a:off x="4318000" y="7264400"/>
            <a:ext cx="8763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1500" dirty="0">
                <a:solidFill>
                  <a:srgbClr val="C9D7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Long-term trend changes, dominant techniques, and external-asset exposure.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ile-title-rule"/>
          <p:cNvSpPr/>
          <p:nvPr/>
        </p:nvSpPr>
        <p:spPr>
          <a:xfrm>
            <a:off x="863600" y="990600"/>
            <a:ext cx="63500" cy="431800"/>
          </a:xfrm>
          <a:prstGeom prst="line">
            <a:avLst/>
          </a:prstGeom>
          <a:ln w="63500">
            <a:solidFill>
              <a:srgbClr val="00E5FF"/>
            </a:solidFill>
            <a:prstDash val="solid"/>
          </a:ln>
        </p:spPr>
      </p:sp>
      <p:sp>
        <p:nvSpPr>
          <p:cNvPr id="3" name="mile-title"/>
          <p:cNvSpPr/>
          <p:nvPr/>
        </p:nvSpPr>
        <p:spPr>
          <a:xfrm>
            <a:off x="1117600" y="939800"/>
            <a:ext cx="9652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Execution Milestones</a:t>
            </a:r>
            <a:endParaRPr lang="en-US" sz="3000" dirty="0"/>
          </a:p>
        </p:txBody>
      </p:sp>
      <p:sp>
        <p:nvSpPr>
          <p:cNvPr id="4" name="mile-intro"/>
          <p:cNvSpPr/>
          <p:nvPr/>
        </p:nvSpPr>
        <p:spPr>
          <a:xfrm>
            <a:off x="1117600" y="1498600"/>
            <a:ext cx="1346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700" dirty="0">
                <a:solidFill>
                  <a:srgbClr val="C9D7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project was executed through four structured milestones to ensure systematic progress, traceability, and analytical accuracy.</a:t>
            </a:r>
            <a:endParaRPr lang="en-US" sz="1700" dirty="0"/>
          </a:p>
        </p:txBody>
      </p:sp>
      <p:sp>
        <p:nvSpPr>
          <p:cNvPr id="5" name="mile-source"/>
          <p:cNvSpPr/>
          <p:nvPr/>
        </p:nvSpPr>
        <p:spPr>
          <a:xfrm>
            <a:off x="1117600" y="1968500"/>
            <a:ext cx="14020800" cy="889000"/>
          </a:xfrm>
          <a:prstGeom prst="roundRect">
            <a:avLst>
              <a:gd name="adj" fmla="val 11429"/>
            </a:avLst>
          </a:prstGeom>
          <a:solidFill>
            <a:srgbClr val="0F2C45"/>
          </a:solidFill>
          <a:ln w="12700">
            <a:solidFill>
              <a:srgbClr val="1C5068"/>
            </a:solidFill>
            <a:prstDash val="solid"/>
          </a:ln>
        </p:spPr>
      </p:sp>
      <p:pic>
        <p:nvPicPr>
          <p:cNvPr id="6" name="mile-source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0" y="2197100"/>
            <a:ext cx="431800" cy="431800"/>
          </a:xfrm>
          <a:prstGeom prst="rect">
            <a:avLst/>
          </a:prstGeom>
        </p:spPr>
      </p:pic>
      <p:sp>
        <p:nvSpPr>
          <p:cNvPr id="7" name="mile-source-text"/>
          <p:cNvSpPr/>
          <p:nvPr/>
        </p:nvSpPr>
        <p:spPr>
          <a:xfrm>
            <a:off x="2032000" y="2032000"/>
            <a:ext cx="12827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altLang="en-US" sz="16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/ Source Used:</a:t>
            </a:r>
            <a:r>
              <a:rPr lang="en-US" alt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VERIS Community Database (VCDB), Kaggle-sourced processed dataset  |  </a:t>
            </a:r>
            <a:r>
              <a:rPr lang="en-US" altLang="en-US" sz="16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10,229</a:t>
            </a:r>
            <a:r>
              <a:rPr lang="en-US" alt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incident records  |  </a:t>
            </a:r>
            <a:r>
              <a:rPr lang="en-US" altLang="en-US" sz="16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r>
              <a:rPr lang="en-US" alt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columns</a:t>
            </a:r>
            <a:endParaRPr lang="en-US" sz="1600" dirty="0"/>
          </a:p>
        </p:txBody>
      </p:sp>
      <p:sp>
        <p:nvSpPr>
          <p:cNvPr id="8" name="mile-rail"/>
          <p:cNvSpPr/>
          <p:nvPr/>
        </p:nvSpPr>
        <p:spPr>
          <a:xfrm>
            <a:off x="1905000" y="4191000"/>
            <a:ext cx="12446000" cy="9144"/>
          </a:xfrm>
          <a:prstGeom prst="line">
            <a:avLst/>
          </a:prstGeom>
          <a:ln w="38100">
            <a:solidFill>
              <a:srgbClr val="00E5FF"/>
            </a:solidFill>
            <a:prstDash val="solid"/>
          </a:ln>
        </p:spPr>
      </p:sp>
      <p:sp>
        <p:nvSpPr>
          <p:cNvPr id="9" name="mile-node-1"/>
          <p:cNvSpPr/>
          <p:nvPr/>
        </p:nvSpPr>
        <p:spPr>
          <a:xfrm>
            <a:off x="1676400" y="3962400"/>
            <a:ext cx="457200" cy="457200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0" name="mile-num-1"/>
          <p:cNvSpPr/>
          <p:nvPr/>
        </p:nvSpPr>
        <p:spPr>
          <a:xfrm>
            <a:off x="1676400" y="39624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altLang="en-US" sz="1600" b="1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mile-node-2"/>
          <p:cNvSpPr/>
          <p:nvPr/>
        </p:nvSpPr>
        <p:spPr>
          <a:xfrm>
            <a:off x="5740400" y="3962400"/>
            <a:ext cx="457200" cy="457200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2" name="mile-num-2"/>
          <p:cNvSpPr/>
          <p:nvPr/>
        </p:nvSpPr>
        <p:spPr>
          <a:xfrm>
            <a:off x="5740400" y="39624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altLang="en-US" sz="1600" b="1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mile-node-3"/>
          <p:cNvSpPr/>
          <p:nvPr/>
        </p:nvSpPr>
        <p:spPr>
          <a:xfrm>
            <a:off x="9804400" y="3962400"/>
            <a:ext cx="457200" cy="457200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4" name="mile-num-3"/>
          <p:cNvSpPr/>
          <p:nvPr/>
        </p:nvSpPr>
        <p:spPr>
          <a:xfrm>
            <a:off x="9804400" y="39624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altLang="en-US" sz="1600" b="1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mile-node-4"/>
          <p:cNvSpPr/>
          <p:nvPr/>
        </p:nvSpPr>
        <p:spPr>
          <a:xfrm>
            <a:off x="13868400" y="3962400"/>
            <a:ext cx="457200" cy="457200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6" name="mile-num-4"/>
          <p:cNvSpPr/>
          <p:nvPr/>
        </p:nvSpPr>
        <p:spPr>
          <a:xfrm>
            <a:off x="13868400" y="39624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altLang="en-US" sz="1600" b="1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mile-card-1"/>
          <p:cNvSpPr/>
          <p:nvPr/>
        </p:nvSpPr>
        <p:spPr>
          <a:xfrm>
            <a:off x="889000" y="4699000"/>
            <a:ext cx="3302000" cy="2311400"/>
          </a:xfrm>
          <a:prstGeom prst="roundRect">
            <a:avLst>
              <a:gd name="adj" fmla="val 5495"/>
            </a:avLst>
          </a:prstGeom>
          <a:solidFill>
            <a:srgbClr val="0F2C45"/>
          </a:solidFill>
          <a:ln/>
        </p:spPr>
      </p:sp>
      <p:sp>
        <p:nvSpPr>
          <p:cNvPr id="18" name="mile-card-1-text"/>
          <p:cNvSpPr/>
          <p:nvPr/>
        </p:nvSpPr>
        <p:spPr>
          <a:xfrm>
            <a:off x="1117600" y="4927600"/>
            <a:ext cx="2844800" cy="185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altLang="en-US" sz="16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 and baseline</a:t>
            </a:r>
            <a:endParaRPr lang="en-US" sz="16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the incident schema, dimensions, relationships, and baseline record count.</a:t>
            </a:r>
            <a:endParaRPr lang="en-US" sz="1600" dirty="0"/>
          </a:p>
        </p:txBody>
      </p:sp>
      <p:sp>
        <p:nvSpPr>
          <p:cNvPr id="19" name="mile-card-2"/>
          <p:cNvSpPr/>
          <p:nvPr/>
        </p:nvSpPr>
        <p:spPr>
          <a:xfrm>
            <a:off x="4445000" y="4699000"/>
            <a:ext cx="3302000" cy="2311400"/>
          </a:xfrm>
          <a:prstGeom prst="roundRect">
            <a:avLst>
              <a:gd name="adj" fmla="val 5495"/>
            </a:avLst>
          </a:prstGeom>
          <a:solidFill>
            <a:srgbClr val="0F2C45"/>
          </a:solidFill>
          <a:ln/>
        </p:spPr>
      </p:sp>
      <p:sp>
        <p:nvSpPr>
          <p:cNvPr id="20" name="mile-card-2-text"/>
          <p:cNvSpPr/>
          <p:nvPr/>
        </p:nvSpPr>
        <p:spPr>
          <a:xfrm>
            <a:off x="4673600" y="4927600"/>
            <a:ext cx="2844800" cy="185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altLang="en-US" sz="16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 and standardize</a:t>
            </a:r>
            <a:endParaRPr lang="en-US" sz="16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Resolve missing months, motives, actor varieties, countries, and inconsistent values while preserving records.</a:t>
            </a:r>
            <a:endParaRPr lang="en-US" sz="1600" dirty="0"/>
          </a:p>
        </p:txBody>
      </p:sp>
      <p:sp>
        <p:nvSpPr>
          <p:cNvPr id="21" name="mile-card-3"/>
          <p:cNvSpPr/>
          <p:nvPr/>
        </p:nvSpPr>
        <p:spPr>
          <a:xfrm>
            <a:off x="8001000" y="4699000"/>
            <a:ext cx="3302000" cy="2311400"/>
          </a:xfrm>
          <a:prstGeom prst="roundRect">
            <a:avLst>
              <a:gd name="adj" fmla="val 5495"/>
            </a:avLst>
          </a:prstGeom>
          <a:solidFill>
            <a:srgbClr val="0F2C45"/>
          </a:solidFill>
          <a:ln/>
        </p:spPr>
      </p:sp>
      <p:sp>
        <p:nvSpPr>
          <p:cNvPr id="22" name="mile-card-3-text"/>
          <p:cNvSpPr/>
          <p:nvPr/>
        </p:nvSpPr>
        <p:spPr>
          <a:xfrm>
            <a:off x="8229600" y="4927600"/>
            <a:ext cx="2844800" cy="185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altLang="en-US" sz="16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 and model</a:t>
            </a:r>
            <a:endParaRPr lang="en-US" sz="16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type casting, filtering, conditional columns, custom columns, removal, and renaming.</a:t>
            </a:r>
            <a:endParaRPr lang="en-US" sz="1600" dirty="0"/>
          </a:p>
        </p:txBody>
      </p:sp>
      <p:sp>
        <p:nvSpPr>
          <p:cNvPr id="23" name="mile-card-4"/>
          <p:cNvSpPr/>
          <p:nvPr/>
        </p:nvSpPr>
        <p:spPr>
          <a:xfrm>
            <a:off x="11557000" y="4699000"/>
            <a:ext cx="3302000" cy="2311400"/>
          </a:xfrm>
          <a:prstGeom prst="roundRect">
            <a:avLst>
              <a:gd name="adj" fmla="val 5495"/>
            </a:avLst>
          </a:prstGeom>
          <a:solidFill>
            <a:srgbClr val="0F2C45"/>
          </a:solidFill>
          <a:ln/>
        </p:spPr>
      </p:sp>
      <p:sp>
        <p:nvSpPr>
          <p:cNvPr id="24" name="mile-card-4-text"/>
          <p:cNvSpPr/>
          <p:nvPr/>
        </p:nvSpPr>
        <p:spPr>
          <a:xfrm>
            <a:off x="11785600" y="4927600"/>
            <a:ext cx="2844800" cy="185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altLang="en-US" sz="16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Visualize and publish</a:t>
            </a:r>
            <a:endParaRPr lang="en-US" sz="16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dashboard pages for analytics, threat analysis, actor intelligence, vulnerability, severity, and patterns.</a:t>
            </a:r>
            <a:endParaRPr lang="en-US" sz="1600" dirty="0"/>
          </a:p>
        </p:txBody>
      </p:sp>
      <p:sp>
        <p:nvSpPr>
          <p:cNvPr id="25" name="mile-footer"/>
          <p:cNvSpPr/>
          <p:nvPr/>
        </p:nvSpPr>
        <p:spPr>
          <a:xfrm>
            <a:off x="1117600" y="7772400"/>
            <a:ext cx="140208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dirty="0">
                <a:solidFill>
                  <a:srgbClr val="A9C1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milestone was validated against the next step in the workflow to keep the project repeatable and audit-friendly.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6791A3-5911-6944-F8C3-352EE797E6B0}"/>
              </a:ext>
            </a:extLst>
          </p:cNvPr>
          <p:cNvSpPr txBox="1"/>
          <p:nvPr/>
        </p:nvSpPr>
        <p:spPr>
          <a:xfrm flipH="1">
            <a:off x="614148" y="423081"/>
            <a:ext cx="44355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lgerian" panose="04020705040A02060702" pitchFamily="82" charset="0"/>
              </a:rPr>
              <a:t>DASHBOARDS:</a:t>
            </a:r>
            <a:endParaRPr lang="en-IN" sz="2000" dirty="0">
              <a:latin typeface="Algerian" panose="04020705040A02060702" pitchFamily="82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133D5FC-7A31-DDD1-29EA-4AC1637DB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45" y="1363329"/>
            <a:ext cx="6629158" cy="369474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D963D30-68BF-403B-8410-B9DFEA6F0B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1511" y="1363329"/>
            <a:ext cx="6478856" cy="367703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7A56B61-4454-ED99-6372-8F2033F284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131" y="5133772"/>
            <a:ext cx="6478856" cy="3694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665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A363683-70F9-E17C-F0C3-8C8381F0C7B3}"/>
                  </a:ext>
                </a:extLst>
              </p14:cNvPr>
              <p14:cNvContentPartPr/>
              <p14:nvPr/>
            </p14:nvContentPartPr>
            <p14:xfrm>
              <a:off x="1556611" y="3039762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A363683-70F9-E17C-F0C3-8C8381F0C7B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50491" y="3033282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30" name="Picture 29">
            <a:extLst>
              <a:ext uri="{FF2B5EF4-FFF2-40B4-BE49-F238E27FC236}">
                <a16:creationId xmlns:a16="http://schemas.microsoft.com/office/drawing/2014/main" id="{F0EE1120-21E7-2059-0DD0-900C8CEAC6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845" y="872261"/>
            <a:ext cx="7479794" cy="356381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CD869583-BF6F-67F0-B624-871BB8226F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1632" y="872261"/>
            <a:ext cx="6807605" cy="356381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F83FCE4B-DA6F-6319-511C-DEDA896C63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844" y="4945204"/>
            <a:ext cx="7479794" cy="3830381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54A8B63-E1B2-D9AD-7935-39334EF23E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632" y="4945203"/>
            <a:ext cx="6807605" cy="3830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570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l-title-rule"/>
          <p:cNvSpPr/>
          <p:nvPr/>
        </p:nvSpPr>
        <p:spPr>
          <a:xfrm>
            <a:off x="863600" y="990600"/>
            <a:ext cx="63500" cy="431800"/>
          </a:xfrm>
          <a:prstGeom prst="line">
            <a:avLst/>
          </a:prstGeom>
          <a:ln w="63500">
            <a:solidFill>
              <a:srgbClr val="00E5FF"/>
            </a:solidFill>
            <a:prstDash val="solid"/>
          </a:ln>
        </p:spPr>
      </p:sp>
      <p:sp>
        <p:nvSpPr>
          <p:cNvPr id="3" name="chal-title"/>
          <p:cNvSpPr/>
          <p:nvPr/>
        </p:nvSpPr>
        <p:spPr>
          <a:xfrm>
            <a:off x="1117600" y="939800"/>
            <a:ext cx="9906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Challenges Faced and Resolutions</a:t>
            </a:r>
            <a:endParaRPr lang="en-US" sz="3000" dirty="0"/>
          </a:p>
        </p:txBody>
      </p:sp>
      <p:sp>
        <p:nvSpPr>
          <p:cNvPr id="4" name="chal-subtitle"/>
          <p:cNvSpPr/>
          <p:nvPr/>
        </p:nvSpPr>
        <p:spPr>
          <a:xfrm>
            <a:off x="1117600" y="1524000"/>
            <a:ext cx="1320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700" dirty="0">
                <a:solidFill>
                  <a:srgbClr val="C9D7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project focused on preserving data integrity while making the incident landscape easier to interpret and act upon.</a:t>
            </a:r>
            <a:endParaRPr lang="en-US" sz="1700" dirty="0"/>
          </a:p>
        </p:txBody>
      </p:sp>
      <p:sp>
        <p:nvSpPr>
          <p:cNvPr id="5" name="chal-card-1"/>
          <p:cNvSpPr/>
          <p:nvPr/>
        </p:nvSpPr>
        <p:spPr>
          <a:xfrm>
            <a:off x="889000" y="2159000"/>
            <a:ext cx="4572000" cy="4953000"/>
          </a:xfrm>
          <a:prstGeom prst="roundRect">
            <a:avLst>
              <a:gd name="adj" fmla="val 2778"/>
            </a:avLst>
          </a:prstGeom>
          <a:solidFill>
            <a:srgbClr val="0F2C45"/>
          </a:solidFill>
          <a:ln w="12700">
            <a:solidFill>
              <a:srgbClr val="1C5068"/>
            </a:solidFill>
            <a:prstDash val="solid"/>
          </a:ln>
        </p:spPr>
      </p:sp>
      <p:sp>
        <p:nvSpPr>
          <p:cNvPr id="6" name="chal-head-1"/>
          <p:cNvSpPr/>
          <p:nvPr/>
        </p:nvSpPr>
        <p:spPr>
          <a:xfrm>
            <a:off x="889000" y="2159000"/>
            <a:ext cx="4572000" cy="1092200"/>
          </a:xfrm>
          <a:prstGeom prst="roundRect">
            <a:avLst>
              <a:gd name="adj" fmla="val 11628"/>
            </a:avLst>
          </a:prstGeom>
          <a:solidFill>
            <a:srgbClr val="4A1F35"/>
          </a:solidFill>
          <a:ln/>
        </p:spPr>
      </p:sp>
      <p:sp>
        <p:nvSpPr>
          <p:cNvPr id="7" name="chal-title-1"/>
          <p:cNvSpPr/>
          <p:nvPr/>
        </p:nvSpPr>
        <p:spPr>
          <a:xfrm>
            <a:off x="1193800" y="2413000"/>
            <a:ext cx="39624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en-US" sz="2000" b="1" dirty="0">
                <a:solidFill>
                  <a:srgbClr val="FF9EA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High-volume, noisy data</a:t>
            </a:r>
            <a:endParaRPr lang="en-US" sz="2000" dirty="0"/>
          </a:p>
        </p:txBody>
      </p:sp>
      <p:sp>
        <p:nvSpPr>
          <p:cNvPr id="8" name="chal-body-1"/>
          <p:cNvSpPr/>
          <p:nvPr/>
        </p:nvSpPr>
        <p:spPr>
          <a:xfrm>
            <a:off x="1193800" y="3581400"/>
            <a:ext cx="39624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altLang="en-US" sz="1700" dirty="0">
                <a:solidFill>
                  <a:srgbClr val="D7E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Thousands of records and many categorical fields made direct interpretation difficult.</a:t>
            </a:r>
            <a:endParaRPr lang="en-US" sz="1700" dirty="0"/>
          </a:p>
        </p:txBody>
      </p:sp>
      <p:sp>
        <p:nvSpPr>
          <p:cNvPr id="9" name="chal-divider-1"/>
          <p:cNvSpPr/>
          <p:nvPr/>
        </p:nvSpPr>
        <p:spPr>
          <a:xfrm>
            <a:off x="1193800" y="5232400"/>
            <a:ext cx="3810000" cy="9144"/>
          </a:xfrm>
          <a:prstGeom prst="line">
            <a:avLst/>
          </a:prstGeom>
          <a:ln w="25400">
            <a:solidFill>
              <a:srgbClr val="00E5FF"/>
            </a:solidFill>
            <a:prstDash val="solid"/>
          </a:ln>
        </p:spPr>
      </p:sp>
      <p:sp>
        <p:nvSpPr>
          <p:cNvPr id="10" name="chal-res-1"/>
          <p:cNvSpPr/>
          <p:nvPr/>
        </p:nvSpPr>
        <p:spPr>
          <a:xfrm>
            <a:off x="1193800" y="5461000"/>
            <a:ext cx="39624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altLang="en-US" sz="17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Resolution:</a:t>
            </a:r>
            <a:r>
              <a:rPr lang="en-US" alt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Structure the data into consistent threat dimensions and summarize it through dashboards.</a:t>
            </a:r>
            <a:endParaRPr lang="en-US" sz="1700" dirty="0"/>
          </a:p>
        </p:txBody>
      </p:sp>
      <p:sp>
        <p:nvSpPr>
          <p:cNvPr id="11" name="chal-card-2"/>
          <p:cNvSpPr/>
          <p:nvPr/>
        </p:nvSpPr>
        <p:spPr>
          <a:xfrm>
            <a:off x="5842000" y="2159000"/>
            <a:ext cx="4572000" cy="4953000"/>
          </a:xfrm>
          <a:prstGeom prst="roundRect">
            <a:avLst>
              <a:gd name="adj" fmla="val 2778"/>
            </a:avLst>
          </a:prstGeom>
          <a:solidFill>
            <a:srgbClr val="0F2C45"/>
          </a:solidFill>
          <a:ln w="12700">
            <a:solidFill>
              <a:srgbClr val="1C5068"/>
            </a:solidFill>
            <a:prstDash val="solid"/>
          </a:ln>
        </p:spPr>
      </p:sp>
      <p:sp>
        <p:nvSpPr>
          <p:cNvPr id="12" name="chal-head-2"/>
          <p:cNvSpPr/>
          <p:nvPr/>
        </p:nvSpPr>
        <p:spPr>
          <a:xfrm>
            <a:off x="5842000" y="2159000"/>
            <a:ext cx="4572000" cy="1092200"/>
          </a:xfrm>
          <a:prstGeom prst="roundRect">
            <a:avLst>
              <a:gd name="adj" fmla="val 11628"/>
            </a:avLst>
          </a:prstGeom>
          <a:solidFill>
            <a:srgbClr val="4A1F35"/>
          </a:solidFill>
          <a:ln/>
        </p:spPr>
      </p:sp>
      <p:sp>
        <p:nvSpPr>
          <p:cNvPr id="13" name="chal-title-2"/>
          <p:cNvSpPr/>
          <p:nvPr/>
        </p:nvSpPr>
        <p:spPr>
          <a:xfrm>
            <a:off x="6146800" y="2413000"/>
            <a:ext cx="39624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en-US" sz="2000" b="1" dirty="0">
                <a:solidFill>
                  <a:srgbClr val="FF9EA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Missing and ambiguous values</a:t>
            </a:r>
            <a:endParaRPr lang="en-US" sz="2000" dirty="0"/>
          </a:p>
        </p:txBody>
      </p:sp>
      <p:sp>
        <p:nvSpPr>
          <p:cNvPr id="14" name="chal-body-2"/>
          <p:cNvSpPr/>
          <p:nvPr/>
        </p:nvSpPr>
        <p:spPr>
          <a:xfrm>
            <a:off x="6146800" y="3581400"/>
            <a:ext cx="39624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altLang="en-US" sz="1700" dirty="0">
                <a:solidFill>
                  <a:srgbClr val="D7E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Nulls and values such as “Unknown” and “NA” could break trend lines, maps, and comparisons.</a:t>
            </a:r>
            <a:endParaRPr lang="en-US" sz="1700" dirty="0"/>
          </a:p>
        </p:txBody>
      </p:sp>
      <p:sp>
        <p:nvSpPr>
          <p:cNvPr id="15" name="chal-divider-2"/>
          <p:cNvSpPr/>
          <p:nvPr/>
        </p:nvSpPr>
        <p:spPr>
          <a:xfrm>
            <a:off x="6146800" y="5232400"/>
            <a:ext cx="3810000" cy="9144"/>
          </a:xfrm>
          <a:prstGeom prst="line">
            <a:avLst/>
          </a:prstGeom>
          <a:ln w="25400">
            <a:solidFill>
              <a:srgbClr val="00E5FF"/>
            </a:solidFill>
            <a:prstDash val="solid"/>
          </a:ln>
        </p:spPr>
      </p:sp>
      <p:sp>
        <p:nvSpPr>
          <p:cNvPr id="16" name="chal-res-2"/>
          <p:cNvSpPr/>
          <p:nvPr/>
        </p:nvSpPr>
        <p:spPr>
          <a:xfrm>
            <a:off x="6146800" y="5461000"/>
            <a:ext cx="39624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altLang="en-US" sz="17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Resolution:</a:t>
            </a:r>
            <a:r>
              <a:rPr lang="en-US" alt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Replace or regroup values into explicit analytical categories such as “Undetermined Motive” and “Undetermined Source”.</a:t>
            </a:r>
            <a:endParaRPr lang="en-US" sz="1700" dirty="0"/>
          </a:p>
        </p:txBody>
      </p:sp>
      <p:sp>
        <p:nvSpPr>
          <p:cNvPr id="17" name="chal-card-3"/>
          <p:cNvSpPr/>
          <p:nvPr/>
        </p:nvSpPr>
        <p:spPr>
          <a:xfrm>
            <a:off x="10795000" y="2159000"/>
            <a:ext cx="4572000" cy="4953000"/>
          </a:xfrm>
          <a:prstGeom prst="roundRect">
            <a:avLst>
              <a:gd name="adj" fmla="val 2778"/>
            </a:avLst>
          </a:prstGeom>
          <a:solidFill>
            <a:srgbClr val="0F2C45"/>
          </a:solidFill>
          <a:ln w="12700">
            <a:solidFill>
              <a:srgbClr val="1C5068"/>
            </a:solidFill>
            <a:prstDash val="solid"/>
          </a:ln>
        </p:spPr>
      </p:sp>
      <p:sp>
        <p:nvSpPr>
          <p:cNvPr id="18" name="chal-head-3"/>
          <p:cNvSpPr/>
          <p:nvPr/>
        </p:nvSpPr>
        <p:spPr>
          <a:xfrm>
            <a:off x="10795000" y="2159000"/>
            <a:ext cx="4572000" cy="1092200"/>
          </a:xfrm>
          <a:prstGeom prst="roundRect">
            <a:avLst>
              <a:gd name="adj" fmla="val 11628"/>
            </a:avLst>
          </a:prstGeom>
          <a:solidFill>
            <a:srgbClr val="4A1F35"/>
          </a:solidFill>
          <a:ln/>
        </p:spPr>
      </p:sp>
      <p:sp>
        <p:nvSpPr>
          <p:cNvPr id="19" name="chal-title-3"/>
          <p:cNvSpPr/>
          <p:nvPr/>
        </p:nvSpPr>
        <p:spPr>
          <a:xfrm>
            <a:off x="11099800" y="2413000"/>
            <a:ext cx="39624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en-US" sz="2000" b="1" dirty="0">
                <a:solidFill>
                  <a:srgbClr val="FF9EA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Slow manual investigation</a:t>
            </a:r>
            <a:endParaRPr lang="en-US" sz="2000" dirty="0"/>
          </a:p>
        </p:txBody>
      </p:sp>
      <p:sp>
        <p:nvSpPr>
          <p:cNvPr id="20" name="chal-body-3"/>
          <p:cNvSpPr/>
          <p:nvPr/>
        </p:nvSpPr>
        <p:spPr>
          <a:xfrm>
            <a:off x="11099800" y="3581400"/>
            <a:ext cx="39624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altLang="en-US" sz="1700" dirty="0">
                <a:solidFill>
                  <a:srgbClr val="D7E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logs were difficult to compare across time, geography, actors, and assets.</a:t>
            </a:r>
            <a:endParaRPr lang="en-US" sz="1700" dirty="0"/>
          </a:p>
        </p:txBody>
      </p:sp>
      <p:sp>
        <p:nvSpPr>
          <p:cNvPr id="21" name="chal-divider-3"/>
          <p:cNvSpPr/>
          <p:nvPr/>
        </p:nvSpPr>
        <p:spPr>
          <a:xfrm>
            <a:off x="11099800" y="5232400"/>
            <a:ext cx="3810000" cy="9144"/>
          </a:xfrm>
          <a:prstGeom prst="line">
            <a:avLst/>
          </a:prstGeom>
          <a:ln w="25400">
            <a:solidFill>
              <a:srgbClr val="00E5FF"/>
            </a:solidFill>
            <a:prstDash val="solid"/>
          </a:ln>
        </p:spPr>
      </p:sp>
      <p:sp>
        <p:nvSpPr>
          <p:cNvPr id="22" name="chal-res-3"/>
          <p:cNvSpPr/>
          <p:nvPr/>
        </p:nvSpPr>
        <p:spPr>
          <a:xfrm>
            <a:off x="11099800" y="5461000"/>
            <a:ext cx="39624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altLang="en-US" sz="17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Resolution:</a:t>
            </a:r>
            <a:r>
              <a:rPr lang="en-US" alt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Use repeatable transformations and interactive filters to shorten the path from event to insight.</a:t>
            </a:r>
            <a:endParaRPr lang="en-US" sz="1700" dirty="0"/>
          </a:p>
        </p:txBody>
      </p:sp>
      <p:sp>
        <p:nvSpPr>
          <p:cNvPr id="23" name="chal-footer"/>
          <p:cNvSpPr/>
          <p:nvPr/>
        </p:nvSpPr>
        <p:spPr>
          <a:xfrm>
            <a:off x="1117600" y="7696200"/>
            <a:ext cx="140208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8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principle:</a:t>
            </a: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preserve the record, clarify the category, accelerate the decision.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arn-title-rule"/>
          <p:cNvSpPr/>
          <p:nvPr/>
        </p:nvSpPr>
        <p:spPr>
          <a:xfrm>
            <a:off x="863600" y="990600"/>
            <a:ext cx="63500" cy="431800"/>
          </a:xfrm>
          <a:prstGeom prst="line">
            <a:avLst/>
          </a:prstGeom>
          <a:ln w="63500">
            <a:solidFill>
              <a:srgbClr val="00E5FF"/>
            </a:solidFill>
            <a:prstDash val="solid"/>
          </a:ln>
        </p:spPr>
      </p:sp>
      <p:sp>
        <p:nvSpPr>
          <p:cNvPr id="3" name="learn-title"/>
          <p:cNvSpPr/>
          <p:nvPr/>
        </p:nvSpPr>
        <p:spPr>
          <a:xfrm>
            <a:off x="1117600" y="939800"/>
            <a:ext cx="9652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Learnings &amp; Skills Acquired</a:t>
            </a:r>
            <a:endParaRPr lang="en-US" sz="3000" dirty="0"/>
          </a:p>
        </p:txBody>
      </p:sp>
      <p:sp>
        <p:nvSpPr>
          <p:cNvPr id="4" name="learn-subtitle"/>
          <p:cNvSpPr/>
          <p:nvPr/>
        </p:nvSpPr>
        <p:spPr>
          <a:xfrm>
            <a:off x="1117600" y="1524000"/>
            <a:ext cx="1320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700" dirty="0">
                <a:solidFill>
                  <a:srgbClr val="C9D7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project strengthened both hands-on analytics capability and the ability to communicate technical findings clearly.</a:t>
            </a:r>
            <a:endParaRPr lang="en-US" sz="1700" dirty="0"/>
          </a:p>
        </p:txBody>
      </p:sp>
      <p:sp>
        <p:nvSpPr>
          <p:cNvPr id="5" name="learn-tech-card"/>
          <p:cNvSpPr/>
          <p:nvPr/>
        </p:nvSpPr>
        <p:spPr>
          <a:xfrm>
            <a:off x="889000" y="2159000"/>
            <a:ext cx="6858000" cy="4445000"/>
          </a:xfrm>
          <a:prstGeom prst="roundRect">
            <a:avLst>
              <a:gd name="adj" fmla="val 2857"/>
            </a:avLst>
          </a:prstGeom>
          <a:solidFill>
            <a:srgbClr val="0F2C45"/>
          </a:solidFill>
          <a:ln w="12700">
            <a:solidFill>
              <a:srgbClr val="1C5068"/>
            </a:solidFill>
            <a:prstDash val="solid"/>
          </a:ln>
        </p:spPr>
      </p:sp>
      <p:pic>
        <p:nvPicPr>
          <p:cNvPr id="6" name="learn-tech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2463800"/>
            <a:ext cx="431800" cy="431800"/>
          </a:xfrm>
          <a:prstGeom prst="rect">
            <a:avLst/>
          </a:prstGeom>
        </p:spPr>
      </p:pic>
      <p:sp>
        <p:nvSpPr>
          <p:cNvPr id="7" name="learn-tech-head"/>
          <p:cNvSpPr/>
          <p:nvPr/>
        </p:nvSpPr>
        <p:spPr>
          <a:xfrm>
            <a:off x="1854200" y="2413000"/>
            <a:ext cx="533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Skills</a:t>
            </a:r>
            <a:endParaRPr lang="en-US" sz="2400" dirty="0"/>
          </a:p>
        </p:txBody>
      </p:sp>
      <p:sp>
        <p:nvSpPr>
          <p:cNvPr id="8" name="learn-tech-rule"/>
          <p:cNvSpPr/>
          <p:nvPr/>
        </p:nvSpPr>
        <p:spPr>
          <a:xfrm>
            <a:off x="1219200" y="3073400"/>
            <a:ext cx="6019800" cy="9144"/>
          </a:xfrm>
          <a:prstGeom prst="line">
            <a:avLst/>
          </a:prstGeom>
          <a:ln w="25400">
            <a:solidFill>
              <a:srgbClr val="00E5FF"/>
            </a:solidFill>
            <a:prstDash val="solid"/>
          </a:ln>
        </p:spPr>
      </p:sp>
      <p:sp>
        <p:nvSpPr>
          <p:cNvPr id="9" name="learn-tech-list"/>
          <p:cNvSpPr/>
          <p:nvPr/>
        </p:nvSpPr>
        <p:spPr>
          <a:xfrm>
            <a:off x="1244600" y="3352800"/>
            <a:ext cx="59436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9875" indent="-269875" algn="l">
              <a:lnSpc>
                <a:spcPts val="2465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1700" dirty="0">
                <a:solidFill>
                  <a:srgbClr val="D7E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Cybersecurity incident analytics using VCDB / VERIS-style dimensions.</a:t>
            </a:r>
            <a:endParaRPr lang="en-US" sz="1700" dirty="0"/>
          </a:p>
          <a:p>
            <a:pPr marL="269875" indent="-269875" algn="l">
              <a:lnSpc>
                <a:spcPts val="2465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1700" dirty="0">
                <a:solidFill>
                  <a:srgbClr val="D7E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cleaning, type casting, filtering, conditional columns, and feature preparation.</a:t>
            </a:r>
            <a:endParaRPr lang="en-US" sz="1700" dirty="0"/>
          </a:p>
          <a:p>
            <a:pPr marL="269875" indent="-269875" algn="l">
              <a:lnSpc>
                <a:spcPts val="2465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1700" dirty="0">
                <a:solidFill>
                  <a:srgbClr val="D7E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Query ETL and repeatable transformation workflows.</a:t>
            </a:r>
            <a:endParaRPr lang="en-US" sz="1700" dirty="0"/>
          </a:p>
          <a:p>
            <a:pPr marL="269875" indent="-269875" algn="l">
              <a:lnSpc>
                <a:spcPts val="2465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1700" dirty="0">
                <a:solidFill>
                  <a:srgbClr val="D7E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design using charts, maps, KPI cards, timelines, and comparative views.</a:t>
            </a:r>
            <a:endParaRPr lang="en-US" sz="1700" dirty="0"/>
          </a:p>
        </p:txBody>
      </p:sp>
      <p:sp>
        <p:nvSpPr>
          <p:cNvPr id="10" name="learn-soft-card"/>
          <p:cNvSpPr/>
          <p:nvPr/>
        </p:nvSpPr>
        <p:spPr>
          <a:xfrm>
            <a:off x="8509000" y="2159000"/>
            <a:ext cx="6858000" cy="4445000"/>
          </a:xfrm>
          <a:prstGeom prst="roundRect">
            <a:avLst>
              <a:gd name="adj" fmla="val 2857"/>
            </a:avLst>
          </a:prstGeom>
          <a:solidFill>
            <a:srgbClr val="0F2C45"/>
          </a:solidFill>
          <a:ln w="12700">
            <a:solidFill>
              <a:srgbClr val="1C5068"/>
            </a:solidFill>
            <a:prstDash val="solid"/>
          </a:ln>
        </p:spPr>
      </p:sp>
      <p:pic>
        <p:nvPicPr>
          <p:cNvPr id="11" name="learn-soft-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9200" y="2463800"/>
            <a:ext cx="431800" cy="431800"/>
          </a:xfrm>
          <a:prstGeom prst="rect">
            <a:avLst/>
          </a:prstGeom>
        </p:spPr>
      </p:pic>
      <p:sp>
        <p:nvSpPr>
          <p:cNvPr id="12" name="learn-soft-head"/>
          <p:cNvSpPr/>
          <p:nvPr/>
        </p:nvSpPr>
        <p:spPr>
          <a:xfrm>
            <a:off x="9474200" y="2413000"/>
            <a:ext cx="533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 Skills</a:t>
            </a:r>
            <a:endParaRPr lang="en-US" sz="2400" dirty="0"/>
          </a:p>
        </p:txBody>
      </p:sp>
      <p:sp>
        <p:nvSpPr>
          <p:cNvPr id="13" name="learn-soft-rule"/>
          <p:cNvSpPr/>
          <p:nvPr/>
        </p:nvSpPr>
        <p:spPr>
          <a:xfrm>
            <a:off x="8839200" y="3073400"/>
            <a:ext cx="6019800" cy="9144"/>
          </a:xfrm>
          <a:prstGeom prst="line">
            <a:avLst/>
          </a:prstGeom>
          <a:ln w="25400">
            <a:solidFill>
              <a:srgbClr val="00E5FF"/>
            </a:solidFill>
            <a:prstDash val="solid"/>
          </a:ln>
        </p:spPr>
      </p:sp>
      <p:sp>
        <p:nvSpPr>
          <p:cNvPr id="14" name="learn-soft-list"/>
          <p:cNvSpPr/>
          <p:nvPr/>
        </p:nvSpPr>
        <p:spPr>
          <a:xfrm>
            <a:off x="8864600" y="3352800"/>
            <a:ext cx="59436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9875" indent="-269875" algn="l">
              <a:lnSpc>
                <a:spcPts val="2465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1700" dirty="0">
                <a:solidFill>
                  <a:srgbClr val="D7E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Translate complex analysis into clear business-facing narratives.</a:t>
            </a:r>
            <a:endParaRPr lang="en-US" sz="1700" dirty="0"/>
          </a:p>
          <a:p>
            <a:pPr marL="269875" indent="-269875" algn="l">
              <a:lnSpc>
                <a:spcPts val="2465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1700" dirty="0">
                <a:solidFill>
                  <a:srgbClr val="D7E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structured problem solving and validate data quality before interpretation.</a:t>
            </a:r>
            <a:endParaRPr lang="en-US" sz="1700" dirty="0"/>
          </a:p>
          <a:p>
            <a:pPr marL="269875" indent="-269875" algn="l">
              <a:lnSpc>
                <a:spcPts val="2465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1700" dirty="0">
                <a:solidFill>
                  <a:srgbClr val="D7E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 workflows, present findings, and communicate with stakeholders.</a:t>
            </a:r>
            <a:endParaRPr lang="en-US" sz="1700" dirty="0"/>
          </a:p>
          <a:p>
            <a:pPr marL="269875" indent="-269875" algn="l">
              <a:lnSpc>
                <a:spcPts val="2465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1700" dirty="0">
                <a:solidFill>
                  <a:srgbClr val="D7E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 technical choices to the usefulness of the final security insight.</a:t>
            </a:r>
            <a:endParaRPr lang="en-US" sz="1700" dirty="0"/>
          </a:p>
        </p:txBody>
      </p:sp>
      <p:sp>
        <p:nvSpPr>
          <p:cNvPr id="15" name="learn-insight"/>
          <p:cNvSpPr/>
          <p:nvPr/>
        </p:nvSpPr>
        <p:spPr>
          <a:xfrm>
            <a:off x="889000" y="7175500"/>
            <a:ext cx="14478000" cy="889000"/>
          </a:xfrm>
          <a:prstGeom prst="roundRect">
            <a:avLst>
              <a:gd name="adj" fmla="val 11429"/>
            </a:avLst>
          </a:prstGeom>
          <a:solidFill>
            <a:srgbClr val="10334B"/>
          </a:solidFill>
          <a:ln w="12700">
            <a:solidFill>
              <a:srgbClr val="1C5068"/>
            </a:solidFill>
            <a:prstDash val="solid"/>
          </a:ln>
        </p:spPr>
      </p:sp>
      <p:pic>
        <p:nvPicPr>
          <p:cNvPr id="16" name="learn-insight-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3800" y="7404100"/>
            <a:ext cx="406400" cy="406400"/>
          </a:xfrm>
          <a:prstGeom prst="rect">
            <a:avLst/>
          </a:prstGeom>
        </p:spPr>
      </p:pic>
      <p:sp>
        <p:nvSpPr>
          <p:cNvPr id="17" name="learn-insight-text"/>
          <p:cNvSpPr/>
          <p:nvPr/>
        </p:nvSpPr>
        <p:spPr>
          <a:xfrm>
            <a:off x="1803400" y="7175500"/>
            <a:ext cx="13004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altLang="en-US" sz="18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Overall learning:</a:t>
            </a: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strongest learning was connecting data preparation decisions directly to the quality and usefulness of the final security insight.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ture-title-rule"/>
          <p:cNvSpPr/>
          <p:nvPr/>
        </p:nvSpPr>
        <p:spPr>
          <a:xfrm>
            <a:off x="863600" y="990600"/>
            <a:ext cx="63500" cy="431800"/>
          </a:xfrm>
          <a:prstGeom prst="line">
            <a:avLst/>
          </a:prstGeom>
          <a:ln w="63500">
            <a:solidFill>
              <a:srgbClr val="00E5FF"/>
            </a:solidFill>
            <a:prstDash val="solid"/>
          </a:ln>
        </p:spPr>
      </p:sp>
      <p:sp>
        <p:nvSpPr>
          <p:cNvPr id="3" name="future-title"/>
          <p:cNvSpPr/>
          <p:nvPr/>
        </p:nvSpPr>
        <p:spPr>
          <a:xfrm>
            <a:off x="1117600" y="939800"/>
            <a:ext cx="9652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Enhancements</a:t>
            </a:r>
            <a:endParaRPr lang="en-US" sz="3000" dirty="0"/>
          </a:p>
        </p:txBody>
      </p:sp>
      <p:sp>
        <p:nvSpPr>
          <p:cNvPr id="4" name="future-subtitle"/>
          <p:cNvSpPr/>
          <p:nvPr/>
        </p:nvSpPr>
        <p:spPr>
          <a:xfrm>
            <a:off x="1117600" y="1524000"/>
            <a:ext cx="1320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700" dirty="0">
                <a:solidFill>
                  <a:srgbClr val="C9D7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framework can grow from a validated dashboard workflow into a continuously learning security intelligence system.</a:t>
            </a:r>
            <a:endParaRPr lang="en-US" sz="1700" dirty="0"/>
          </a:p>
        </p:txBody>
      </p:sp>
      <p:sp>
        <p:nvSpPr>
          <p:cNvPr id="5" name="future-card-1"/>
          <p:cNvSpPr/>
          <p:nvPr/>
        </p:nvSpPr>
        <p:spPr>
          <a:xfrm>
            <a:off x="889000" y="2159000"/>
            <a:ext cx="7112000" cy="1524000"/>
          </a:xfrm>
          <a:prstGeom prst="roundRect">
            <a:avLst>
              <a:gd name="adj" fmla="val 8333"/>
            </a:avLst>
          </a:prstGeom>
          <a:solidFill>
            <a:srgbClr val="0F2C45"/>
          </a:solidFill>
          <a:ln/>
        </p:spPr>
      </p:sp>
      <p:pic>
        <p:nvPicPr>
          <p:cNvPr id="6" name="future-icon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500" y="2603500"/>
            <a:ext cx="457200" cy="457200"/>
          </a:xfrm>
          <a:prstGeom prst="rect">
            <a:avLst/>
          </a:prstGeom>
        </p:spPr>
      </p:pic>
      <p:sp>
        <p:nvSpPr>
          <p:cNvPr id="7" name="future-head-1"/>
          <p:cNvSpPr/>
          <p:nvPr/>
        </p:nvSpPr>
        <p:spPr>
          <a:xfrm>
            <a:off x="1905000" y="2349500"/>
            <a:ext cx="546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ingestion</a:t>
            </a:r>
            <a:endParaRPr lang="en-US" sz="2000" dirty="0"/>
          </a:p>
        </p:txBody>
      </p:sp>
      <p:sp>
        <p:nvSpPr>
          <p:cNvPr id="8" name="future-desc-1"/>
          <p:cNvSpPr/>
          <p:nvPr/>
        </p:nvSpPr>
        <p:spPr>
          <a:xfrm>
            <a:off x="1905000" y="2844800"/>
            <a:ext cx="546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en-US" sz="1600" dirty="0">
                <a:solidFill>
                  <a:srgbClr val="C9D7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 streaming security logs and refresh the dashboards continuously.</a:t>
            </a:r>
            <a:endParaRPr lang="en-US" sz="1600" dirty="0"/>
          </a:p>
        </p:txBody>
      </p:sp>
      <p:sp>
        <p:nvSpPr>
          <p:cNvPr id="9" name="future-card-2"/>
          <p:cNvSpPr/>
          <p:nvPr/>
        </p:nvSpPr>
        <p:spPr>
          <a:xfrm>
            <a:off x="8255000" y="2159000"/>
            <a:ext cx="7112000" cy="1524000"/>
          </a:xfrm>
          <a:prstGeom prst="roundRect">
            <a:avLst>
              <a:gd name="adj" fmla="val 8333"/>
            </a:avLst>
          </a:prstGeom>
          <a:solidFill>
            <a:srgbClr val="0F2C45"/>
          </a:solidFill>
          <a:ln/>
        </p:spPr>
      </p:sp>
      <p:pic>
        <p:nvPicPr>
          <p:cNvPr id="10" name="future-icon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603500"/>
            <a:ext cx="457200" cy="457200"/>
          </a:xfrm>
          <a:prstGeom prst="rect">
            <a:avLst/>
          </a:prstGeom>
        </p:spPr>
      </p:pic>
      <p:sp>
        <p:nvSpPr>
          <p:cNvPr id="11" name="future-head-2"/>
          <p:cNvSpPr/>
          <p:nvPr/>
        </p:nvSpPr>
        <p:spPr>
          <a:xfrm>
            <a:off x="9271000" y="2349500"/>
            <a:ext cx="546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risk scoring</a:t>
            </a:r>
            <a:endParaRPr lang="en-US" sz="2000" dirty="0"/>
          </a:p>
        </p:txBody>
      </p:sp>
      <p:sp>
        <p:nvSpPr>
          <p:cNvPr id="12" name="future-desc-2"/>
          <p:cNvSpPr/>
          <p:nvPr/>
        </p:nvSpPr>
        <p:spPr>
          <a:xfrm>
            <a:off x="9271000" y="2844800"/>
            <a:ext cx="546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en-US" sz="1600" dirty="0">
                <a:solidFill>
                  <a:srgbClr val="C9D7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machine-learning models to estimate incident severity and likely impact.</a:t>
            </a:r>
            <a:endParaRPr lang="en-US" sz="1600" dirty="0"/>
          </a:p>
        </p:txBody>
      </p:sp>
      <p:sp>
        <p:nvSpPr>
          <p:cNvPr id="13" name="future-card-3"/>
          <p:cNvSpPr/>
          <p:nvPr/>
        </p:nvSpPr>
        <p:spPr>
          <a:xfrm>
            <a:off x="889000" y="3937000"/>
            <a:ext cx="7112000" cy="1524000"/>
          </a:xfrm>
          <a:prstGeom prst="roundRect">
            <a:avLst>
              <a:gd name="adj" fmla="val 8333"/>
            </a:avLst>
          </a:prstGeom>
          <a:solidFill>
            <a:srgbClr val="0F2C45"/>
          </a:solidFill>
          <a:ln/>
        </p:spPr>
      </p:sp>
      <p:pic>
        <p:nvPicPr>
          <p:cNvPr id="14" name="future-icon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6500" y="4381500"/>
            <a:ext cx="457200" cy="457200"/>
          </a:xfrm>
          <a:prstGeom prst="rect">
            <a:avLst/>
          </a:prstGeom>
        </p:spPr>
      </p:pic>
      <p:sp>
        <p:nvSpPr>
          <p:cNvPr id="15" name="future-head-3"/>
          <p:cNvSpPr/>
          <p:nvPr/>
        </p:nvSpPr>
        <p:spPr>
          <a:xfrm>
            <a:off x="1905000" y="4127500"/>
            <a:ext cx="546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alerting</a:t>
            </a:r>
            <a:endParaRPr lang="en-US" sz="2000" dirty="0"/>
          </a:p>
        </p:txBody>
      </p:sp>
      <p:sp>
        <p:nvSpPr>
          <p:cNvPr id="16" name="future-desc-3"/>
          <p:cNvSpPr/>
          <p:nvPr/>
        </p:nvSpPr>
        <p:spPr>
          <a:xfrm>
            <a:off x="1905000" y="4622800"/>
            <a:ext cx="546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en-US" sz="1600" dirty="0">
                <a:solidFill>
                  <a:srgbClr val="C9D7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Trigger notifications when unusual actor, motive, asset, or time patterns emerge.</a:t>
            </a:r>
            <a:endParaRPr lang="en-US" sz="1600" dirty="0"/>
          </a:p>
        </p:txBody>
      </p:sp>
      <p:sp>
        <p:nvSpPr>
          <p:cNvPr id="17" name="future-card-4"/>
          <p:cNvSpPr/>
          <p:nvPr/>
        </p:nvSpPr>
        <p:spPr>
          <a:xfrm>
            <a:off x="8255000" y="3937000"/>
            <a:ext cx="7112000" cy="1524000"/>
          </a:xfrm>
          <a:prstGeom prst="roundRect">
            <a:avLst>
              <a:gd name="adj" fmla="val 8333"/>
            </a:avLst>
          </a:prstGeom>
          <a:solidFill>
            <a:srgbClr val="0F2C45"/>
          </a:solidFill>
          <a:ln/>
        </p:spPr>
      </p:sp>
      <p:pic>
        <p:nvPicPr>
          <p:cNvPr id="18" name="future-icon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4381500"/>
            <a:ext cx="457200" cy="457200"/>
          </a:xfrm>
          <a:prstGeom prst="rect">
            <a:avLst/>
          </a:prstGeom>
        </p:spPr>
      </p:pic>
      <p:sp>
        <p:nvSpPr>
          <p:cNvPr id="19" name="future-head-4"/>
          <p:cNvSpPr/>
          <p:nvPr/>
        </p:nvSpPr>
        <p:spPr>
          <a:xfrm>
            <a:off x="9271000" y="4127500"/>
            <a:ext cx="546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Drill-through investigation</a:t>
            </a:r>
            <a:endParaRPr lang="en-US" sz="2000" dirty="0"/>
          </a:p>
        </p:txBody>
      </p:sp>
      <p:sp>
        <p:nvSpPr>
          <p:cNvPr id="20" name="future-desc-4"/>
          <p:cNvSpPr/>
          <p:nvPr/>
        </p:nvSpPr>
        <p:spPr>
          <a:xfrm>
            <a:off x="9271000" y="4622800"/>
            <a:ext cx="546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en-US" sz="1600" dirty="0">
                <a:solidFill>
                  <a:srgbClr val="C9D7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 dashboard summaries to incident-level evidence and response playbooks.</a:t>
            </a:r>
            <a:endParaRPr lang="en-US" sz="1600" dirty="0"/>
          </a:p>
        </p:txBody>
      </p:sp>
      <p:sp>
        <p:nvSpPr>
          <p:cNvPr id="21" name="future-insight-rule"/>
          <p:cNvSpPr/>
          <p:nvPr/>
        </p:nvSpPr>
        <p:spPr>
          <a:xfrm>
            <a:off x="889000" y="6223000"/>
            <a:ext cx="14478000" cy="9144"/>
          </a:xfrm>
          <a:prstGeom prst="line">
            <a:avLst/>
          </a:prstGeom>
          <a:ln w="25400">
            <a:solidFill>
              <a:srgbClr val="00E5FF"/>
            </a:solidFill>
            <a:prstDash val="solid"/>
          </a:ln>
        </p:spPr>
      </p:sp>
      <p:sp>
        <p:nvSpPr>
          <p:cNvPr id="22" name="future-insight-head"/>
          <p:cNvSpPr/>
          <p:nvPr/>
        </p:nvSpPr>
        <p:spPr>
          <a:xfrm>
            <a:off x="889000" y="6413500"/>
            <a:ext cx="2921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200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Insights</a:t>
            </a:r>
            <a:endParaRPr lang="en-US" sz="2200" dirty="0"/>
          </a:p>
        </p:txBody>
      </p:sp>
      <p:sp>
        <p:nvSpPr>
          <p:cNvPr id="23" name="future-insight-1"/>
          <p:cNvSpPr/>
          <p:nvPr/>
        </p:nvSpPr>
        <p:spPr>
          <a:xfrm>
            <a:off x="889000" y="6959600"/>
            <a:ext cx="431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en-US" sz="16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r>
              <a:rPr lang="en-US" alt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Clean categorical structure is essential for reliable threat comparisons.</a:t>
            </a:r>
            <a:endParaRPr lang="en-US" sz="1600" dirty="0"/>
          </a:p>
        </p:txBody>
      </p:sp>
      <p:sp>
        <p:nvSpPr>
          <p:cNvPr id="24" name="future-insight-2"/>
          <p:cNvSpPr/>
          <p:nvPr/>
        </p:nvSpPr>
        <p:spPr>
          <a:xfrm>
            <a:off x="5969000" y="6959600"/>
            <a:ext cx="431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en-US" sz="16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r>
              <a:rPr lang="en-US" alt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A repeatable ETL workflow improves trust, refreshability, and auditability.</a:t>
            </a:r>
            <a:endParaRPr lang="en-US" sz="1600" dirty="0"/>
          </a:p>
        </p:txBody>
      </p:sp>
      <p:sp>
        <p:nvSpPr>
          <p:cNvPr id="25" name="future-insight-3"/>
          <p:cNvSpPr/>
          <p:nvPr/>
        </p:nvSpPr>
        <p:spPr>
          <a:xfrm>
            <a:off x="11049000" y="6959600"/>
            <a:ext cx="431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en-US" sz="16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r>
              <a:rPr lang="en-US" alt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The most useful dashboard helps an analyst decide what to investigate next.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c-title-rule"/>
          <p:cNvSpPr/>
          <p:nvPr/>
        </p:nvSpPr>
        <p:spPr>
          <a:xfrm>
            <a:off x="863600" y="990600"/>
            <a:ext cx="63500" cy="431800"/>
          </a:xfrm>
          <a:prstGeom prst="line">
            <a:avLst/>
          </a:prstGeom>
          <a:ln w="63500">
            <a:solidFill>
              <a:srgbClr val="00E5FF"/>
            </a:solidFill>
            <a:prstDash val="solid"/>
          </a:ln>
        </p:spPr>
      </p:sp>
      <p:sp>
        <p:nvSpPr>
          <p:cNvPr id="3" name="conc-title"/>
          <p:cNvSpPr/>
          <p:nvPr/>
        </p:nvSpPr>
        <p:spPr>
          <a:xfrm>
            <a:off x="1117600" y="939800"/>
            <a:ext cx="6604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conc-headline"/>
          <p:cNvSpPr/>
          <p:nvPr/>
        </p:nvSpPr>
        <p:spPr>
          <a:xfrm>
            <a:off x="1117600" y="1714500"/>
            <a:ext cx="13843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Threat Incident Analytics and Security Visualization Framework</a:t>
            </a: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successfully converted a large, noisy cybersecurity dataset into structured threat intelligence and actionable dashboard views.</a:t>
            </a:r>
            <a:endParaRPr lang="en-US" sz="2000" dirty="0"/>
          </a:p>
        </p:txBody>
      </p:sp>
      <p:sp>
        <p:nvSpPr>
          <p:cNvPr id="5" name="conc-card-1"/>
          <p:cNvSpPr/>
          <p:nvPr/>
        </p:nvSpPr>
        <p:spPr>
          <a:xfrm>
            <a:off x="889000" y="2794000"/>
            <a:ext cx="7112000" cy="1524000"/>
          </a:xfrm>
          <a:prstGeom prst="roundRect">
            <a:avLst>
              <a:gd name="adj" fmla="val 8333"/>
            </a:avLst>
          </a:prstGeom>
          <a:solidFill>
            <a:srgbClr val="0F2C45"/>
          </a:solidFill>
          <a:ln/>
        </p:spPr>
      </p:sp>
      <p:pic>
        <p:nvPicPr>
          <p:cNvPr id="6" name="conc-icon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3238500"/>
            <a:ext cx="431800" cy="431800"/>
          </a:xfrm>
          <a:prstGeom prst="rect">
            <a:avLst/>
          </a:prstGeom>
        </p:spPr>
      </p:pic>
      <p:sp>
        <p:nvSpPr>
          <p:cNvPr id="7" name="conc-text-1"/>
          <p:cNvSpPr/>
          <p:nvPr/>
        </p:nvSpPr>
        <p:spPr>
          <a:xfrm>
            <a:off x="1879600" y="3022600"/>
            <a:ext cx="55880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en-US" sz="17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impact</a:t>
            </a:r>
            <a:endParaRPr lang="en-US" sz="1700" dirty="0"/>
          </a:p>
          <a:p>
            <a:pPr marL="0" indent="0" algn="l">
              <a:buNone/>
            </a:pPr>
            <a:r>
              <a:rPr lang="en-US" alt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Strengthened practical capability in cybersecurity analytics, Power Query, data preparation, and visualization.</a:t>
            </a:r>
            <a:endParaRPr lang="en-US" sz="1700" dirty="0"/>
          </a:p>
        </p:txBody>
      </p:sp>
      <p:sp>
        <p:nvSpPr>
          <p:cNvPr id="8" name="conc-card-2"/>
          <p:cNvSpPr/>
          <p:nvPr/>
        </p:nvSpPr>
        <p:spPr>
          <a:xfrm>
            <a:off x="8255000" y="2794000"/>
            <a:ext cx="7112000" cy="1524000"/>
          </a:xfrm>
          <a:prstGeom prst="roundRect">
            <a:avLst>
              <a:gd name="adj" fmla="val 8333"/>
            </a:avLst>
          </a:prstGeom>
          <a:solidFill>
            <a:srgbClr val="0F2C45"/>
          </a:solidFill>
          <a:ln/>
        </p:spPr>
      </p:sp>
      <p:pic>
        <p:nvPicPr>
          <p:cNvPr id="9" name="conc-icon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5200" y="3238500"/>
            <a:ext cx="431800" cy="431800"/>
          </a:xfrm>
          <a:prstGeom prst="rect">
            <a:avLst/>
          </a:prstGeom>
        </p:spPr>
      </p:pic>
      <p:sp>
        <p:nvSpPr>
          <p:cNvPr id="10" name="conc-text-2"/>
          <p:cNvSpPr/>
          <p:nvPr/>
        </p:nvSpPr>
        <p:spPr>
          <a:xfrm>
            <a:off x="9245600" y="3022600"/>
            <a:ext cx="55880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en-US" sz="17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impact</a:t>
            </a:r>
            <a:endParaRPr lang="en-US" sz="1700" dirty="0"/>
          </a:p>
          <a:p>
            <a:pPr marL="0" indent="0" algn="l">
              <a:buNone/>
            </a:pPr>
            <a:r>
              <a:rPr lang="en-US" alt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Established a clean and modeled dataset ready for machine-learning experiments and interactive reporting.</a:t>
            </a:r>
            <a:endParaRPr lang="en-US" sz="1700" dirty="0"/>
          </a:p>
        </p:txBody>
      </p:sp>
      <p:sp>
        <p:nvSpPr>
          <p:cNvPr id="11" name="conc-card-3"/>
          <p:cNvSpPr/>
          <p:nvPr/>
        </p:nvSpPr>
        <p:spPr>
          <a:xfrm>
            <a:off x="889000" y="4572000"/>
            <a:ext cx="7112000" cy="1524000"/>
          </a:xfrm>
          <a:prstGeom prst="roundRect">
            <a:avLst>
              <a:gd name="adj" fmla="val 8333"/>
            </a:avLst>
          </a:prstGeom>
          <a:solidFill>
            <a:srgbClr val="0F2C45"/>
          </a:solidFill>
          <a:ln/>
        </p:spPr>
      </p:sp>
      <p:pic>
        <p:nvPicPr>
          <p:cNvPr id="12" name="conc-icon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" y="5016500"/>
            <a:ext cx="431800" cy="431800"/>
          </a:xfrm>
          <a:prstGeom prst="rect">
            <a:avLst/>
          </a:prstGeom>
        </p:spPr>
      </p:pic>
      <p:sp>
        <p:nvSpPr>
          <p:cNvPr id="13" name="conc-text-3"/>
          <p:cNvSpPr/>
          <p:nvPr/>
        </p:nvSpPr>
        <p:spPr>
          <a:xfrm>
            <a:off x="1879600" y="4800600"/>
            <a:ext cx="55880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en-US" sz="17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Industry relevance</a:t>
            </a:r>
            <a:endParaRPr lang="en-US" sz="1700" dirty="0"/>
          </a:p>
          <a:p>
            <a:pPr marL="0" indent="0" algn="l">
              <a:buNone/>
            </a:pPr>
            <a:r>
              <a:rPr lang="en-US" alt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Demonstrated how organizations can move from raw telemetry to faster, evidence-based security decisions.</a:t>
            </a:r>
            <a:endParaRPr lang="en-US" sz="1700" dirty="0"/>
          </a:p>
        </p:txBody>
      </p:sp>
      <p:sp>
        <p:nvSpPr>
          <p:cNvPr id="14" name="conc-card-4"/>
          <p:cNvSpPr/>
          <p:nvPr/>
        </p:nvSpPr>
        <p:spPr>
          <a:xfrm>
            <a:off x="8255000" y="4572000"/>
            <a:ext cx="7112000" cy="1524000"/>
          </a:xfrm>
          <a:prstGeom prst="roundRect">
            <a:avLst>
              <a:gd name="adj" fmla="val 8333"/>
            </a:avLst>
          </a:prstGeom>
          <a:solidFill>
            <a:srgbClr val="0F2C45"/>
          </a:solidFill>
          <a:ln/>
        </p:spPr>
      </p:sp>
      <p:pic>
        <p:nvPicPr>
          <p:cNvPr id="15" name="conc-icon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5200" y="5016500"/>
            <a:ext cx="431800" cy="431800"/>
          </a:xfrm>
          <a:prstGeom prst="rect">
            <a:avLst/>
          </a:prstGeom>
        </p:spPr>
      </p:pic>
      <p:sp>
        <p:nvSpPr>
          <p:cNvPr id="16" name="conc-text-4"/>
          <p:cNvSpPr/>
          <p:nvPr/>
        </p:nvSpPr>
        <p:spPr>
          <a:xfrm>
            <a:off x="9245600" y="4800600"/>
            <a:ext cx="55880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en-US" sz="17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Overall conclusion</a:t>
            </a:r>
            <a:endParaRPr lang="en-US" sz="1700" dirty="0"/>
          </a:p>
          <a:p>
            <a:pPr marL="0" indent="0" algn="l">
              <a:buNone/>
            </a:pPr>
            <a:r>
              <a:rPr lang="en-US" alt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framework bridges data engineering, threat analysis, and security communication in one coherent workflow.</a:t>
            </a:r>
            <a:endParaRPr lang="en-US" sz="1700" dirty="0"/>
          </a:p>
        </p:txBody>
      </p:sp>
      <p:sp>
        <p:nvSpPr>
          <p:cNvPr id="17" name="conc-impact"/>
          <p:cNvSpPr/>
          <p:nvPr/>
        </p:nvSpPr>
        <p:spPr>
          <a:xfrm>
            <a:off x="889000" y="6921500"/>
            <a:ext cx="14478000" cy="1143000"/>
          </a:xfrm>
          <a:prstGeom prst="roundRect">
            <a:avLst>
              <a:gd name="adj" fmla="val 8889"/>
            </a:avLst>
          </a:prstGeom>
          <a:solidFill>
            <a:srgbClr val="10334B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8" name="conc-impact-text"/>
          <p:cNvSpPr/>
          <p:nvPr/>
        </p:nvSpPr>
        <p:spPr>
          <a:xfrm>
            <a:off x="1219200" y="6921500"/>
            <a:ext cx="1381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altLang="en-US" sz="20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impact:</a:t>
            </a: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project turns raw, chaotic incident records into a trusted analytical foundation for faster, more accurate mitigation decisions.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k-title-rule"/>
          <p:cNvSpPr/>
          <p:nvPr/>
        </p:nvSpPr>
        <p:spPr>
          <a:xfrm>
            <a:off x="863600" y="990600"/>
            <a:ext cx="63500" cy="431800"/>
          </a:xfrm>
          <a:prstGeom prst="line">
            <a:avLst/>
          </a:prstGeom>
          <a:ln w="63500">
            <a:solidFill>
              <a:srgbClr val="00E5FF"/>
            </a:solidFill>
            <a:prstDash val="solid"/>
          </a:ln>
        </p:spPr>
      </p:sp>
      <p:sp>
        <p:nvSpPr>
          <p:cNvPr id="3" name="ack-title"/>
          <p:cNvSpPr/>
          <p:nvPr/>
        </p:nvSpPr>
        <p:spPr>
          <a:xfrm>
            <a:off x="1117600" y="939800"/>
            <a:ext cx="10922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Acknowledgements and References</a:t>
            </a:r>
            <a:endParaRPr lang="en-US" sz="3000" dirty="0"/>
          </a:p>
        </p:txBody>
      </p:sp>
      <p:sp>
        <p:nvSpPr>
          <p:cNvPr id="4" name="ack-subtitle"/>
          <p:cNvSpPr/>
          <p:nvPr/>
        </p:nvSpPr>
        <p:spPr>
          <a:xfrm>
            <a:off x="1117600" y="1524000"/>
            <a:ext cx="1320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700" dirty="0">
                <a:solidFill>
                  <a:srgbClr val="C9D7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 to the people, program, and public resources that supported this project.</a:t>
            </a:r>
            <a:endParaRPr lang="en-US" sz="1700" dirty="0"/>
          </a:p>
        </p:txBody>
      </p:sp>
      <p:sp>
        <p:nvSpPr>
          <p:cNvPr id="5" name="ack-card"/>
          <p:cNvSpPr/>
          <p:nvPr/>
        </p:nvSpPr>
        <p:spPr>
          <a:xfrm>
            <a:off x="889000" y="2159000"/>
            <a:ext cx="6858000" cy="4699000"/>
          </a:xfrm>
          <a:prstGeom prst="roundRect">
            <a:avLst>
              <a:gd name="adj" fmla="val 2703"/>
            </a:avLst>
          </a:prstGeom>
          <a:solidFill>
            <a:srgbClr val="0F2C45"/>
          </a:solidFill>
          <a:ln w="12700">
            <a:solidFill>
              <a:srgbClr val="1C5068"/>
            </a:solidFill>
            <a:prstDash val="solid"/>
          </a:ln>
        </p:spPr>
      </p:sp>
      <p:pic>
        <p:nvPicPr>
          <p:cNvPr id="6" name="ack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600" y="2514600"/>
            <a:ext cx="457200" cy="457200"/>
          </a:xfrm>
          <a:prstGeom prst="rect">
            <a:avLst/>
          </a:prstGeom>
        </p:spPr>
      </p:pic>
      <p:sp>
        <p:nvSpPr>
          <p:cNvPr id="7" name="ack-head"/>
          <p:cNvSpPr/>
          <p:nvPr/>
        </p:nvSpPr>
        <p:spPr>
          <a:xfrm>
            <a:off x="1905000" y="24638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Acknowledgements</a:t>
            </a:r>
            <a:endParaRPr lang="en-US" sz="2400" dirty="0"/>
          </a:p>
        </p:txBody>
      </p:sp>
      <p:sp>
        <p:nvSpPr>
          <p:cNvPr id="8" name="ack-rule"/>
          <p:cNvSpPr/>
          <p:nvPr/>
        </p:nvSpPr>
        <p:spPr>
          <a:xfrm>
            <a:off x="1244600" y="3149600"/>
            <a:ext cx="5969000" cy="9144"/>
          </a:xfrm>
          <a:prstGeom prst="line">
            <a:avLst/>
          </a:prstGeom>
          <a:ln w="25400">
            <a:solidFill>
              <a:srgbClr val="00E5FF"/>
            </a:solidFill>
            <a:prstDash val="solid"/>
          </a:ln>
        </p:spPr>
      </p:sp>
      <p:sp>
        <p:nvSpPr>
          <p:cNvPr id="9" name="ack-body"/>
          <p:cNvSpPr/>
          <p:nvPr/>
        </p:nvSpPr>
        <p:spPr>
          <a:xfrm>
            <a:off x="1244600" y="3492500"/>
            <a:ext cx="59436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ts val="2610"/>
              </a:lnSpc>
              <a:buNone/>
            </a:pPr>
            <a:r>
              <a:rPr lang="en-US" altLang="en-US" sz="1800" dirty="0">
                <a:solidFill>
                  <a:srgbClr val="D7E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would like to express my heartfelt gratitude to:</a:t>
            </a:r>
            <a:endParaRPr lang="en-US" sz="1800" dirty="0"/>
          </a:p>
          <a:p>
            <a:pPr marL="285750" indent="-285750" algn="l">
              <a:lnSpc>
                <a:spcPts val="261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8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Infosys Springboard</a:t>
            </a:r>
            <a:r>
              <a:rPr lang="en-US" altLang="en-US" sz="1800" dirty="0">
                <a:solidFill>
                  <a:srgbClr val="D7E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the Virtual Internship 7.0 program.</a:t>
            </a:r>
          </a:p>
          <a:p>
            <a:pPr marL="285750" indent="-285750">
              <a:lnSpc>
                <a:spcPts val="2610"/>
              </a:lnSpc>
              <a:spcBef>
                <a:spcPts val="10"/>
              </a:spcBef>
              <a:buSzPct val="100000"/>
              <a:buChar char="•"/>
            </a:pPr>
            <a:r>
              <a:rPr lang="en-IN" dirty="0"/>
              <a:t>I sincerely thank the </a:t>
            </a:r>
            <a:r>
              <a:rPr lang="en-IN" b="1" dirty="0"/>
              <a:t>Infosys Springboard Team</a:t>
            </a:r>
            <a:r>
              <a:rPr lang="en-IN" dirty="0"/>
              <a:t> for this structured internship and our mentor, </a:t>
            </a:r>
            <a:r>
              <a:rPr lang="en-IN" b="1" dirty="0"/>
              <a:t>Ms. Nityasree</a:t>
            </a:r>
            <a:r>
              <a:rPr lang="en-IN" dirty="0"/>
              <a:t>, for her invaluable guidance. I  appreciate my </a:t>
            </a:r>
            <a:r>
              <a:rPr lang="en-IN" b="1" dirty="0"/>
              <a:t>team members</a:t>
            </a:r>
            <a:r>
              <a:rPr lang="en-IN" dirty="0"/>
              <a:t> for their excellent collaboration. Thanks also to the </a:t>
            </a:r>
            <a:r>
              <a:rPr lang="en-IN" b="1" dirty="0"/>
              <a:t>Power BI community</a:t>
            </a:r>
            <a:r>
              <a:rPr lang="en-IN" dirty="0"/>
              <a:t> and </a:t>
            </a:r>
            <a:r>
              <a:rPr lang="en-IN" b="1" dirty="0"/>
              <a:t>Kaggle</a:t>
            </a:r>
            <a:r>
              <a:rPr lang="en-IN" dirty="0"/>
              <a:t> for essential tools and data. This experience significantly enhanced our technical skills and analytical mindset.</a:t>
            </a:r>
            <a:endParaRPr lang="en-US" altLang="en-US" sz="1800" dirty="0">
              <a:solidFill>
                <a:srgbClr val="D7E2EC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</p:txBody>
      </p:sp>
      <p:sp>
        <p:nvSpPr>
          <p:cNvPr id="10" name="ref-card"/>
          <p:cNvSpPr/>
          <p:nvPr/>
        </p:nvSpPr>
        <p:spPr>
          <a:xfrm>
            <a:off x="8255000" y="2159000"/>
            <a:ext cx="6858000" cy="4699000"/>
          </a:xfrm>
          <a:prstGeom prst="roundRect">
            <a:avLst>
              <a:gd name="adj" fmla="val 2703"/>
            </a:avLst>
          </a:prstGeom>
          <a:solidFill>
            <a:srgbClr val="0F2C45"/>
          </a:solidFill>
          <a:ln w="12700">
            <a:solidFill>
              <a:srgbClr val="1C5068"/>
            </a:solidFill>
            <a:prstDash val="solid"/>
          </a:ln>
        </p:spPr>
      </p:sp>
      <p:pic>
        <p:nvPicPr>
          <p:cNvPr id="11" name="ref-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600" y="2514600"/>
            <a:ext cx="457200" cy="457200"/>
          </a:xfrm>
          <a:prstGeom prst="rect">
            <a:avLst/>
          </a:prstGeom>
        </p:spPr>
      </p:pic>
      <p:sp>
        <p:nvSpPr>
          <p:cNvPr id="12" name="ref-head"/>
          <p:cNvSpPr/>
          <p:nvPr/>
        </p:nvSpPr>
        <p:spPr>
          <a:xfrm>
            <a:off x="9271000" y="24638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13" name="ref-rule"/>
          <p:cNvSpPr/>
          <p:nvPr/>
        </p:nvSpPr>
        <p:spPr>
          <a:xfrm>
            <a:off x="8610600" y="3149600"/>
            <a:ext cx="5969000" cy="9144"/>
          </a:xfrm>
          <a:prstGeom prst="line">
            <a:avLst/>
          </a:prstGeom>
          <a:ln w="25400">
            <a:solidFill>
              <a:srgbClr val="00E5FF"/>
            </a:solidFill>
            <a:prstDash val="solid"/>
          </a:ln>
        </p:spPr>
      </p:sp>
      <p:sp>
        <p:nvSpPr>
          <p:cNvPr id="14" name="ref-body"/>
          <p:cNvSpPr/>
          <p:nvPr/>
        </p:nvSpPr>
        <p:spPr>
          <a:xfrm>
            <a:off x="8610600" y="3454400"/>
            <a:ext cx="5943600" cy="294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8125" indent="-238125" algn="l">
              <a:lnSpc>
                <a:spcPts val="2175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altLang="en-US" sz="1500" u="sng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VERIS Framework — The VERIS Community Database (VCDB)</a:t>
            </a:r>
            <a:endParaRPr lang="en-US" sz="1500" dirty="0"/>
          </a:p>
          <a:p>
            <a:pPr marL="238125" indent="-238125" algn="l">
              <a:lnSpc>
                <a:spcPts val="2175"/>
              </a:lnSpc>
              <a:spcBef>
                <a:spcPts val="10"/>
              </a:spcBef>
              <a:buSzPct val="100000"/>
              <a:buFont typeface="+mj-lt"/>
              <a:buAutoNum type="arabicPeriod" startAt="2"/>
            </a:pPr>
            <a:r>
              <a:rPr lang="en-US" altLang="en-US" sz="1500" u="sng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Kaggle — VCDB Dataset</a:t>
            </a:r>
            <a:endParaRPr lang="en-US" sz="1500" dirty="0"/>
          </a:p>
          <a:p>
            <a:pPr marL="238125" indent="-238125" algn="l">
              <a:lnSpc>
                <a:spcPts val="2175"/>
              </a:lnSpc>
              <a:spcBef>
                <a:spcPts val="10"/>
              </a:spcBef>
              <a:buSzPct val="100000"/>
              <a:buFont typeface="+mj-lt"/>
              <a:buAutoNum type="arabicPeriod" startAt="3"/>
            </a:pPr>
            <a:r>
              <a:rPr lang="en-US" altLang="en-US" sz="1500" u="sng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Microsoft Learn — What is Power Query?</a:t>
            </a:r>
            <a:endParaRPr lang="en-US" sz="1500" dirty="0"/>
          </a:p>
        </p:txBody>
      </p:sp>
      <p:sp>
        <p:nvSpPr>
          <p:cNvPr id="15" name="ack-footer-rule"/>
          <p:cNvSpPr/>
          <p:nvPr/>
        </p:nvSpPr>
        <p:spPr>
          <a:xfrm>
            <a:off x="1117600" y="7683500"/>
            <a:ext cx="14020800" cy="9144"/>
          </a:xfrm>
          <a:prstGeom prst="line">
            <a:avLst/>
          </a:prstGeom>
          <a:ln w="12700">
            <a:solidFill>
              <a:srgbClr val="1C5068"/>
            </a:solidFill>
            <a:prstDash val="solid"/>
          </a:ln>
        </p:spPr>
      </p:sp>
      <p:sp>
        <p:nvSpPr>
          <p:cNvPr id="16" name="ack-footer"/>
          <p:cNvSpPr/>
          <p:nvPr/>
        </p:nvSpPr>
        <p:spPr>
          <a:xfrm>
            <a:off x="1117600" y="7823200"/>
            <a:ext cx="14020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-header"/>
          <p:cNvSpPr/>
          <p:nvPr/>
        </p:nvSpPr>
        <p:spPr>
          <a:xfrm>
            <a:off x="0" y="0"/>
            <a:ext cx="16256000" cy="11684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ty-internship"/>
          <p:cNvSpPr/>
          <p:nvPr/>
        </p:nvSpPr>
        <p:spPr>
          <a:xfrm>
            <a:off x="660400" y="3810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0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Virtual Internship 7.0</a:t>
            </a:r>
            <a:endParaRPr lang="en-US" sz="2000" dirty="0"/>
          </a:p>
        </p:txBody>
      </p:sp>
      <p:sp>
        <p:nvSpPr>
          <p:cNvPr id="4" name="ty-org"/>
          <p:cNvSpPr/>
          <p:nvPr/>
        </p:nvSpPr>
        <p:spPr>
          <a:xfrm>
            <a:off x="9652000" y="355600"/>
            <a:ext cx="59436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800" dirty="0">
                <a:solidFill>
                  <a:srgbClr val="1E6F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Infosys  |  Springboard</a:t>
            </a:r>
            <a:endParaRPr lang="en-US" sz="1800" dirty="0"/>
          </a:p>
        </p:txBody>
      </p:sp>
      <p:sp>
        <p:nvSpPr>
          <p:cNvPr id="5" name="ty-glow"/>
          <p:cNvSpPr/>
          <p:nvPr/>
        </p:nvSpPr>
        <p:spPr>
          <a:xfrm>
            <a:off x="1092200" y="2032000"/>
            <a:ext cx="2540000" cy="2540000"/>
          </a:xfrm>
          <a:prstGeom prst="ellipse">
            <a:avLst/>
          </a:prstGeom>
          <a:solidFill>
            <a:srgbClr val="00E5FF">
              <a:alpha val="2000"/>
            </a:srgbClr>
          </a:solidFill>
          <a:ln/>
        </p:spPr>
      </p:sp>
      <p:sp>
        <p:nvSpPr>
          <p:cNvPr id="6" name="ty-main"/>
          <p:cNvSpPr/>
          <p:nvPr/>
        </p:nvSpPr>
        <p:spPr>
          <a:xfrm>
            <a:off x="2032000" y="3022600"/>
            <a:ext cx="12192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altLang="en-US" sz="5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7" name="ty-underline"/>
          <p:cNvSpPr/>
          <p:nvPr/>
        </p:nvSpPr>
        <p:spPr>
          <a:xfrm>
            <a:off x="6794500" y="4445000"/>
            <a:ext cx="2667000" cy="9144"/>
          </a:xfrm>
          <a:prstGeom prst="line">
            <a:avLst/>
          </a:prstGeom>
          <a:ln w="50800">
            <a:solidFill>
              <a:srgbClr val="00E5FF"/>
            </a:solidFill>
            <a:prstDash val="solid"/>
          </a:ln>
        </p:spPr>
      </p:sp>
      <p:sp>
        <p:nvSpPr>
          <p:cNvPr id="8" name="ty-project"/>
          <p:cNvSpPr/>
          <p:nvPr/>
        </p:nvSpPr>
        <p:spPr>
          <a:xfrm>
            <a:off x="2286000" y="4965357"/>
            <a:ext cx="1168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/>
            <a:r>
              <a:rPr lang="en-IN" sz="3200" b="1" dirty="0">
                <a:solidFill>
                  <a:schemeClr val="bg1">
                    <a:lumMod val="75000"/>
                  </a:schemeClr>
                </a:solidFill>
                <a:highlight>
                  <a:srgbClr val="C0C0C0"/>
                </a:highlight>
                <a:latin typeface="Agency FB" panose="020B0503020202020204" pitchFamily="34" charset="0"/>
              </a:rPr>
              <a:t>Cyber Threat Analytics Platform with Incident Visualization System</a:t>
            </a:r>
          </a:p>
        </p:txBody>
      </p:sp>
      <p:sp>
        <p:nvSpPr>
          <p:cNvPr id="9" name="ty-mentor"/>
          <p:cNvSpPr/>
          <p:nvPr/>
        </p:nvSpPr>
        <p:spPr>
          <a:xfrm>
            <a:off x="2286000" y="5562600"/>
            <a:ext cx="1168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</TotalTime>
  <Words>1233</Words>
  <Application>Microsoft Office PowerPoint</Application>
  <PresentationFormat>Custom</PresentationFormat>
  <Paragraphs>138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Inter</vt:lpstr>
      <vt:lpstr>Algerian</vt:lpstr>
      <vt:lpstr>Agency FB</vt:lpstr>
      <vt:lpstr>Arial Nova Light</vt:lpstr>
      <vt:lpstr>Arial</vt:lpstr>
      <vt:lpstr>Aptos</vt:lpstr>
      <vt:lpstr>Dark Gradient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Threat Incident Analytics and Security Visualization Framework</dc:title>
  <dc:subject>Advanced Threat Incident Analytics and Security Visualization Framework</dc:subject>
  <dc:creator>Manus</dc:creator>
  <cp:lastModifiedBy>jai krishna</cp:lastModifiedBy>
  <cp:revision>8</cp:revision>
  <dcterms:created xsi:type="dcterms:W3CDTF">2026-08-16T15:59:45Z</dcterms:created>
  <dcterms:modified xsi:type="dcterms:W3CDTF">2026-08-25T15:50:21Z</dcterms:modified>
</cp:coreProperties>
</file>