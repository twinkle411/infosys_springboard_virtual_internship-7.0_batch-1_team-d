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13.fntdata" ContentType="application/x-fontdata"/>
  <Override PartName="/ppt/fonts/font14.fntdata" ContentType="application/x-fontdata"/>
  <Override PartName="/ppt/fonts/font15.fntdata" ContentType="application/x-fontdata"/>
  <Override PartName="/ppt/fonts/font16.fntdata" ContentType="application/x-fontdata"/>
  <Override PartName="/ppt/fonts/font17.fntdata" ContentType="application/x-fontdata"/>
  <Override PartName="/ppt/fonts/font18.fntdata" ContentType="application/x-fontdata"/>
  <Override PartName="/ppt/fonts/font19.fntdata" ContentType="application/x-fontdata"/>
  <Override PartName="/ppt/fonts/font2.fntdata" ContentType="application/x-fontdata"/>
  <Override PartName="/ppt/fonts/font20.fntdata" ContentType="application/x-fontdata"/>
  <Override PartName="/ppt/fonts/font21.fntdata" ContentType="application/x-fontdata"/>
  <Override PartName="/ppt/fonts/font22.fntdata" ContentType="application/x-fontdata"/>
  <Override PartName="/ppt/fonts/font23.fntdata" ContentType="application/x-fontdata"/>
  <Override PartName="/ppt/fonts/font24.fntdata" ContentType="application/x-fontdata"/>
  <Override PartName="/ppt/fonts/font25.fntdata" ContentType="application/x-fontdata"/>
  <Override PartName="/ppt/fonts/font26.fntdata" ContentType="application/x-fontdata"/>
  <Override PartName="/ppt/fonts/font27.fntdata" ContentType="application/x-fontdata"/>
  <Override PartName="/ppt/fonts/font28.fntdata" ContentType="application/x-fontdata"/>
  <Override PartName="/ppt/fonts/font29.fntdata" ContentType="application/x-fontdata"/>
  <Override PartName="/ppt/fonts/font3.fntdata" ContentType="application/x-fontdata"/>
  <Override PartName="/ppt/fonts/font30.fntdata" ContentType="application/x-fontdata"/>
  <Override PartName="/ppt/fonts/font31.fntdata" ContentType="application/x-fontdata"/>
  <Override PartName="/ppt/fonts/font32.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
  </p:notesMasterIdLst>
  <p:sldIdLst>
    <p:sldId id="264" r:id="rId3"/>
    <p:sldId id="257" r:id="rId5"/>
    <p:sldId id="258" r:id="rId6"/>
    <p:sldId id="266" r:id="rId7"/>
    <p:sldId id="267" r:id="rId8"/>
    <p:sldId id="268" r:id="rId9"/>
    <p:sldId id="270" r:id="rId10"/>
    <p:sldId id="269" r:id="rId11"/>
    <p:sldId id="271" r:id="rId12"/>
    <p:sldId id="272" r:id="rId13"/>
    <p:sldId id="273" r:id="rId14"/>
    <p:sldId id="259" r:id="rId15"/>
    <p:sldId id="260" r:id="rId16"/>
    <p:sldId id="261" r:id="rId17"/>
    <p:sldId id="262" r:id="rId18"/>
    <p:sldId id="263" r:id="rId19"/>
  </p:sldIdLst>
  <p:sldSz cx="16256000" cy="9144000"/>
  <p:notesSz cx="9144000" cy="16256000"/>
  <p:embeddedFontLst>
    <p:embeddedFont>
      <p:font typeface="Outfit" pitchFamily="34" charset="0"/>
      <p:regular r:id="rId23"/>
    </p:embeddedFont>
    <p:embeddedFont>
      <p:font typeface="Outfit" pitchFamily="34" charset="-122"/>
      <p:regular r:id="rId24"/>
    </p:embeddedFont>
    <p:embeddedFont>
      <p:font typeface="Outfit" pitchFamily="34" charset="-120"/>
      <p:regular r:id="rId25"/>
    </p:embeddedFont>
    <p:embeddedFont>
      <p:font typeface="Calibri" panose="020F0502020204030204" charset="0"/>
      <p:regular r:id="rId26"/>
      <p:bold r:id="rId27"/>
      <p:italic r:id="rId28"/>
      <p:boldItalic r:id="rId29"/>
    </p:embeddedFont>
    <p:embeddedFont>
      <p:font typeface="Calibri" panose="020F0502020204030204" pitchFamily="34" charset="-122"/>
      <p:regular r:id="rId30"/>
      <p:bold r:id="rId31"/>
      <p:italic r:id="rId32"/>
      <p:boldItalic r:id="rId33"/>
    </p:embeddedFont>
    <p:embeddedFont>
      <p:font typeface="Calibri" panose="020F0502020204030204" pitchFamily="34" charset="-120"/>
      <p:regular r:id="rId34"/>
      <p:bold r:id="rId35"/>
      <p:italic r:id="rId36"/>
      <p:boldItalic r:id="rId37"/>
    </p:embeddedFont>
    <p:embeddedFont>
      <p:font typeface="Britannic Bold" panose="020B0903060703020204" charset="0"/>
      <p:regular r:id="rId38"/>
    </p:embeddedFont>
    <p:embeddedFont>
      <p:font typeface="Corbel" panose="020B0503020204020204" pitchFamily="34" charset="-122"/>
      <p:regular r:id="rId39"/>
      <p:bold r:id="rId40"/>
      <p:italic r:id="rId41"/>
      <p:boldItalic r:id="rId42"/>
    </p:embeddedFont>
    <p:embeddedFont>
      <p:font typeface="Corbel" panose="020B0503020204020204" pitchFamily="34" charset="0"/>
      <p:regular r:id="rId43"/>
      <p:bold r:id="rId44"/>
      <p:italic r:id="rId45"/>
      <p:boldItalic r:id="rId46"/>
    </p:embeddedFont>
    <p:embeddedFont>
      <p:font typeface="Corbel" panose="020B0503020204020204" pitchFamily="34" charset="-120"/>
      <p:regular r:id="rId47"/>
      <p:bold r:id="rId48"/>
      <p:italic r:id="rId49"/>
      <p:boldItalic r:id="rId50"/>
    </p:embeddedFont>
    <p:embeddedFont>
      <p:font typeface="Cambria" panose="02040503050406030204" charset="0"/>
      <p:regular r:id="rId51"/>
      <p:bold r:id="rId52"/>
      <p:italic r:id="rId53"/>
      <p:boldItalic r:id="rId5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4" Type="http://schemas.openxmlformats.org/officeDocument/2006/relationships/font" Target="fonts/font32.fntdata"/><Relationship Id="rId53" Type="http://schemas.openxmlformats.org/officeDocument/2006/relationships/font" Target="fonts/font31.fntdata"/><Relationship Id="rId52" Type="http://schemas.openxmlformats.org/officeDocument/2006/relationships/font" Target="fonts/font30.fntdata"/><Relationship Id="rId51" Type="http://schemas.openxmlformats.org/officeDocument/2006/relationships/font" Target="fonts/font29.fntdata"/><Relationship Id="rId50" Type="http://schemas.openxmlformats.org/officeDocument/2006/relationships/font" Target="fonts/font28.fntdata"/><Relationship Id="rId5" Type="http://schemas.openxmlformats.org/officeDocument/2006/relationships/slide" Target="slides/slide2.xml"/><Relationship Id="rId49" Type="http://schemas.openxmlformats.org/officeDocument/2006/relationships/font" Target="fonts/font27.fntdata"/><Relationship Id="rId48" Type="http://schemas.openxmlformats.org/officeDocument/2006/relationships/font" Target="fonts/font26.fntdata"/><Relationship Id="rId47" Type="http://schemas.openxmlformats.org/officeDocument/2006/relationships/font" Target="fonts/font25.fntdata"/><Relationship Id="rId46" Type="http://schemas.openxmlformats.org/officeDocument/2006/relationships/font" Target="fonts/font24.fntdata"/><Relationship Id="rId45" Type="http://schemas.openxmlformats.org/officeDocument/2006/relationships/font" Target="fonts/font23.fntdata"/><Relationship Id="rId44" Type="http://schemas.openxmlformats.org/officeDocument/2006/relationships/font" Target="fonts/font22.fntdata"/><Relationship Id="rId43" Type="http://schemas.openxmlformats.org/officeDocument/2006/relationships/font" Target="fonts/font21.fntdata"/><Relationship Id="rId42" Type="http://schemas.openxmlformats.org/officeDocument/2006/relationships/font" Target="fonts/font20.fntdata"/><Relationship Id="rId41" Type="http://schemas.openxmlformats.org/officeDocument/2006/relationships/font" Target="fonts/font19.fntdata"/><Relationship Id="rId40" Type="http://schemas.openxmlformats.org/officeDocument/2006/relationships/font" Target="fonts/font18.fntdata"/><Relationship Id="rId4" Type="http://schemas.openxmlformats.org/officeDocument/2006/relationships/notesMaster" Target="notesMasters/notesMaster1.xml"/><Relationship Id="rId39" Type="http://schemas.openxmlformats.org/officeDocument/2006/relationships/font" Target="fonts/font17.fntdata"/><Relationship Id="rId38" Type="http://schemas.openxmlformats.org/officeDocument/2006/relationships/font" Target="fonts/font16.fntdata"/><Relationship Id="rId37" Type="http://schemas.openxmlformats.org/officeDocument/2006/relationships/font" Target="fonts/font15.fntdata"/><Relationship Id="rId36" Type="http://schemas.openxmlformats.org/officeDocument/2006/relationships/font" Target="fonts/font14.fntdata"/><Relationship Id="rId35" Type="http://schemas.openxmlformats.org/officeDocument/2006/relationships/font" Target="fonts/font13.fntdata"/><Relationship Id="rId34" Type="http://schemas.openxmlformats.org/officeDocument/2006/relationships/font" Target="fonts/font12.fntdata"/><Relationship Id="rId33" Type="http://schemas.openxmlformats.org/officeDocument/2006/relationships/font" Target="fonts/font11.fntdata"/><Relationship Id="rId32" Type="http://schemas.openxmlformats.org/officeDocument/2006/relationships/font" Target="fonts/font10.fntdata"/><Relationship Id="rId31" Type="http://schemas.openxmlformats.org/officeDocument/2006/relationships/font" Target="fonts/font9.fntdata"/><Relationship Id="rId30" Type="http://schemas.openxmlformats.org/officeDocument/2006/relationships/font" Target="fonts/font8.fntdata"/><Relationship Id="rId3" Type="http://schemas.openxmlformats.org/officeDocument/2006/relationships/slide" Target="slides/slide1.xml"/><Relationship Id="rId29" Type="http://schemas.openxmlformats.org/officeDocument/2006/relationships/font" Target="fonts/font7.fntdata"/><Relationship Id="rId28" Type="http://schemas.openxmlformats.org/officeDocument/2006/relationships/font" Target="fonts/font6.fntdata"/><Relationship Id="rId27" Type="http://schemas.openxmlformats.org/officeDocument/2006/relationships/font" Target="fonts/font5.fntdata"/><Relationship Id="rId26" Type="http://schemas.openxmlformats.org/officeDocument/2006/relationships/font" Target="fonts/font4.fntdata"/><Relationship Id="rId25" Type="http://schemas.openxmlformats.org/officeDocument/2006/relationships/font" Target="fonts/font3.fntdata"/><Relationship Id="rId24" Type="http://schemas.openxmlformats.org/officeDocument/2006/relationships/font" Target="fonts/font2.fntdata"/><Relationship Id="rId23" Type="http://schemas.openxmlformats.org/officeDocument/2006/relationships/font" Target="fonts/font1.fntdata"/><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02336" y="280152"/>
            <a:ext cx="2345717" cy="487680"/>
          </a:xfrm>
        </p:spPr>
        <p:txBody>
          <a:bodyPr/>
          <a:lstStyle/>
          <a:p>
            <a:endParaRPr lang="en-IN"/>
          </a:p>
        </p:txBody>
      </p:sp>
      <p:sp>
        <p:nvSpPr>
          <p:cNvPr id="3" name="Footer Placeholder 2"/>
          <p:cNvSpPr>
            <a:spLocks noGrp="1"/>
          </p:cNvSpPr>
          <p:nvPr>
            <p:ph type="ftr" sz="quarter" idx="11"/>
          </p:nvPr>
        </p:nvSpPr>
        <p:spPr>
          <a:xfrm>
            <a:off x="10163313" y="280152"/>
            <a:ext cx="3345712" cy="487680"/>
          </a:xfrm>
        </p:spPr>
        <p:txBody>
          <a:bodyPr/>
          <a:lstStyle/>
          <a:p>
            <a:endParaRPr lang="en-IN"/>
          </a:p>
        </p:txBody>
      </p:sp>
      <p:sp>
        <p:nvSpPr>
          <p:cNvPr id="4" name="Slide Number Placeholder 3"/>
          <p:cNvSpPr>
            <a:spLocks noGrp="1"/>
          </p:cNvSpPr>
          <p:nvPr>
            <p:ph type="sldNum" sz="quarter" idx="12"/>
          </p:nvPr>
        </p:nvSpPr>
        <p:spPr>
          <a:xfrm>
            <a:off x="15067097" y="280152"/>
            <a:ext cx="807300" cy="487680"/>
          </a:xfrm>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p:hf sldNum="0" hdr="0" ftr="0" dt="0"/>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2.xml"/><Relationship Id="rId4" Type="http://schemas.openxmlformats.org/officeDocument/2006/relationships/image" Target="../media/image4.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1.xml"/><Relationship Id="rId2" Type="http://schemas.openxmlformats.org/officeDocument/2006/relationships/image" Target="../media/image5.png"/><Relationship Id="rId1" Type="http://schemas.openxmlformats.org/officeDocument/2006/relationships/image" Target="../media/image4.jpe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jpeg"/><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jpe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jpeg"/><Relationship Id="rId1"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jpeg"/><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jpeg"/><Relationship Id="rId1"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jpeg"/><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jpeg"/><Relationship Id="rId1"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13.png"/><Relationship Id="rId1" Type="http://schemas.openxmlformats.org/officeDocument/2006/relationships/image" Target="../media/image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1"/>
          <a:srcRect/>
          <a:stretch>
            <a:fillRect/>
          </a:stretch>
        </p:blipFill>
        <p:spPr>
          <a:xfrm>
            <a:off x="0" y="-123613"/>
            <a:ext cx="16256000" cy="9267613"/>
          </a:xfrm>
          <a:prstGeom prst="rect">
            <a:avLst/>
          </a:prstGeom>
          <a:noFill/>
          <a:ln>
            <a:noFill/>
          </a:ln>
        </p:spPr>
      </p:pic>
      <p:pic>
        <p:nvPicPr>
          <p:cNvPr id="85" name="Google Shape;85;p13" descr="image.png"/>
          <p:cNvPicPr preferRelativeResize="0"/>
          <p:nvPr/>
        </p:nvPicPr>
        <p:blipFill rotWithShape="1">
          <a:blip r:embed="rId2"/>
          <a:srcRect/>
          <a:stretch>
            <a:fillRect/>
          </a:stretch>
        </p:blipFill>
        <p:spPr>
          <a:xfrm>
            <a:off x="7366000" y="4969271"/>
            <a:ext cx="1524000" cy="50800"/>
          </a:xfrm>
          <a:prstGeom prst="rect">
            <a:avLst/>
          </a:prstGeom>
          <a:noFill/>
          <a:ln>
            <a:noFill/>
          </a:ln>
        </p:spPr>
      </p:pic>
      <p:pic>
        <p:nvPicPr>
          <p:cNvPr id="86" name="Google Shape;86;p13" descr="image.png"/>
          <p:cNvPicPr preferRelativeResize="0"/>
          <p:nvPr/>
        </p:nvPicPr>
        <p:blipFill rotWithShape="1">
          <a:blip r:embed="rId3"/>
          <a:srcRect/>
          <a:stretch>
            <a:fillRect/>
          </a:stretch>
        </p:blipFill>
        <p:spPr>
          <a:xfrm>
            <a:off x="7518400" y="5883671"/>
            <a:ext cx="1219200" cy="406400"/>
          </a:xfrm>
          <a:prstGeom prst="rect">
            <a:avLst/>
          </a:prstGeom>
          <a:noFill/>
          <a:ln>
            <a:noFill/>
          </a:ln>
        </p:spPr>
      </p:pic>
      <p:sp>
        <p:nvSpPr>
          <p:cNvPr id="87" name="Google Shape;87;p13"/>
          <p:cNvSpPr txBox="1"/>
          <p:nvPr/>
        </p:nvSpPr>
        <p:spPr>
          <a:xfrm>
            <a:off x="948690" y="1545590"/>
            <a:ext cx="14864715" cy="6915785"/>
          </a:xfrm>
          <a:prstGeom prst="rect">
            <a:avLst/>
          </a:prstGeom>
          <a:noFill/>
          <a:ln>
            <a:noFill/>
          </a:ln>
        </p:spPr>
        <p:txBody>
          <a:bodyPr spcFirstLastPara="1" wrap="square" lIns="0" tIns="0" rIns="0" bIns="0" anchor="t" anchorCtr="0">
            <a:noAutofit/>
          </a:bodyPr>
          <a:lstStyle/>
          <a:p>
            <a:pPr marL="0" indent="0" algn="l">
              <a:buNone/>
            </a:pPr>
            <a:endParaRPr lang="en-US" sz="1600" b="1" dirty="0">
              <a:solidFill>
                <a:srgbClr val="2F6FED"/>
              </a:solidFill>
              <a:latin typeface="Space Grotesk Medium"/>
              <a:cs typeface="Space Grotesk Medium"/>
              <a:sym typeface="Space Grotesk Medium"/>
            </a:endParaRPr>
          </a:p>
        </p:txBody>
      </p:sp>
      <p:sp>
        <p:nvSpPr>
          <p:cNvPr id="88" name="Google Shape;88;p13"/>
          <p:cNvSpPr txBox="1"/>
          <p:nvPr/>
        </p:nvSpPr>
        <p:spPr>
          <a:xfrm>
            <a:off x="6362276" y="5257984"/>
            <a:ext cx="3187700" cy="6254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endParaRPr lang="en-US" b="0" i="0" u="none" strike="noStrike" cap="none" dirty="0">
              <a:solidFill>
                <a:srgbClr val="5A6B85"/>
              </a:solidFill>
              <a:latin typeface="Outfit Light"/>
              <a:ea typeface="Outfit Light"/>
              <a:cs typeface="Outfit Light"/>
              <a:sym typeface="Outfit Light"/>
            </a:endParaRPr>
          </a:p>
          <a:p>
            <a:pPr marL="0" marR="0" lvl="0" indent="0" algn="ctr" rtl="0">
              <a:spcBef>
                <a:spcPts val="0"/>
              </a:spcBef>
              <a:spcAft>
                <a:spcPts val="0"/>
              </a:spcAft>
              <a:buNone/>
            </a:pPr>
            <a:endParaRPr sz="2265" dirty="0"/>
          </a:p>
        </p:txBody>
      </p:sp>
      <p:pic>
        <p:nvPicPr>
          <p:cNvPr id="3" name="Picture 2"/>
          <p:cNvPicPr>
            <a:picLocks noChangeAspect="1"/>
          </p:cNvPicPr>
          <p:nvPr/>
        </p:nvPicPr>
        <p:blipFill>
          <a:blip r:embed="rId4"/>
          <a:stretch>
            <a:fillRect/>
          </a:stretch>
        </p:blipFill>
        <p:spPr>
          <a:xfrm>
            <a:off x="0" y="-109220"/>
            <a:ext cx="16256000" cy="1420495"/>
          </a:xfrm>
          <a:prstGeom prst="rect">
            <a:avLst/>
          </a:prstGeom>
        </p:spPr>
      </p:pic>
      <p:sp>
        <p:nvSpPr>
          <p:cNvPr id="2" name="Text Box 1"/>
          <p:cNvSpPr txBox="1"/>
          <p:nvPr/>
        </p:nvSpPr>
        <p:spPr>
          <a:xfrm>
            <a:off x="3730625" y="6990080"/>
            <a:ext cx="11271250" cy="594360"/>
          </a:xfrm>
          <a:prstGeom prst="rect">
            <a:avLst/>
          </a:prstGeom>
        </p:spPr>
        <p:txBody>
          <a:bodyPr wrap="square">
            <a:noAutofit/>
          </a:bodyPr>
          <a:p>
            <a:pPr defTabSz="266700"/>
            <a:r>
              <a:rPr lang="en-US" altLang="en-US" sz="2135" dirty="0">
                <a:solidFill>
                  <a:srgbClr val="1E2761"/>
                </a:solidFill>
                <a:latin typeface="Outfit" pitchFamily="34" charset="0"/>
                <a:ea typeface="Outfit" pitchFamily="34" charset="-122"/>
                <a:cs typeface="Outfit" pitchFamily="34" charset="-120"/>
                <a:sym typeface="+mn-ea"/>
              </a:rPr>
              <a:t>Twinkle Mohanty | </a:t>
            </a:r>
            <a:r>
              <a:rPr lang="en-US" altLang="en-US" sz="2135" dirty="0">
                <a:solidFill>
                  <a:srgbClr val="1E2761"/>
                </a:solidFill>
                <a:latin typeface="Outfit" pitchFamily="34" charset="0"/>
                <a:ea typeface="Outfit" pitchFamily="34" charset="-122"/>
                <a:cs typeface="Outfit" pitchFamily="34" charset="-120"/>
                <a:sym typeface="+mn-ea"/>
              </a:rPr>
              <a:t>Tejasri Lakshmi Maddula | Subhashree Subhasmita </a:t>
            </a:r>
            <a:r>
              <a:rPr lang="en-US" altLang="en-US" sz="2135" dirty="0">
                <a:solidFill>
                  <a:srgbClr val="1E2761"/>
                </a:solidFill>
                <a:latin typeface="Outfit" pitchFamily="34" charset="0"/>
                <a:ea typeface="Outfit" pitchFamily="34" charset="-122"/>
                <a:cs typeface="Outfit" pitchFamily="34" charset="-120"/>
                <a:sym typeface="+mn-ea"/>
              </a:rPr>
              <a:t>  | Vennela Pathipaka</a:t>
            </a:r>
            <a:endParaRPr lang="en-US" sz="2135" dirty="0"/>
          </a:p>
          <a:p>
            <a:pPr defTabSz="266700"/>
            <a:endParaRPr sz="2135" b="1">
              <a:solidFill>
                <a:srgbClr val="000000"/>
              </a:solidFill>
              <a:latin typeface="Times New Roman" panose="02020603050405020304"/>
              <a:ea typeface="Aptos" panose="02110004020202020204"/>
            </a:endParaRPr>
          </a:p>
        </p:txBody>
      </p:sp>
      <p:sp>
        <p:nvSpPr>
          <p:cNvPr id="14" name="Text 11"/>
          <p:cNvSpPr/>
          <p:nvPr/>
        </p:nvSpPr>
        <p:spPr>
          <a:xfrm>
            <a:off x="15499689" y="8461248"/>
            <a:ext cx="414528" cy="414528"/>
          </a:xfrm>
          <a:prstGeom prst="rect">
            <a:avLst/>
          </a:prstGeom>
          <a:noFill/>
        </p:spPr>
        <p:txBody>
          <a:bodyPr wrap="square" lIns="0" tIns="0" rIns="0" bIns="0" rtlCol="0" anchor="ctr"/>
          <a:lstStyle/>
          <a:p>
            <a:pPr marL="0" indent="0" algn="ctr">
              <a:buNone/>
            </a:pPr>
            <a:r>
              <a:rPr lang="en-US" sz="2000" b="1" dirty="0">
                <a:solidFill>
                  <a:schemeClr val="accent6">
                    <a:lumMod val="60000"/>
                    <a:lumOff val="40000"/>
                  </a:schemeClr>
                </a:solidFill>
                <a:latin typeface="Calibri" panose="020F0502020204030204" charset="0"/>
                <a:ea typeface="Calibri" panose="020F0502020204030204" pitchFamily="34" charset="-122"/>
                <a:cs typeface="Calibri" panose="020F0502020204030204" pitchFamily="34" charset="-120"/>
              </a:rPr>
              <a:t>1</a:t>
            </a:r>
            <a:endParaRPr lang="en-US" sz="2000" b="1" dirty="0">
              <a:solidFill>
                <a:schemeClr val="accent6">
                  <a:lumMod val="60000"/>
                  <a:lumOff val="40000"/>
                </a:schemeClr>
              </a:solidFill>
              <a:latin typeface="Calibri" panose="020F0502020204030204" charset="0"/>
              <a:ea typeface="Calibri" panose="020F0502020204030204" pitchFamily="34" charset="-122"/>
              <a:cs typeface="Calibri" panose="020F0502020204030204" pitchFamily="34" charset="-120"/>
            </a:endParaRPr>
          </a:p>
        </p:txBody>
      </p:sp>
      <p:sp>
        <p:nvSpPr>
          <p:cNvPr id="4" name="Text Box 3"/>
          <p:cNvSpPr txBox="1"/>
          <p:nvPr/>
        </p:nvSpPr>
        <p:spPr>
          <a:xfrm>
            <a:off x="3449955" y="1995805"/>
            <a:ext cx="10187940" cy="706755"/>
          </a:xfrm>
          <a:prstGeom prst="rect">
            <a:avLst/>
          </a:prstGeom>
          <a:noFill/>
        </p:spPr>
        <p:txBody>
          <a:bodyPr wrap="square" rtlCol="0" anchor="t">
            <a:spAutoFit/>
          </a:bodyPr>
          <a:p>
            <a:pPr marL="0" indent="0" algn="ctr">
              <a:buNone/>
            </a:pPr>
            <a:r>
              <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rPr>
              <a:t>CYBER THREAT ANALYTICS PLATFORM WITH</a:t>
            </a:r>
            <a:endPar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endParaRPr>
          </a:p>
        </p:txBody>
      </p:sp>
      <p:sp>
        <p:nvSpPr>
          <p:cNvPr id="5" name="Text Box 4"/>
          <p:cNvSpPr txBox="1"/>
          <p:nvPr/>
        </p:nvSpPr>
        <p:spPr>
          <a:xfrm>
            <a:off x="2699385" y="2997835"/>
            <a:ext cx="11834495" cy="706755"/>
          </a:xfrm>
          <a:prstGeom prst="rect">
            <a:avLst/>
          </a:prstGeom>
          <a:noFill/>
        </p:spPr>
        <p:txBody>
          <a:bodyPr wrap="square" rtlCol="0" anchor="t">
            <a:spAutoFit/>
          </a:bodyPr>
          <a:p>
            <a:pPr marL="0" indent="0" algn="ctr">
              <a:buNone/>
            </a:pPr>
            <a:r>
              <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rPr>
              <a:t>INCIDENT VISUALIZATION SYSTEM GROUP -1</a:t>
            </a:r>
            <a:endPar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endParaRPr>
          </a:p>
        </p:txBody>
      </p:sp>
      <p:sp>
        <p:nvSpPr>
          <p:cNvPr id="8" name="group-badge-text"/>
          <p:cNvSpPr/>
          <p:nvPr/>
        </p:nvSpPr>
        <p:spPr>
          <a:xfrm>
            <a:off x="6667500" y="3530600"/>
            <a:ext cx="2921000" cy="279400"/>
          </a:xfrm>
          <a:prstGeom prst="rect">
            <a:avLst/>
          </a:prstGeom>
          <a:noFill/>
        </p:spPr>
        <p:txBody>
          <a:bodyPr wrap="none" lIns="0" tIns="0" rIns="0" bIns="0" rtlCol="0" anchor="ctr"/>
          <a:lstStyle/>
          <a:p>
            <a:pPr marL="0" indent="0" algn="ctr">
              <a:buNone/>
            </a:pPr>
            <a:endParaRPr lang="en-US" sz="1500" dirty="0"/>
          </a:p>
        </p:txBody>
      </p:sp>
      <p:sp>
        <p:nvSpPr>
          <p:cNvPr id="7" name="group-badge"/>
          <p:cNvSpPr/>
          <p:nvPr/>
        </p:nvSpPr>
        <p:spPr>
          <a:xfrm>
            <a:off x="6667500" y="5661025"/>
            <a:ext cx="2881630" cy="676275"/>
          </a:xfrm>
          <a:prstGeom prst="roundRect">
            <a:avLst>
              <a:gd name="adj" fmla="val 50000"/>
            </a:avLst>
          </a:prstGeom>
          <a:solidFill>
            <a:srgbClr val="FEF3C7"/>
          </a:solidFill>
        </p:spPr>
        <p:txBody>
          <a:bodyPr/>
          <a:p>
            <a:pPr marL="0" indent="0" algn="ctr">
              <a:buNone/>
            </a:pPr>
            <a:r>
              <a:rPr lang="en-US" altLang="en-US" b="1" dirty="0">
                <a:solidFill>
                  <a:srgbClr val="F59E0B"/>
                </a:solidFill>
                <a:latin typeface="Outfit" pitchFamily="34" charset="0"/>
                <a:ea typeface="Outfit" pitchFamily="34" charset="-122"/>
                <a:cs typeface="Outfit" pitchFamily="34" charset="-120"/>
                <a:sym typeface="+mn-ea"/>
              </a:rPr>
              <a:t> BATCH-1  | TEAM D</a:t>
            </a:r>
            <a:endParaRPr lang="en-US"/>
          </a:p>
        </p:txBody>
      </p:sp>
      <p:sp>
        <p:nvSpPr>
          <p:cNvPr id="6" name="Text Box 5"/>
          <p:cNvSpPr txBox="1"/>
          <p:nvPr/>
        </p:nvSpPr>
        <p:spPr>
          <a:xfrm>
            <a:off x="4191000" y="4020185"/>
            <a:ext cx="8890000" cy="922020"/>
          </a:xfrm>
          <a:prstGeom prst="rect">
            <a:avLst/>
          </a:prstGeom>
          <a:noFill/>
        </p:spPr>
        <p:txBody>
          <a:bodyPr wrap="square" rtlCol="0">
            <a:spAutoFit/>
          </a:bodyPr>
          <a:p>
            <a:r>
              <a:rPr lang="en-US" altLang="en-US" dirty="0">
                <a:solidFill>
                  <a:srgbClr val="5A6B85"/>
                </a:solidFill>
                <a:latin typeface="Outfit" pitchFamily="34" charset="0"/>
                <a:ea typeface="Outfit" pitchFamily="34" charset="-122"/>
                <a:cs typeface="Outfit" pitchFamily="34" charset="-120"/>
                <a:sym typeface="+mn-ea"/>
              </a:rPr>
              <a:t>A data-driven solution for detecting cyber threats, cleaning incident records, and         communicating risk through interactive dashboards.</a:t>
            </a:r>
            <a:endParaRPr lang="en-US" dirty="0"/>
          </a:p>
          <a:p>
            <a:endParaRPr lang="en-US"/>
          </a:p>
        </p:txBody>
      </p:sp>
      <p:sp>
        <p:nvSpPr>
          <p:cNvPr id="9" name="Text Box 8"/>
          <p:cNvSpPr txBox="1"/>
          <p:nvPr/>
        </p:nvSpPr>
        <p:spPr>
          <a:xfrm>
            <a:off x="4191000" y="6621780"/>
            <a:ext cx="8128000" cy="368300"/>
          </a:xfrm>
          <a:prstGeom prst="rect">
            <a:avLst/>
          </a:prstGeom>
          <a:noFill/>
        </p:spPr>
        <p:txBody>
          <a:bodyPr wrap="square" rtlCol="0" anchor="t">
            <a:spAutoFit/>
          </a:bodyPr>
          <a:p>
            <a:pPr marL="0" indent="0" algn="ctr">
              <a:buNone/>
            </a:pPr>
            <a:r>
              <a:rPr lang="en-US" altLang="en-US" b="1" dirty="0">
                <a:solidFill>
                  <a:srgbClr val="0E8F63"/>
                </a:solidFill>
                <a:latin typeface="Outfit" pitchFamily="34" charset="0"/>
                <a:ea typeface="Outfit" pitchFamily="34" charset="-122"/>
                <a:cs typeface="Outfit" pitchFamily="34" charset="-120"/>
                <a:sym typeface="+mn-ea"/>
              </a:rPr>
              <a:t>PRESENTED BY</a:t>
            </a:r>
            <a:endParaRPr lang="en-US" altLang="en-US" b="1" dirty="0">
              <a:solidFill>
                <a:srgbClr val="0E8F63"/>
              </a:solidFill>
              <a:latin typeface="Outfit" pitchFamily="34" charset="0"/>
              <a:ea typeface="Outfit" pitchFamily="34" charset="-122"/>
              <a:cs typeface="Outfit" pitchFamily="34" charset="-120"/>
              <a:sym typeface="+mn-ea"/>
            </a:endParaRPr>
          </a:p>
        </p:txBody>
      </p:sp>
      <p:sp>
        <p:nvSpPr>
          <p:cNvPr id="10" name="Text Box 9"/>
          <p:cNvSpPr txBox="1"/>
          <p:nvPr/>
        </p:nvSpPr>
        <p:spPr>
          <a:xfrm>
            <a:off x="7100570" y="8101330"/>
            <a:ext cx="5418455" cy="645160"/>
          </a:xfrm>
          <a:prstGeom prst="rect">
            <a:avLst/>
          </a:prstGeom>
          <a:noFill/>
        </p:spPr>
        <p:txBody>
          <a:bodyPr wrap="square" rtlCol="0">
            <a:spAutoFit/>
          </a:bodyPr>
          <a:p>
            <a:r>
              <a:rPr lang="en-US">
                <a:solidFill>
                  <a:schemeClr val="tx1"/>
                </a:solidFill>
              </a:rPr>
              <a:t>Mentor :</a:t>
            </a:r>
            <a:r>
              <a:rPr lang="en-US"/>
              <a:t>  </a:t>
            </a:r>
            <a:r>
              <a:rPr lang="en-US" altLang="en-US" b="1" dirty="0">
                <a:solidFill>
                  <a:schemeClr val="tx1"/>
                </a:solidFill>
                <a:latin typeface="Calibri" panose="020F0502020204030204" charset="0"/>
                <a:ea typeface="Calibri" panose="020F0502020204030204" pitchFamily="34" charset="-122"/>
                <a:cs typeface="Calibri" panose="020F0502020204030204" pitchFamily="34" charset="-120"/>
                <a:sym typeface="+mn-ea"/>
              </a:rPr>
              <a:t>Mrs. Nithyasree</a:t>
            </a:r>
            <a:endParaRPr lang="en-US" altLang="en-US" b="1" dirty="0">
              <a:solidFill>
                <a:schemeClr val="tx1"/>
              </a:solidFill>
              <a:latin typeface="Calibri" panose="020F0502020204030204" charset="0"/>
              <a:ea typeface="Calibri" panose="020F0502020204030204" pitchFamily="34" charset="-122"/>
              <a:cs typeface="Calibri" panose="020F0502020204030204" pitchFamily="34" charset="-120"/>
            </a:endParaRPr>
          </a:p>
          <a:p>
            <a:endParaRPr lang="en-US" altLang="en-US" b="1" dirty="0">
              <a:solidFill>
                <a:schemeClr val="tx1"/>
              </a:solidFill>
              <a:latin typeface="Calibri" panose="020F0502020204030204" charset="0"/>
              <a:ea typeface="Calibri" panose="020F0502020204030204" pitchFamily="34" charset="-122"/>
              <a:cs typeface="Calibri" panose="020F0502020204030204" pitchFamily="34" charset="-120"/>
            </a:endParaRPr>
          </a:p>
        </p:txBody>
      </p:sp>
      <p:sp>
        <p:nvSpPr>
          <p:cNvPr id="11" name="Text Box 10"/>
          <p:cNvSpPr txBox="1"/>
          <p:nvPr/>
        </p:nvSpPr>
        <p:spPr>
          <a:xfrm>
            <a:off x="6362065" y="7584440"/>
            <a:ext cx="8128000" cy="398780"/>
          </a:xfrm>
          <a:prstGeom prst="rect">
            <a:avLst/>
          </a:prstGeom>
          <a:noFill/>
        </p:spPr>
        <p:txBody>
          <a:bodyPr wrap="square" rtlCol="0" anchor="t">
            <a:spAutoFit/>
          </a:bodyPr>
          <a:p>
            <a:pPr marL="0" indent="0">
              <a:buNone/>
            </a:pPr>
            <a:r>
              <a:rPr lang="en-US" sz="2000" b="1" dirty="0">
                <a:solidFill>
                  <a:schemeClr val="accent1"/>
                </a:solidFill>
                <a:latin typeface="Calibri" panose="020F0502020204030204" charset="0"/>
                <a:ea typeface="Calibri" panose="020F0502020204030204" pitchFamily="34" charset="-122"/>
                <a:cs typeface="Calibri" panose="020F0502020204030204" pitchFamily="34" charset="-120"/>
                <a:sym typeface="+mn-ea"/>
              </a:rPr>
              <a:t>Infosys Springboard — Virtual Internship 7.0</a:t>
            </a:r>
            <a:endParaRPr lang="en-US" sz="2000" b="1" dirty="0">
              <a:solidFill>
                <a:schemeClr val="accent1"/>
              </a:solidFill>
              <a:latin typeface="Calibri" panose="020F0502020204030204" charset="0"/>
              <a:ea typeface="Calibri" panose="020F0502020204030204" pitchFamily="34" charset="-122"/>
              <a:cs typeface="Calibri" panose="020F0502020204030204" pitchFamily="34" charset="-120"/>
              <a:sym typeface="+mn-ea"/>
            </a:endParaRPr>
          </a:p>
        </p:txBody>
      </p:sp>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1</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06400" y="941705"/>
            <a:ext cx="50800" cy="368300"/>
          </a:xfrm>
          <a:prstGeom prst="rect">
            <a:avLst/>
          </a:prstGeom>
          <a:solidFill>
            <a:srgbClr val="0E8F63"/>
          </a:solidFill>
        </p:spPr>
      </p:sp>
      <p:sp>
        <p:nvSpPr>
          <p:cNvPr id="3" name="slide-title"/>
          <p:cNvSpPr/>
          <p:nvPr/>
        </p:nvSpPr>
        <p:spPr>
          <a:xfrm>
            <a:off x="635000" y="827405"/>
            <a:ext cx="1143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Project Objective</a:t>
            </a:r>
            <a:endParaRPr lang="en-US" sz="3000" dirty="0"/>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02</a:t>
            </a:r>
            <a:endParaRPr lang="en-US" sz="1400" dirty="0"/>
          </a:p>
        </p:txBody>
      </p:sp>
      <p:sp>
        <p:nvSpPr>
          <p:cNvPr id="5" name="objectives-tag"/>
          <p:cNvSpPr/>
          <p:nvPr/>
        </p:nvSpPr>
        <p:spPr>
          <a:xfrm>
            <a:off x="768985" y="1498600"/>
            <a:ext cx="1676400" cy="381000"/>
          </a:xfrm>
          <a:prstGeom prst="roundRect">
            <a:avLst>
              <a:gd name="adj" fmla="val 50000"/>
            </a:avLst>
          </a:prstGeom>
          <a:solidFill>
            <a:srgbClr val="EAF1FB"/>
          </a:solidFill>
        </p:spPr>
      </p:sp>
      <p:sp>
        <p:nvSpPr>
          <p:cNvPr id="6" name="objectives-tag-text"/>
          <p:cNvSpPr/>
          <p:nvPr/>
        </p:nvSpPr>
        <p:spPr>
          <a:xfrm>
            <a:off x="927100" y="1511300"/>
            <a:ext cx="1333500" cy="215900"/>
          </a:xfrm>
          <a:prstGeom prst="rect">
            <a:avLst/>
          </a:prstGeom>
          <a:noFill/>
        </p:spPr>
        <p:txBody>
          <a:bodyPr wrap="none" lIns="0" tIns="0" rIns="0" bIns="0" rtlCol="0" anchor="t"/>
          <a:lstStyle/>
          <a:p>
            <a:pPr marL="0" indent="0" algn="ctr">
              <a:buNone/>
            </a:pPr>
            <a:r>
              <a:rPr lang="en-US" altLang="en-US" sz="1400" b="1" dirty="0">
                <a:solidFill>
                  <a:srgbClr val="2F6FED"/>
                </a:solidFill>
                <a:latin typeface="Outfit" pitchFamily="34" charset="0"/>
                <a:ea typeface="Outfit" pitchFamily="34" charset="-122"/>
                <a:cs typeface="Outfit" pitchFamily="34" charset="-120"/>
              </a:rPr>
              <a:t>OBJECTIVES</a:t>
            </a:r>
            <a:endParaRPr lang="en-US" sz="1400" dirty="0"/>
          </a:p>
        </p:txBody>
      </p:sp>
      <p:sp>
        <p:nvSpPr>
          <p:cNvPr id="7" name="objective-card-1"/>
          <p:cNvSpPr/>
          <p:nvPr/>
        </p:nvSpPr>
        <p:spPr>
          <a:xfrm>
            <a:off x="762000" y="2032000"/>
            <a:ext cx="7112000" cy="1092200"/>
          </a:xfrm>
          <a:prstGeom prst="roundRect">
            <a:avLst>
              <a:gd name="adj" fmla="val 13953"/>
            </a:avLst>
          </a:prstGeom>
          <a:solidFill>
            <a:srgbClr val="FFFFFF"/>
          </a:solidFill>
          <a:ln w="12700">
            <a:solidFill>
              <a:srgbClr val="E2E8F0"/>
            </a:solidFill>
            <a:prstDash val="solid"/>
          </a:ln>
        </p:spPr>
      </p:sp>
      <p:sp>
        <p:nvSpPr>
          <p:cNvPr id="8" name="objective-badge-1"/>
          <p:cNvSpPr/>
          <p:nvPr/>
        </p:nvSpPr>
        <p:spPr>
          <a:xfrm>
            <a:off x="990600" y="2120900"/>
            <a:ext cx="355600" cy="355600"/>
          </a:xfrm>
          <a:prstGeom prst="ellipse">
            <a:avLst/>
          </a:prstGeom>
          <a:solidFill>
            <a:srgbClr val="2F6FED"/>
          </a:solidFill>
        </p:spPr>
      </p:sp>
      <p:sp>
        <p:nvSpPr>
          <p:cNvPr id="9" name="objective-badge-text-1"/>
          <p:cNvSpPr/>
          <p:nvPr/>
        </p:nvSpPr>
        <p:spPr>
          <a:xfrm>
            <a:off x="990600" y="2184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10" name="objective-title-1"/>
          <p:cNvSpPr/>
          <p:nvPr/>
        </p:nvSpPr>
        <p:spPr>
          <a:xfrm>
            <a:off x="1549400" y="2032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Detect malicious activity</a:t>
            </a:r>
            <a:endParaRPr lang="en-US" sz="1600" dirty="0"/>
          </a:p>
        </p:txBody>
      </p:sp>
      <p:sp>
        <p:nvSpPr>
          <p:cNvPr id="11" name="objective-body-1"/>
          <p:cNvSpPr/>
          <p:nvPr/>
        </p:nvSpPr>
        <p:spPr>
          <a:xfrm>
            <a:off x="1549400" y="2400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Identify attack patterns and suspicious network behavior.</a:t>
            </a:r>
            <a:endParaRPr lang="en-US" sz="1400" dirty="0"/>
          </a:p>
        </p:txBody>
      </p:sp>
      <p:sp>
        <p:nvSpPr>
          <p:cNvPr id="12" name="objective-card-2"/>
          <p:cNvSpPr/>
          <p:nvPr/>
        </p:nvSpPr>
        <p:spPr>
          <a:xfrm>
            <a:off x="8382000" y="1879600"/>
            <a:ext cx="7112000" cy="1092200"/>
          </a:xfrm>
          <a:prstGeom prst="roundRect">
            <a:avLst>
              <a:gd name="adj" fmla="val 13953"/>
            </a:avLst>
          </a:prstGeom>
          <a:solidFill>
            <a:srgbClr val="FFFFFF"/>
          </a:solidFill>
          <a:ln w="12700">
            <a:solidFill>
              <a:srgbClr val="E2E8F0"/>
            </a:solidFill>
            <a:prstDash val="solid"/>
          </a:ln>
        </p:spPr>
      </p:sp>
      <p:sp>
        <p:nvSpPr>
          <p:cNvPr id="13" name="objective-badge-2"/>
          <p:cNvSpPr/>
          <p:nvPr/>
        </p:nvSpPr>
        <p:spPr>
          <a:xfrm>
            <a:off x="8610600" y="2120900"/>
            <a:ext cx="355600" cy="355600"/>
          </a:xfrm>
          <a:prstGeom prst="ellipse">
            <a:avLst/>
          </a:prstGeom>
          <a:solidFill>
            <a:srgbClr val="0E8F63"/>
          </a:solidFill>
        </p:spPr>
      </p:sp>
      <p:sp>
        <p:nvSpPr>
          <p:cNvPr id="14" name="objective-badge-text-2"/>
          <p:cNvSpPr/>
          <p:nvPr/>
        </p:nvSpPr>
        <p:spPr>
          <a:xfrm>
            <a:off x="8610600" y="2184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15" name="objective-title-2"/>
          <p:cNvSpPr/>
          <p:nvPr/>
        </p:nvSpPr>
        <p:spPr>
          <a:xfrm>
            <a:off x="9169400" y="2032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Clean incident records</a:t>
            </a:r>
            <a:endParaRPr lang="en-US" sz="1600" dirty="0"/>
          </a:p>
        </p:txBody>
      </p:sp>
      <p:sp>
        <p:nvSpPr>
          <p:cNvPr id="16" name="objective-body-2"/>
          <p:cNvSpPr/>
          <p:nvPr/>
        </p:nvSpPr>
        <p:spPr>
          <a:xfrm>
            <a:off x="9169400" y="2400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Standardize incomplete or ambiguous fields for trustworthy analysis.</a:t>
            </a:r>
            <a:endParaRPr lang="en-US" sz="1400" dirty="0"/>
          </a:p>
        </p:txBody>
      </p:sp>
      <p:sp>
        <p:nvSpPr>
          <p:cNvPr id="17" name="objective-card-3"/>
          <p:cNvSpPr/>
          <p:nvPr/>
        </p:nvSpPr>
        <p:spPr>
          <a:xfrm>
            <a:off x="762000" y="3429000"/>
            <a:ext cx="7112000" cy="1092200"/>
          </a:xfrm>
          <a:prstGeom prst="roundRect">
            <a:avLst>
              <a:gd name="adj" fmla="val 13953"/>
            </a:avLst>
          </a:prstGeom>
          <a:solidFill>
            <a:srgbClr val="FFFFFF"/>
          </a:solidFill>
          <a:ln w="12700">
            <a:solidFill>
              <a:srgbClr val="E2E8F0"/>
            </a:solidFill>
            <a:prstDash val="solid"/>
          </a:ln>
        </p:spPr>
      </p:sp>
      <p:sp>
        <p:nvSpPr>
          <p:cNvPr id="18" name="objective-badge-3"/>
          <p:cNvSpPr/>
          <p:nvPr/>
        </p:nvSpPr>
        <p:spPr>
          <a:xfrm>
            <a:off x="990600" y="3517900"/>
            <a:ext cx="355600" cy="355600"/>
          </a:xfrm>
          <a:prstGeom prst="ellipse">
            <a:avLst/>
          </a:prstGeom>
          <a:solidFill>
            <a:srgbClr val="2F6FED"/>
          </a:solidFill>
        </p:spPr>
      </p:sp>
      <p:sp>
        <p:nvSpPr>
          <p:cNvPr id="19" name="objective-badge-text-3"/>
          <p:cNvSpPr/>
          <p:nvPr/>
        </p:nvSpPr>
        <p:spPr>
          <a:xfrm>
            <a:off x="990600" y="3581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20" name="objective-title-3"/>
          <p:cNvSpPr/>
          <p:nvPr/>
        </p:nvSpPr>
        <p:spPr>
          <a:xfrm>
            <a:off x="1549400" y="3429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Visualize security data</a:t>
            </a:r>
            <a:endParaRPr lang="en-US" sz="1600" dirty="0"/>
          </a:p>
        </p:txBody>
      </p:sp>
      <p:sp>
        <p:nvSpPr>
          <p:cNvPr id="21" name="objective-body-3"/>
          <p:cNvSpPr/>
          <p:nvPr/>
        </p:nvSpPr>
        <p:spPr>
          <a:xfrm>
            <a:off x="1549400" y="3797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Translate complex incidents into dashboards, charts, and timelines.</a:t>
            </a:r>
            <a:endParaRPr lang="en-US" sz="1400" dirty="0"/>
          </a:p>
        </p:txBody>
      </p:sp>
      <p:sp>
        <p:nvSpPr>
          <p:cNvPr id="22" name="objective-card-4"/>
          <p:cNvSpPr/>
          <p:nvPr/>
        </p:nvSpPr>
        <p:spPr>
          <a:xfrm>
            <a:off x="8382000" y="3276600"/>
            <a:ext cx="7112000" cy="1092200"/>
          </a:xfrm>
          <a:prstGeom prst="roundRect">
            <a:avLst>
              <a:gd name="adj" fmla="val 13953"/>
            </a:avLst>
          </a:prstGeom>
          <a:solidFill>
            <a:srgbClr val="FFFFFF"/>
          </a:solidFill>
          <a:ln w="12700">
            <a:solidFill>
              <a:srgbClr val="E2E8F0"/>
            </a:solidFill>
            <a:prstDash val="solid"/>
          </a:ln>
        </p:spPr>
      </p:sp>
      <p:sp>
        <p:nvSpPr>
          <p:cNvPr id="23" name="objective-badge-4"/>
          <p:cNvSpPr/>
          <p:nvPr/>
        </p:nvSpPr>
        <p:spPr>
          <a:xfrm>
            <a:off x="8610600" y="3517900"/>
            <a:ext cx="355600" cy="355600"/>
          </a:xfrm>
          <a:prstGeom prst="ellipse">
            <a:avLst/>
          </a:prstGeom>
          <a:solidFill>
            <a:srgbClr val="0E8F63"/>
          </a:solidFill>
        </p:spPr>
      </p:sp>
      <p:sp>
        <p:nvSpPr>
          <p:cNvPr id="24" name="objective-badge-text-4"/>
          <p:cNvSpPr/>
          <p:nvPr/>
        </p:nvSpPr>
        <p:spPr>
          <a:xfrm>
            <a:off x="8610600" y="3581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4</a:t>
            </a:r>
            <a:endParaRPr lang="en-US" sz="1400" dirty="0"/>
          </a:p>
        </p:txBody>
      </p:sp>
      <p:sp>
        <p:nvSpPr>
          <p:cNvPr id="25" name="objective-title-4"/>
          <p:cNvSpPr/>
          <p:nvPr/>
        </p:nvSpPr>
        <p:spPr>
          <a:xfrm>
            <a:off x="9169400" y="3429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Improve response readiness</a:t>
            </a:r>
            <a:endParaRPr lang="en-US" sz="1600" dirty="0"/>
          </a:p>
        </p:txBody>
      </p:sp>
      <p:sp>
        <p:nvSpPr>
          <p:cNvPr id="26" name="objective-body-4"/>
          <p:cNvSpPr/>
          <p:nvPr/>
        </p:nvSpPr>
        <p:spPr>
          <a:xfrm>
            <a:off x="9169400" y="3797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Help analysts prioritize critical threats and act faster.</a:t>
            </a:r>
            <a:endParaRPr lang="en-US" sz="1400" dirty="0"/>
          </a:p>
        </p:txBody>
      </p:sp>
      <p:sp>
        <p:nvSpPr>
          <p:cNvPr id="27" name="modules-tag"/>
          <p:cNvSpPr/>
          <p:nvPr/>
        </p:nvSpPr>
        <p:spPr>
          <a:xfrm>
            <a:off x="762000" y="4826000"/>
            <a:ext cx="2159000" cy="381000"/>
          </a:xfrm>
          <a:prstGeom prst="roundRect">
            <a:avLst>
              <a:gd name="adj" fmla="val 50000"/>
            </a:avLst>
          </a:prstGeom>
          <a:solidFill>
            <a:srgbClr val="E9F6F0"/>
          </a:solidFill>
        </p:spPr>
      </p:sp>
      <p:sp>
        <p:nvSpPr>
          <p:cNvPr id="28" name="modules-tag-text"/>
          <p:cNvSpPr/>
          <p:nvPr/>
        </p:nvSpPr>
        <p:spPr>
          <a:xfrm>
            <a:off x="939800" y="4902200"/>
            <a:ext cx="1816100" cy="215900"/>
          </a:xfrm>
          <a:prstGeom prst="rect">
            <a:avLst/>
          </a:prstGeom>
          <a:noFill/>
        </p:spPr>
        <p:txBody>
          <a:bodyPr wrap="none" lIns="0" tIns="0" rIns="0" bIns="0" rtlCol="0" anchor="t"/>
          <a:lstStyle/>
          <a:p>
            <a:pPr marL="0" indent="0" algn="ctr">
              <a:buNone/>
            </a:pPr>
            <a:r>
              <a:rPr lang="en-US" altLang="en-US" sz="1400" b="1" dirty="0">
                <a:solidFill>
                  <a:srgbClr val="0E8F63"/>
                </a:solidFill>
                <a:latin typeface="Outfit" pitchFamily="34" charset="0"/>
                <a:ea typeface="Outfit" pitchFamily="34" charset="-122"/>
                <a:cs typeface="Outfit" pitchFamily="34" charset="-120"/>
              </a:rPr>
              <a:t>PROJECT MODULES</a:t>
            </a:r>
            <a:endParaRPr lang="en-US" sz="1400" dirty="0"/>
          </a:p>
        </p:txBody>
      </p:sp>
      <p:sp>
        <p:nvSpPr>
          <p:cNvPr id="29" name="module-card-1"/>
          <p:cNvSpPr/>
          <p:nvPr/>
        </p:nvSpPr>
        <p:spPr>
          <a:xfrm>
            <a:off x="762000" y="5461000"/>
            <a:ext cx="4572000" cy="736600"/>
          </a:xfrm>
          <a:prstGeom prst="roundRect">
            <a:avLst>
              <a:gd name="adj" fmla="val 20690"/>
            </a:avLst>
          </a:prstGeom>
          <a:solidFill>
            <a:srgbClr val="FFFFFF"/>
          </a:solidFill>
          <a:ln w="12700">
            <a:solidFill>
              <a:srgbClr val="E2E8F0"/>
            </a:solidFill>
            <a:prstDash val="solid"/>
          </a:ln>
        </p:spPr>
      </p:sp>
      <p:sp>
        <p:nvSpPr>
          <p:cNvPr id="30" name="module-badge-1"/>
          <p:cNvSpPr/>
          <p:nvPr/>
        </p:nvSpPr>
        <p:spPr>
          <a:xfrm>
            <a:off x="990600" y="5651500"/>
            <a:ext cx="330200" cy="330200"/>
          </a:xfrm>
          <a:prstGeom prst="ellipse">
            <a:avLst/>
          </a:prstGeom>
          <a:solidFill>
            <a:srgbClr val="0E8F63"/>
          </a:solidFill>
        </p:spPr>
      </p:sp>
      <p:sp>
        <p:nvSpPr>
          <p:cNvPr id="31" name="module-badge-text-1"/>
          <p:cNvSpPr/>
          <p:nvPr/>
        </p:nvSpPr>
        <p:spPr>
          <a:xfrm>
            <a:off x="990600" y="57023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32" name="module-text-1"/>
          <p:cNvSpPr/>
          <p:nvPr/>
        </p:nvSpPr>
        <p:spPr>
          <a:xfrm>
            <a:off x="1498600" y="5651500"/>
            <a:ext cx="3556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Data acquisition &amp; understanding</a:t>
            </a:r>
            <a:endParaRPr lang="en-US" sz="1400" dirty="0"/>
          </a:p>
        </p:txBody>
      </p:sp>
      <p:sp>
        <p:nvSpPr>
          <p:cNvPr id="33" name="module-card-2"/>
          <p:cNvSpPr/>
          <p:nvPr/>
        </p:nvSpPr>
        <p:spPr>
          <a:xfrm>
            <a:off x="5842000" y="5461000"/>
            <a:ext cx="4572000" cy="736600"/>
          </a:xfrm>
          <a:prstGeom prst="roundRect">
            <a:avLst>
              <a:gd name="adj" fmla="val 20690"/>
            </a:avLst>
          </a:prstGeom>
          <a:solidFill>
            <a:srgbClr val="FFFFFF"/>
          </a:solidFill>
          <a:ln w="12700">
            <a:solidFill>
              <a:srgbClr val="E2E8F0"/>
            </a:solidFill>
            <a:prstDash val="solid"/>
          </a:ln>
        </p:spPr>
      </p:sp>
      <p:sp>
        <p:nvSpPr>
          <p:cNvPr id="34" name="module-badge-2"/>
          <p:cNvSpPr/>
          <p:nvPr/>
        </p:nvSpPr>
        <p:spPr>
          <a:xfrm>
            <a:off x="6070600" y="5651500"/>
            <a:ext cx="330200" cy="330200"/>
          </a:xfrm>
          <a:prstGeom prst="ellipse">
            <a:avLst/>
          </a:prstGeom>
          <a:solidFill>
            <a:srgbClr val="0E8F63"/>
          </a:solidFill>
        </p:spPr>
      </p:sp>
      <p:sp>
        <p:nvSpPr>
          <p:cNvPr id="35" name="module-badge-text-2"/>
          <p:cNvSpPr/>
          <p:nvPr/>
        </p:nvSpPr>
        <p:spPr>
          <a:xfrm>
            <a:off x="6070600" y="57023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36" name="module-text-2"/>
          <p:cNvSpPr/>
          <p:nvPr/>
        </p:nvSpPr>
        <p:spPr>
          <a:xfrm>
            <a:off x="6578600" y="5651500"/>
            <a:ext cx="3556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Preprocessing &amp; feature engineering</a:t>
            </a:r>
            <a:endParaRPr lang="en-US" sz="1400" dirty="0"/>
          </a:p>
        </p:txBody>
      </p:sp>
      <p:sp>
        <p:nvSpPr>
          <p:cNvPr id="37" name="module-card-3"/>
          <p:cNvSpPr/>
          <p:nvPr/>
        </p:nvSpPr>
        <p:spPr>
          <a:xfrm>
            <a:off x="10922000" y="5461000"/>
            <a:ext cx="4572000" cy="736600"/>
          </a:xfrm>
          <a:prstGeom prst="roundRect">
            <a:avLst>
              <a:gd name="adj" fmla="val 20690"/>
            </a:avLst>
          </a:prstGeom>
          <a:solidFill>
            <a:srgbClr val="FFFFFF"/>
          </a:solidFill>
          <a:ln w="12700">
            <a:solidFill>
              <a:srgbClr val="E2E8F0"/>
            </a:solidFill>
            <a:prstDash val="solid"/>
          </a:ln>
        </p:spPr>
      </p:sp>
      <p:sp>
        <p:nvSpPr>
          <p:cNvPr id="38" name="module-badge-3"/>
          <p:cNvSpPr/>
          <p:nvPr/>
        </p:nvSpPr>
        <p:spPr>
          <a:xfrm>
            <a:off x="11150600" y="5651500"/>
            <a:ext cx="330200" cy="330200"/>
          </a:xfrm>
          <a:prstGeom prst="ellipse">
            <a:avLst/>
          </a:prstGeom>
          <a:solidFill>
            <a:srgbClr val="0E8F63"/>
          </a:solidFill>
        </p:spPr>
      </p:sp>
      <p:sp>
        <p:nvSpPr>
          <p:cNvPr id="39" name="module-badge-text-3"/>
          <p:cNvSpPr/>
          <p:nvPr/>
        </p:nvSpPr>
        <p:spPr>
          <a:xfrm>
            <a:off x="11150600" y="57023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40" name="module-text-3"/>
          <p:cNvSpPr/>
          <p:nvPr/>
        </p:nvSpPr>
        <p:spPr>
          <a:xfrm>
            <a:off x="11658600" y="5651500"/>
            <a:ext cx="3556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Threat modeling &amp; classification</a:t>
            </a:r>
            <a:endParaRPr lang="en-US" sz="1400" dirty="0"/>
          </a:p>
        </p:txBody>
      </p:sp>
      <p:sp>
        <p:nvSpPr>
          <p:cNvPr id="41" name="module-card-4"/>
          <p:cNvSpPr/>
          <p:nvPr/>
        </p:nvSpPr>
        <p:spPr>
          <a:xfrm>
            <a:off x="762000" y="6553200"/>
            <a:ext cx="4588510" cy="736600"/>
          </a:xfrm>
          <a:prstGeom prst="roundRect">
            <a:avLst>
              <a:gd name="adj" fmla="val 20690"/>
            </a:avLst>
          </a:prstGeom>
          <a:solidFill>
            <a:srgbClr val="FFFFFF"/>
          </a:solidFill>
          <a:ln w="12700">
            <a:solidFill>
              <a:srgbClr val="E2E8F0"/>
            </a:solidFill>
            <a:prstDash val="solid"/>
          </a:ln>
        </p:spPr>
      </p:sp>
      <p:sp>
        <p:nvSpPr>
          <p:cNvPr id="42" name="module-badge-4"/>
          <p:cNvSpPr/>
          <p:nvPr/>
        </p:nvSpPr>
        <p:spPr>
          <a:xfrm>
            <a:off x="990600" y="6743700"/>
            <a:ext cx="330200" cy="330200"/>
          </a:xfrm>
          <a:prstGeom prst="ellipse">
            <a:avLst/>
          </a:prstGeom>
          <a:solidFill>
            <a:srgbClr val="0E8F63"/>
          </a:solidFill>
        </p:spPr>
      </p:sp>
      <p:sp>
        <p:nvSpPr>
          <p:cNvPr id="43" name="module-badge-text-4"/>
          <p:cNvSpPr/>
          <p:nvPr/>
        </p:nvSpPr>
        <p:spPr>
          <a:xfrm>
            <a:off x="990600" y="67945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4</a:t>
            </a:r>
            <a:endParaRPr lang="en-US" sz="1400" dirty="0"/>
          </a:p>
        </p:txBody>
      </p:sp>
      <p:sp>
        <p:nvSpPr>
          <p:cNvPr id="44" name="module-text-4"/>
          <p:cNvSpPr/>
          <p:nvPr/>
        </p:nvSpPr>
        <p:spPr>
          <a:xfrm>
            <a:off x="1498600" y="6794500"/>
            <a:ext cx="5969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Dashboard &amp; incident visualization</a:t>
            </a:r>
            <a:endParaRPr lang="en-US" sz="1400" dirty="0"/>
          </a:p>
        </p:txBody>
      </p:sp>
      <p:sp>
        <p:nvSpPr>
          <p:cNvPr id="45" name="module-card-5"/>
          <p:cNvSpPr/>
          <p:nvPr/>
        </p:nvSpPr>
        <p:spPr>
          <a:xfrm>
            <a:off x="5750560" y="6553200"/>
            <a:ext cx="4663440" cy="736600"/>
          </a:xfrm>
          <a:prstGeom prst="roundRect">
            <a:avLst>
              <a:gd name="adj" fmla="val 20690"/>
            </a:avLst>
          </a:prstGeom>
          <a:solidFill>
            <a:srgbClr val="FFFFFF"/>
          </a:solidFill>
          <a:ln w="12700">
            <a:solidFill>
              <a:srgbClr val="E2E8F0"/>
            </a:solidFill>
            <a:prstDash val="solid"/>
          </a:ln>
        </p:spPr>
      </p:sp>
      <p:sp>
        <p:nvSpPr>
          <p:cNvPr id="46" name="module-badge-5"/>
          <p:cNvSpPr/>
          <p:nvPr/>
        </p:nvSpPr>
        <p:spPr>
          <a:xfrm>
            <a:off x="6070600" y="6819900"/>
            <a:ext cx="330200" cy="330200"/>
          </a:xfrm>
          <a:prstGeom prst="ellipse">
            <a:avLst/>
          </a:prstGeom>
          <a:solidFill>
            <a:srgbClr val="0E8F63"/>
          </a:solidFill>
        </p:spPr>
      </p:sp>
      <p:sp>
        <p:nvSpPr>
          <p:cNvPr id="47" name="module-badge-text-5"/>
          <p:cNvSpPr/>
          <p:nvPr/>
        </p:nvSpPr>
        <p:spPr>
          <a:xfrm>
            <a:off x="6070600" y="6616700"/>
            <a:ext cx="330200" cy="203200"/>
          </a:xfrm>
          <a:prstGeom prst="rect">
            <a:avLst/>
          </a:prstGeom>
          <a:noFill/>
        </p:spPr>
        <p:txBody>
          <a:bodyPr wrap="none" lIns="0" tIns="0" rIns="0" bIns="0" rtlCol="0" anchor="t"/>
          <a:lstStyle/>
          <a:p>
            <a:pPr marL="0" indent="0" algn="ctr">
              <a:buNone/>
            </a:pPr>
            <a:endParaRPr lang="en-US" sz="1400" dirty="0"/>
          </a:p>
        </p:txBody>
      </p:sp>
      <p:sp>
        <p:nvSpPr>
          <p:cNvPr id="48" name="module-text-5"/>
          <p:cNvSpPr/>
          <p:nvPr/>
        </p:nvSpPr>
        <p:spPr>
          <a:xfrm>
            <a:off x="6638290" y="6870700"/>
            <a:ext cx="2948940" cy="277495"/>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Reporting &amp; decision support</a:t>
            </a:r>
            <a:endParaRPr lang="en-US" sz="1400" dirty="0"/>
          </a:p>
        </p:txBody>
      </p:sp>
      <p:pic>
        <p:nvPicPr>
          <p:cNvPr id="49" name="Picture 48"/>
          <p:cNvPicPr>
            <a:picLocks noChangeAspect="1"/>
          </p:cNvPicPr>
          <p:nvPr/>
        </p:nvPicPr>
        <p:blipFill>
          <a:blip r:embed="rId1"/>
          <a:srcRect t="27119" b="14044"/>
          <a:stretch>
            <a:fillRect/>
          </a:stretch>
        </p:blipFill>
        <p:spPr>
          <a:xfrm>
            <a:off x="0" y="0"/>
            <a:ext cx="16256000" cy="745490"/>
          </a:xfrm>
          <a:prstGeom prst="rect">
            <a:avLst/>
          </a:prstGeom>
        </p:spPr>
      </p:pic>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2</a:t>
            </a:r>
            <a:endParaRPr lang="en-US"/>
          </a:p>
        </p:txBody>
      </p:sp>
      <p:sp>
        <p:nvSpPr>
          <p:cNvPr id="51" name="module-badge-text-5"/>
          <p:cNvSpPr/>
          <p:nvPr/>
        </p:nvSpPr>
        <p:spPr>
          <a:xfrm>
            <a:off x="6070600" y="68707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1270000"/>
            <a:ext cx="50800" cy="368300"/>
          </a:xfrm>
          <a:prstGeom prst="rect">
            <a:avLst/>
          </a:prstGeom>
          <a:solidFill>
            <a:srgbClr val="0E8F63"/>
          </a:solidFill>
        </p:spPr>
      </p:sp>
      <p:sp>
        <p:nvSpPr>
          <p:cNvPr id="3" name="slide-title"/>
          <p:cNvSpPr/>
          <p:nvPr/>
        </p:nvSpPr>
        <p:spPr>
          <a:xfrm>
            <a:off x="762000" y="1216660"/>
            <a:ext cx="1143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Project Execution Milestones</a:t>
            </a:r>
            <a:endParaRPr lang="en-US" sz="3000" dirty="0"/>
          </a:p>
        </p:txBody>
      </p:sp>
      <p:sp>
        <p:nvSpPr>
          <p:cNvPr id="6"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03</a:t>
            </a:r>
            <a:endParaRPr lang="en-US" sz="1400" dirty="0"/>
          </a:p>
        </p:txBody>
      </p:sp>
      <p:sp>
        <p:nvSpPr>
          <p:cNvPr id="7" name="milestone-card-1"/>
          <p:cNvSpPr/>
          <p:nvPr/>
        </p:nvSpPr>
        <p:spPr>
          <a:xfrm>
            <a:off x="457200" y="1982470"/>
            <a:ext cx="7112000" cy="1727000"/>
          </a:xfrm>
          <a:prstGeom prst="roundRect">
            <a:avLst>
              <a:gd name="adj" fmla="val 15385"/>
            </a:avLst>
          </a:prstGeom>
          <a:solidFill>
            <a:srgbClr val="FFFFFF"/>
          </a:solidFill>
          <a:ln w="12700">
            <a:solidFill>
              <a:srgbClr val="E2E8F0"/>
            </a:solidFill>
            <a:prstDash val="solid"/>
          </a:ln>
        </p:spPr>
      </p:sp>
      <p:sp>
        <p:nvSpPr>
          <p:cNvPr id="8" name="milestone-badge-1"/>
          <p:cNvSpPr/>
          <p:nvPr/>
        </p:nvSpPr>
        <p:spPr>
          <a:xfrm>
            <a:off x="965200" y="2479675"/>
            <a:ext cx="342900" cy="342900"/>
          </a:xfrm>
          <a:prstGeom prst="ellipse">
            <a:avLst/>
          </a:prstGeom>
          <a:solidFill>
            <a:srgbClr val="2F6FED"/>
          </a:solidFill>
        </p:spPr>
      </p:sp>
      <p:sp>
        <p:nvSpPr>
          <p:cNvPr id="9" name="milestone-badge-text-1"/>
          <p:cNvSpPr/>
          <p:nvPr/>
        </p:nvSpPr>
        <p:spPr>
          <a:xfrm>
            <a:off x="965200" y="2568575"/>
            <a:ext cx="3429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10" name="milestone-title-1"/>
          <p:cNvSpPr/>
          <p:nvPr/>
        </p:nvSpPr>
        <p:spPr>
          <a:xfrm>
            <a:off x="1791970" y="2365375"/>
            <a:ext cx="5842000" cy="254000"/>
          </a:xfrm>
          <a:prstGeom prst="rect">
            <a:avLst/>
          </a:prstGeom>
          <a:noFill/>
        </p:spPr>
        <p:txBody>
          <a:bodyPr wrap="none" lIns="0" tIns="0" rIns="0" bIns="0" rtlCol="0" anchor="t"/>
          <a:lstStyle/>
          <a:p>
            <a:pPr marL="0" indent="0" algn="l">
              <a:buNone/>
            </a:pPr>
            <a:r>
              <a:rPr lang="en-US" altLang="en-US" sz="1500" b="1" dirty="0">
                <a:solidFill>
                  <a:srgbClr val="1E2761"/>
                </a:solidFill>
                <a:latin typeface="Outfit" pitchFamily="34" charset="0"/>
                <a:ea typeface="Outfit" pitchFamily="34" charset="-122"/>
                <a:cs typeface="Outfit" pitchFamily="34" charset="-120"/>
              </a:rPr>
              <a:t>Data Foundation &amp; Preparation</a:t>
            </a:r>
            <a:endParaRPr lang="en-US" sz="1500" dirty="0"/>
          </a:p>
        </p:txBody>
      </p:sp>
      <p:sp>
        <p:nvSpPr>
          <p:cNvPr id="11" name="milestone-body-1"/>
          <p:cNvSpPr/>
          <p:nvPr/>
        </p:nvSpPr>
        <p:spPr>
          <a:xfrm>
            <a:off x="1791970" y="2760345"/>
            <a:ext cx="5842000" cy="5334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Dataset collection, preprocessing, cleaning, and data validation.</a:t>
            </a:r>
            <a:endParaRPr lang="en-US" sz="1400" dirty="0"/>
          </a:p>
        </p:txBody>
      </p:sp>
      <p:sp>
        <p:nvSpPr>
          <p:cNvPr id="12" name="milestone-card-2"/>
          <p:cNvSpPr/>
          <p:nvPr/>
        </p:nvSpPr>
        <p:spPr>
          <a:xfrm>
            <a:off x="8382000" y="1972310"/>
            <a:ext cx="7112000" cy="1727000"/>
          </a:xfrm>
          <a:prstGeom prst="roundRect">
            <a:avLst>
              <a:gd name="adj" fmla="val 15385"/>
            </a:avLst>
          </a:prstGeom>
          <a:solidFill>
            <a:srgbClr val="FFFFFF"/>
          </a:solidFill>
          <a:ln w="12700">
            <a:solidFill>
              <a:srgbClr val="E2E8F0"/>
            </a:solidFill>
            <a:prstDash val="solid"/>
          </a:ln>
        </p:spPr>
      </p:sp>
      <p:sp>
        <p:nvSpPr>
          <p:cNvPr id="13" name="milestone-badge-2"/>
          <p:cNvSpPr/>
          <p:nvPr/>
        </p:nvSpPr>
        <p:spPr>
          <a:xfrm>
            <a:off x="8890000" y="2479675"/>
            <a:ext cx="342900" cy="342900"/>
          </a:xfrm>
          <a:prstGeom prst="ellipse">
            <a:avLst/>
          </a:prstGeom>
          <a:solidFill>
            <a:srgbClr val="0E8F63"/>
          </a:solidFill>
        </p:spPr>
      </p:sp>
      <p:sp>
        <p:nvSpPr>
          <p:cNvPr id="14" name="milestone-badge-text-2"/>
          <p:cNvSpPr/>
          <p:nvPr/>
        </p:nvSpPr>
        <p:spPr>
          <a:xfrm>
            <a:off x="8890000" y="2568575"/>
            <a:ext cx="3429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15" name="milestone-title-2"/>
          <p:cNvSpPr/>
          <p:nvPr/>
        </p:nvSpPr>
        <p:spPr>
          <a:xfrm>
            <a:off x="9716770" y="2365375"/>
            <a:ext cx="5842000" cy="254000"/>
          </a:xfrm>
          <a:prstGeom prst="rect">
            <a:avLst/>
          </a:prstGeom>
          <a:noFill/>
        </p:spPr>
        <p:txBody>
          <a:bodyPr wrap="none" lIns="0" tIns="0" rIns="0" bIns="0" rtlCol="0" anchor="t"/>
          <a:lstStyle/>
          <a:p>
            <a:pPr marL="0" indent="0" algn="l">
              <a:buNone/>
            </a:pPr>
            <a:r>
              <a:rPr lang="en-US" altLang="en-US" sz="1500" b="1" dirty="0">
                <a:solidFill>
                  <a:srgbClr val="1E2761"/>
                </a:solidFill>
                <a:latin typeface="Outfit" pitchFamily="34" charset="0"/>
                <a:ea typeface="Outfit" pitchFamily="34" charset="-122"/>
                <a:cs typeface="Outfit" pitchFamily="34" charset="-120"/>
              </a:rPr>
              <a:t>Core Dashboard Development</a:t>
            </a:r>
            <a:endParaRPr lang="en-US" sz="1500" dirty="0"/>
          </a:p>
        </p:txBody>
      </p:sp>
      <p:sp>
        <p:nvSpPr>
          <p:cNvPr id="16" name="milestone-body-2"/>
          <p:cNvSpPr/>
          <p:nvPr/>
        </p:nvSpPr>
        <p:spPr>
          <a:xfrm>
            <a:off x="9716770" y="2760345"/>
            <a:ext cx="5842000" cy="5334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Built the first two interactive Power BI dashboards for cybersecurity analysis.</a:t>
            </a:r>
            <a:endParaRPr lang="en-US" sz="1400" dirty="0"/>
          </a:p>
        </p:txBody>
      </p:sp>
      <p:sp>
        <p:nvSpPr>
          <p:cNvPr id="17" name="milestone-card-3"/>
          <p:cNvSpPr/>
          <p:nvPr/>
        </p:nvSpPr>
        <p:spPr>
          <a:xfrm>
            <a:off x="457200" y="4316645"/>
            <a:ext cx="7112000" cy="1994000"/>
          </a:xfrm>
          <a:prstGeom prst="roundRect">
            <a:avLst>
              <a:gd name="adj" fmla="val 15385"/>
            </a:avLst>
          </a:prstGeom>
          <a:solidFill>
            <a:srgbClr val="FFFFFF"/>
          </a:solidFill>
          <a:ln w="12700">
            <a:solidFill>
              <a:srgbClr val="E2E8F0"/>
            </a:solidFill>
            <a:prstDash val="solid"/>
          </a:ln>
        </p:spPr>
      </p:sp>
      <p:sp>
        <p:nvSpPr>
          <p:cNvPr id="18" name="milestone-badge-3"/>
          <p:cNvSpPr/>
          <p:nvPr/>
        </p:nvSpPr>
        <p:spPr>
          <a:xfrm>
            <a:off x="965200" y="4556675"/>
            <a:ext cx="342900" cy="342900"/>
          </a:xfrm>
          <a:prstGeom prst="ellipse">
            <a:avLst/>
          </a:prstGeom>
          <a:solidFill>
            <a:srgbClr val="2F6FED"/>
          </a:solidFill>
        </p:spPr>
      </p:sp>
      <p:sp>
        <p:nvSpPr>
          <p:cNvPr id="19" name="milestone-badge-text-3"/>
          <p:cNvSpPr/>
          <p:nvPr/>
        </p:nvSpPr>
        <p:spPr>
          <a:xfrm>
            <a:off x="965200" y="4645575"/>
            <a:ext cx="3429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20" name="milestone-title-3"/>
          <p:cNvSpPr/>
          <p:nvPr/>
        </p:nvSpPr>
        <p:spPr>
          <a:xfrm>
            <a:off x="1791970" y="4667800"/>
            <a:ext cx="5842000" cy="254000"/>
          </a:xfrm>
          <a:prstGeom prst="rect">
            <a:avLst/>
          </a:prstGeom>
          <a:noFill/>
        </p:spPr>
        <p:txBody>
          <a:bodyPr wrap="none" lIns="0" tIns="0" rIns="0" bIns="0" rtlCol="0" anchor="t"/>
          <a:lstStyle/>
          <a:p>
            <a:pPr marL="0" indent="0" algn="l">
              <a:buNone/>
            </a:pPr>
            <a:r>
              <a:rPr lang="en-US" altLang="en-US" sz="1500" b="1" dirty="0">
                <a:solidFill>
                  <a:srgbClr val="1E2761"/>
                </a:solidFill>
                <a:latin typeface="Outfit" pitchFamily="34" charset="0"/>
                <a:ea typeface="Outfit" pitchFamily="34" charset="-122"/>
                <a:cs typeface="Outfit" pitchFamily="34" charset="-120"/>
              </a:rPr>
              <a:t>Advanced Visualization &amp; Threat Pattern Analysis</a:t>
            </a:r>
            <a:endParaRPr lang="en-US" sz="1500" dirty="0"/>
          </a:p>
        </p:txBody>
      </p:sp>
      <p:sp>
        <p:nvSpPr>
          <p:cNvPr id="21" name="milestone-body-3"/>
          <p:cNvSpPr/>
          <p:nvPr/>
        </p:nvSpPr>
        <p:spPr>
          <a:xfrm>
            <a:off x="1791970" y="5192310"/>
            <a:ext cx="5842000" cy="5334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Created additional interactive dashboards to perform deeper cybersecurity threat pattern analysis and generate insights.</a:t>
            </a:r>
            <a:endParaRPr lang="en-US" sz="1400" dirty="0"/>
          </a:p>
        </p:txBody>
      </p:sp>
      <p:sp>
        <p:nvSpPr>
          <p:cNvPr id="22" name="milestone-card-4"/>
          <p:cNvSpPr/>
          <p:nvPr/>
        </p:nvSpPr>
        <p:spPr>
          <a:xfrm>
            <a:off x="8382000" y="4316010"/>
            <a:ext cx="7112000" cy="1994000"/>
          </a:xfrm>
          <a:prstGeom prst="roundRect">
            <a:avLst>
              <a:gd name="adj" fmla="val 15385"/>
            </a:avLst>
          </a:prstGeom>
          <a:solidFill>
            <a:srgbClr val="FFFFFF"/>
          </a:solidFill>
          <a:ln w="12700">
            <a:solidFill>
              <a:srgbClr val="E2E8F0"/>
            </a:solidFill>
            <a:prstDash val="solid"/>
          </a:ln>
        </p:spPr>
      </p:sp>
      <p:sp>
        <p:nvSpPr>
          <p:cNvPr id="23" name="milestone-badge-4"/>
          <p:cNvSpPr/>
          <p:nvPr/>
        </p:nvSpPr>
        <p:spPr>
          <a:xfrm>
            <a:off x="8890000" y="4556675"/>
            <a:ext cx="342900" cy="342900"/>
          </a:xfrm>
          <a:prstGeom prst="ellipse">
            <a:avLst/>
          </a:prstGeom>
          <a:solidFill>
            <a:srgbClr val="0E8F63"/>
          </a:solidFill>
        </p:spPr>
      </p:sp>
      <p:sp>
        <p:nvSpPr>
          <p:cNvPr id="24" name="milestone-badge-text-4"/>
          <p:cNvSpPr/>
          <p:nvPr/>
        </p:nvSpPr>
        <p:spPr>
          <a:xfrm>
            <a:off x="8890000" y="4645575"/>
            <a:ext cx="3429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4</a:t>
            </a:r>
            <a:endParaRPr lang="en-US" sz="1400" dirty="0"/>
          </a:p>
        </p:txBody>
      </p:sp>
      <p:sp>
        <p:nvSpPr>
          <p:cNvPr id="25" name="milestone-title-4"/>
          <p:cNvSpPr/>
          <p:nvPr/>
        </p:nvSpPr>
        <p:spPr>
          <a:xfrm>
            <a:off x="9716770" y="4577630"/>
            <a:ext cx="5842000" cy="254000"/>
          </a:xfrm>
          <a:prstGeom prst="rect">
            <a:avLst/>
          </a:prstGeom>
          <a:noFill/>
        </p:spPr>
        <p:txBody>
          <a:bodyPr wrap="none" lIns="0" tIns="0" rIns="0" bIns="0" rtlCol="0" anchor="t"/>
          <a:lstStyle/>
          <a:p>
            <a:pPr marL="0" indent="0" algn="l">
              <a:buNone/>
            </a:pPr>
            <a:r>
              <a:rPr lang="en-US" altLang="en-US" sz="1500" b="1" dirty="0">
                <a:solidFill>
                  <a:srgbClr val="1E2761"/>
                </a:solidFill>
                <a:latin typeface="Outfit" pitchFamily="34" charset="0"/>
                <a:ea typeface="Outfit" pitchFamily="34" charset="-122"/>
                <a:cs typeface="Outfit" pitchFamily="34" charset="-120"/>
              </a:rPr>
              <a:t>Insight Generation, Reporting &amp; Documentation</a:t>
            </a:r>
            <a:endParaRPr lang="en-US" sz="1500" dirty="0"/>
          </a:p>
        </p:txBody>
      </p:sp>
      <p:sp>
        <p:nvSpPr>
          <p:cNvPr id="26" name="milestone-body-4"/>
          <p:cNvSpPr/>
          <p:nvPr/>
        </p:nvSpPr>
        <p:spPr>
          <a:xfrm>
            <a:off x="9461500" y="5208820"/>
            <a:ext cx="5842000" cy="8001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Created the remaining dashboards, consolidated findings, generated cybersecurity insights, and completed the final project documentation.</a:t>
            </a:r>
            <a:endParaRPr lang="en-US" sz="1400" dirty="0"/>
          </a:p>
        </p:txBody>
      </p:sp>
      <p:sp>
        <p:nvSpPr>
          <p:cNvPr id="28" name="workflow-label-text"/>
          <p:cNvSpPr/>
          <p:nvPr/>
        </p:nvSpPr>
        <p:spPr>
          <a:xfrm>
            <a:off x="762000" y="3992880"/>
            <a:ext cx="1955800" cy="203200"/>
          </a:xfrm>
          <a:prstGeom prst="rect">
            <a:avLst/>
          </a:prstGeom>
          <a:noFill/>
        </p:spPr>
        <p:txBody>
          <a:bodyPr wrap="none" lIns="0" tIns="0" rIns="0" bIns="0" rtlCol="0" anchor="t"/>
          <a:lstStyle/>
          <a:p>
            <a:pPr marL="0" indent="0" algn="ctr">
              <a:buNone/>
            </a:pPr>
            <a:endParaRPr lang="en-US" sz="1400" dirty="0"/>
          </a:p>
        </p:txBody>
      </p:sp>
      <p:sp>
        <p:nvSpPr>
          <p:cNvPr id="53" name="workflow-text-5"/>
          <p:cNvSpPr/>
          <p:nvPr/>
        </p:nvSpPr>
        <p:spPr>
          <a:xfrm>
            <a:off x="11506200" y="5041900"/>
            <a:ext cx="1371600" cy="558800"/>
          </a:xfrm>
          <a:prstGeom prst="rect">
            <a:avLst/>
          </a:prstGeom>
          <a:noFill/>
        </p:spPr>
        <p:txBody>
          <a:bodyPr wrap="square" lIns="0" tIns="0" rIns="0" bIns="0" rtlCol="0" anchor="ctr"/>
          <a:lstStyle/>
          <a:p>
            <a:pPr marL="0" indent="0" algn="ctr">
              <a:buNone/>
            </a:pPr>
            <a:endParaRPr lang="en-US" sz="1300" dirty="0"/>
          </a:p>
        </p:txBody>
      </p:sp>
      <p:sp>
        <p:nvSpPr>
          <p:cNvPr id="58" name="workflow-takeaway"/>
          <p:cNvSpPr/>
          <p:nvPr/>
        </p:nvSpPr>
        <p:spPr>
          <a:xfrm>
            <a:off x="2286000" y="7623810"/>
            <a:ext cx="11684000" cy="355600"/>
          </a:xfrm>
          <a:prstGeom prst="rect">
            <a:avLst/>
          </a:prstGeom>
          <a:noFill/>
        </p:spPr>
        <p:txBody>
          <a:bodyPr wrap="none" lIns="0" tIns="0" rIns="0" bIns="0" rtlCol="0" anchor="ctr"/>
          <a:lstStyle/>
          <a:p>
            <a:pPr marL="0" indent="0" algn="ctr">
              <a:buNone/>
            </a:pPr>
            <a:endParaRPr lang="en-US" sz="1800" dirty="0"/>
          </a:p>
        </p:txBody>
      </p:sp>
      <p:sp>
        <p:nvSpPr>
          <p:cNvPr id="59" name="workflow-note"/>
          <p:cNvSpPr/>
          <p:nvPr/>
        </p:nvSpPr>
        <p:spPr>
          <a:xfrm>
            <a:off x="2921000" y="8007350"/>
            <a:ext cx="10414000" cy="304800"/>
          </a:xfrm>
          <a:prstGeom prst="rect">
            <a:avLst/>
          </a:prstGeom>
          <a:noFill/>
        </p:spPr>
        <p:txBody>
          <a:bodyPr wrap="none" lIns="0" tIns="0" rIns="0" bIns="0" rtlCol="0" anchor="ctr"/>
          <a:lstStyle/>
          <a:p>
            <a:pPr marL="0" indent="0" algn="ctr">
              <a:buNone/>
            </a:pPr>
            <a:endParaRPr lang="en-US" sz="1400" dirty="0"/>
          </a:p>
        </p:txBody>
      </p:sp>
      <p:sp>
        <p:nvSpPr>
          <p:cNvPr id="6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3</a:t>
            </a:r>
            <a:endParaRPr lang="en-US"/>
          </a:p>
        </p:txBody>
      </p:sp>
      <p:pic>
        <p:nvPicPr>
          <p:cNvPr id="61" name="Picture 60"/>
          <p:cNvPicPr>
            <a:picLocks noChangeAspect="1"/>
          </p:cNvPicPr>
          <p:nvPr/>
        </p:nvPicPr>
        <p:blipFill>
          <a:blip r:embed="rId1"/>
          <a:srcRect t="27119" b="14044"/>
          <a:stretch>
            <a:fillRect/>
          </a:stretch>
        </p:blipFill>
        <p:spPr>
          <a:xfrm>
            <a:off x="0" y="0"/>
            <a:ext cx="16256000" cy="7454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06400" y="1092835"/>
            <a:ext cx="50800" cy="368300"/>
          </a:xfrm>
          <a:prstGeom prst="rect">
            <a:avLst/>
          </a:prstGeom>
          <a:solidFill>
            <a:srgbClr val="0E8F63"/>
          </a:solidFill>
        </p:spPr>
      </p:sp>
      <p:sp>
        <p:nvSpPr>
          <p:cNvPr id="3" name="slide-title"/>
          <p:cNvSpPr/>
          <p:nvPr/>
        </p:nvSpPr>
        <p:spPr>
          <a:xfrm>
            <a:off x="635000" y="1092835"/>
            <a:ext cx="1143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Project Workflow</a:t>
            </a:r>
            <a:endParaRPr lang="en-US" sz="3000" dirty="0"/>
          </a:p>
        </p:txBody>
      </p:sp>
      <p:sp>
        <p:nvSpPr>
          <p:cNvPr id="6"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03</a:t>
            </a:r>
            <a:endParaRPr lang="en-US" sz="1400" dirty="0"/>
          </a:p>
        </p:txBody>
      </p:sp>
      <p:sp>
        <p:nvSpPr>
          <p:cNvPr id="27" name="workflow-label"/>
          <p:cNvSpPr/>
          <p:nvPr/>
        </p:nvSpPr>
        <p:spPr>
          <a:xfrm>
            <a:off x="635000" y="1963420"/>
            <a:ext cx="2649220" cy="556895"/>
          </a:xfrm>
          <a:prstGeom prst="roundRect">
            <a:avLst>
              <a:gd name="adj" fmla="val 50000"/>
            </a:avLst>
          </a:prstGeom>
          <a:solidFill>
            <a:srgbClr val="FEF3C7"/>
          </a:solidFill>
        </p:spPr>
      </p:sp>
      <p:sp>
        <p:nvSpPr>
          <p:cNvPr id="28" name="workflow-label-text"/>
          <p:cNvSpPr/>
          <p:nvPr/>
        </p:nvSpPr>
        <p:spPr>
          <a:xfrm>
            <a:off x="965200" y="2141220"/>
            <a:ext cx="1955800" cy="203200"/>
          </a:xfrm>
          <a:prstGeom prst="rect">
            <a:avLst/>
          </a:prstGeom>
          <a:noFill/>
        </p:spPr>
        <p:txBody>
          <a:bodyPr wrap="none" lIns="0" tIns="0" rIns="0" bIns="0" rtlCol="0" anchor="t"/>
          <a:lstStyle/>
          <a:p>
            <a:pPr marL="0" indent="0" algn="ctr">
              <a:buNone/>
            </a:pPr>
            <a:r>
              <a:rPr lang="en-US" altLang="en-US" sz="1400" b="1" dirty="0">
                <a:solidFill>
                  <a:srgbClr val="F59E0B"/>
                </a:solidFill>
                <a:latin typeface="Outfit" pitchFamily="34" charset="0"/>
                <a:ea typeface="Outfit" pitchFamily="34" charset="-122"/>
                <a:cs typeface="Outfit" pitchFamily="34" charset="-120"/>
              </a:rPr>
              <a:t>END-TO-END WORKFLOW</a:t>
            </a:r>
            <a:endParaRPr lang="en-US" sz="1400" dirty="0"/>
          </a:p>
        </p:txBody>
      </p:sp>
      <p:sp>
        <p:nvSpPr>
          <p:cNvPr id="53" name="workflow-text-5"/>
          <p:cNvSpPr/>
          <p:nvPr/>
        </p:nvSpPr>
        <p:spPr>
          <a:xfrm>
            <a:off x="11506200" y="5041900"/>
            <a:ext cx="1371600" cy="558800"/>
          </a:xfrm>
          <a:prstGeom prst="rect">
            <a:avLst/>
          </a:prstGeom>
          <a:noFill/>
        </p:spPr>
        <p:txBody>
          <a:bodyPr wrap="square" lIns="0" tIns="0" rIns="0" bIns="0" rtlCol="0" anchor="ctr"/>
          <a:lstStyle/>
          <a:p>
            <a:pPr marL="0" indent="0" algn="ctr">
              <a:buNone/>
            </a:pPr>
            <a:endParaRPr lang="en-US" sz="1300" dirty="0"/>
          </a:p>
        </p:txBody>
      </p:sp>
      <p:sp>
        <p:nvSpPr>
          <p:cNvPr id="58" name="workflow-takeaway"/>
          <p:cNvSpPr/>
          <p:nvPr/>
        </p:nvSpPr>
        <p:spPr>
          <a:xfrm>
            <a:off x="2286000" y="7623810"/>
            <a:ext cx="11684000" cy="355600"/>
          </a:xfrm>
          <a:prstGeom prst="rect">
            <a:avLst/>
          </a:prstGeom>
          <a:noFill/>
        </p:spPr>
        <p:txBody>
          <a:bodyPr wrap="none" lIns="0" tIns="0" rIns="0" bIns="0" rtlCol="0" anchor="ctr"/>
          <a:lstStyle/>
          <a:p>
            <a:pPr marL="0" indent="0" algn="ctr">
              <a:buNone/>
            </a:pPr>
            <a:r>
              <a:rPr lang="en-US" altLang="en-US" sz="1800" b="1" dirty="0">
                <a:solidFill>
                  <a:srgbClr val="1E2761"/>
                </a:solidFill>
                <a:latin typeface="Corbel" panose="020B0503020204020204" pitchFamily="34" charset="0"/>
                <a:ea typeface="Corbel" panose="020B0503020204020204" pitchFamily="34" charset="-122"/>
                <a:cs typeface="Corbel" panose="020B0503020204020204" pitchFamily="34" charset="-120"/>
              </a:rPr>
              <a:t>From raw incident records to decision-ready security insight</a:t>
            </a:r>
            <a:endParaRPr lang="en-US" sz="1800" dirty="0"/>
          </a:p>
        </p:txBody>
      </p:sp>
      <p:sp>
        <p:nvSpPr>
          <p:cNvPr id="59" name="workflow-note"/>
          <p:cNvSpPr/>
          <p:nvPr/>
        </p:nvSpPr>
        <p:spPr>
          <a:xfrm>
            <a:off x="2921000" y="8007350"/>
            <a:ext cx="10414000" cy="304800"/>
          </a:xfrm>
          <a:prstGeom prst="rect">
            <a:avLst/>
          </a:prstGeom>
          <a:noFill/>
        </p:spPr>
        <p:txBody>
          <a:bodyPr wrap="none" lIns="0" tIns="0" rIns="0" bIns="0" rtlCol="0" anchor="ctr"/>
          <a:lstStyle/>
          <a:p>
            <a:pPr marL="0" indent="0" algn="ctr">
              <a:buNone/>
            </a:pPr>
            <a:r>
              <a:rPr lang="en-US" altLang="en-US" sz="1400" dirty="0">
                <a:solidFill>
                  <a:srgbClr val="5A6B85"/>
                </a:solidFill>
                <a:latin typeface="Outfit" pitchFamily="34" charset="0"/>
                <a:ea typeface="Outfit" pitchFamily="34" charset="-122"/>
                <a:cs typeface="Outfit" pitchFamily="34" charset="-120"/>
              </a:rPr>
              <a:t>The workflow preserves record counts while turning noisy event data into structured, explainable outputs.</a:t>
            </a:r>
            <a:endParaRPr lang="en-US" sz="1400" dirty="0"/>
          </a:p>
        </p:txBody>
      </p:sp>
      <p:sp>
        <p:nvSpPr>
          <p:cNvPr id="6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4</a:t>
            </a:r>
            <a:endParaRPr lang="en-US"/>
          </a:p>
        </p:txBody>
      </p:sp>
      <p:pic>
        <p:nvPicPr>
          <p:cNvPr id="61" name="Picture 60"/>
          <p:cNvPicPr>
            <a:picLocks noChangeAspect="1"/>
          </p:cNvPicPr>
          <p:nvPr/>
        </p:nvPicPr>
        <p:blipFill>
          <a:blip r:embed="rId1"/>
          <a:srcRect t="27119" b="14044"/>
          <a:stretch>
            <a:fillRect/>
          </a:stretch>
        </p:blipFill>
        <p:spPr>
          <a:xfrm>
            <a:off x="0" y="0"/>
            <a:ext cx="16256000" cy="704850"/>
          </a:xfrm>
          <a:prstGeom prst="rect">
            <a:avLst/>
          </a:prstGeom>
        </p:spPr>
      </p:pic>
      <p:pic>
        <p:nvPicPr>
          <p:cNvPr id="62" name="Picture 61" descr="ChatGPT Image Aug 17, 2026, 10_49_40 AM"/>
          <p:cNvPicPr>
            <a:picLocks noChangeAspect="1"/>
          </p:cNvPicPr>
          <p:nvPr/>
        </p:nvPicPr>
        <p:blipFill>
          <a:blip r:embed="rId2"/>
          <a:srcRect t="21608" b="14053"/>
          <a:stretch>
            <a:fillRect/>
          </a:stretch>
        </p:blipFill>
        <p:spPr>
          <a:xfrm>
            <a:off x="635000" y="2787650"/>
            <a:ext cx="13288645" cy="439293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1270000"/>
            <a:ext cx="50800" cy="368300"/>
          </a:xfrm>
          <a:prstGeom prst="rect">
            <a:avLst/>
          </a:prstGeom>
          <a:solidFill>
            <a:srgbClr val="0E8F63"/>
          </a:solidFill>
        </p:spPr>
      </p:sp>
      <p:sp>
        <p:nvSpPr>
          <p:cNvPr id="3" name="slide-title"/>
          <p:cNvSpPr/>
          <p:nvPr/>
        </p:nvSpPr>
        <p:spPr>
          <a:xfrm>
            <a:off x="762000" y="1216660"/>
            <a:ext cx="120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Executive Summary Dashboard</a:t>
            </a:r>
            <a:endParaRPr lang="en-US" sz="3000" dirty="0"/>
          </a:p>
        </p:txBody>
      </p:sp>
      <p:sp>
        <p:nvSpPr>
          <p:cNvPr id="4" name="pill-bg"/>
          <p:cNvSpPr/>
          <p:nvPr/>
        </p:nvSpPr>
        <p:spPr>
          <a:xfrm>
            <a:off x="762000" y="1790700"/>
            <a:ext cx="929200" cy="342900"/>
          </a:xfrm>
          <a:prstGeom prst="roundRect">
            <a:avLst>
              <a:gd name="adj" fmla="val 50000"/>
            </a:avLst>
          </a:prstGeom>
          <a:solidFill>
            <a:srgbClr val="E9F6F0"/>
          </a:solidFill>
        </p:spPr>
      </p:sp>
      <p:sp>
        <p:nvSpPr>
          <p:cNvPr id="5" name="pill-text"/>
          <p:cNvSpPr/>
          <p:nvPr/>
        </p:nvSpPr>
        <p:spPr>
          <a:xfrm>
            <a:off x="1022000" y="1866900"/>
            <a:ext cx="409200" cy="190500"/>
          </a:xfrm>
          <a:prstGeom prst="rect">
            <a:avLst/>
          </a:prstGeom>
          <a:noFill/>
        </p:spPr>
        <p:txBody>
          <a:bodyPr wrap="none" lIns="0" tIns="0" rIns="0" bIns="0" rtlCol="0" anchor="ctr"/>
          <a:lstStyle/>
          <a:p>
            <a:pPr marL="0" indent="0" algn="l">
              <a:buNone/>
            </a:pPr>
            <a:r>
              <a:rPr lang="en-US" altLang="en-US" sz="1200" b="1" dirty="0">
                <a:solidFill>
                  <a:srgbClr val="0E8F63"/>
                </a:solidFill>
                <a:latin typeface="Outfit" pitchFamily="34" charset="0"/>
                <a:ea typeface="Outfit" pitchFamily="34" charset="-122"/>
                <a:cs typeface="Outfit" pitchFamily="34" charset="-120"/>
              </a:rPr>
              <a:t>DASHBOARD 1 · CYBERSECURITY INCIDENT ANALYTICS</a:t>
            </a:r>
            <a:endParaRPr lang="en-US" sz="1200" dirty="0"/>
          </a:p>
        </p:txBody>
      </p:sp>
      <p:sp>
        <p:nvSpPr>
          <p:cNvPr id="6" name="shot-card"/>
          <p:cNvSpPr/>
          <p:nvPr/>
        </p:nvSpPr>
        <p:spPr>
          <a:xfrm>
            <a:off x="457200" y="2350000"/>
            <a:ext cx="9000000" cy="6070000"/>
          </a:xfrm>
          <a:prstGeom prst="roundRect">
            <a:avLst>
              <a:gd name="adj" fmla="val 9000"/>
            </a:avLst>
          </a:prstGeom>
          <a:solidFill>
            <a:srgbClr val="FFFFFF"/>
          </a:solidFill>
          <a:ln w="12700">
            <a:solidFill>
              <a:srgbClr val="E2E8F0"/>
            </a:solidFill>
            <a:prstDash val="solid"/>
          </a:ln>
        </p:spPr>
      </p:sp>
      <p:pic>
        <p:nvPicPr>
          <p:cNvPr id="7" name="Dashboard Screenshot"/>
          <p:cNvPicPr>
            <a:picLocks noChangeAspect="1"/>
          </p:cNvPicPr>
          <p:nvPr/>
        </p:nvPicPr>
        <p:blipFill>
          <a:blip r:embed="rId1"/>
          <a:stretch>
            <a:fillRect/>
          </a:stretch>
        </p:blipFill>
        <p:spPr>
          <a:xfrm>
            <a:off x="637200" y="2537727"/>
            <a:ext cx="8640000" cy="5694545"/>
          </a:xfrm>
          <a:prstGeom prst="rect">
            <a:avLst/>
          </a:prstGeom>
        </p:spPr>
      </p:pic>
      <p:sp>
        <p:nvSpPr>
          <p:cNvPr id="8" name="badge-0"/>
          <p:cNvSpPr/>
          <p:nvPr/>
        </p:nvSpPr>
        <p:spPr>
          <a:xfrm>
            <a:off x="9737200" y="2380000"/>
            <a:ext cx="260350" cy="260350"/>
          </a:xfrm>
          <a:prstGeom prst="ellipse">
            <a:avLst/>
          </a:prstGeom>
          <a:solidFill>
            <a:srgbClr val="2F6FED"/>
          </a:solidFill>
        </p:spPr>
      </p:sp>
      <p:sp>
        <p:nvSpPr>
          <p:cNvPr id="9" name="badge-num-0"/>
          <p:cNvSpPr/>
          <p:nvPr/>
        </p:nvSpPr>
        <p:spPr>
          <a:xfrm>
            <a:off x="9737200" y="24180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10" name="label-0"/>
          <p:cNvSpPr/>
          <p:nvPr/>
        </p:nvSpPr>
        <p:spPr>
          <a:xfrm>
            <a:off x="10157550" y="23500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KPI Cards</a:t>
            </a:r>
            <a:endParaRPr lang="en-US" sz="1300" dirty="0"/>
          </a:p>
        </p:txBody>
      </p:sp>
      <p:sp>
        <p:nvSpPr>
          <p:cNvPr id="11" name="desc-0"/>
          <p:cNvSpPr/>
          <p:nvPr/>
        </p:nvSpPr>
        <p:spPr>
          <a:xfrm>
            <a:off x="10157550" y="2610000"/>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10K total incidents, a 330 average per category, and 141 countries covered — the top-line scale of the dataset.</a:t>
            </a:r>
            <a:endParaRPr lang="en-US" sz="1050" dirty="0"/>
          </a:p>
        </p:txBody>
      </p:sp>
      <p:sp>
        <p:nvSpPr>
          <p:cNvPr id="12" name="badge-1"/>
          <p:cNvSpPr/>
          <p:nvPr/>
        </p:nvSpPr>
        <p:spPr>
          <a:xfrm>
            <a:off x="9737200" y="3247142"/>
            <a:ext cx="260350" cy="260350"/>
          </a:xfrm>
          <a:prstGeom prst="ellipse">
            <a:avLst/>
          </a:prstGeom>
          <a:solidFill>
            <a:srgbClr val="0E8F63"/>
          </a:solidFill>
        </p:spPr>
      </p:sp>
      <p:sp>
        <p:nvSpPr>
          <p:cNvPr id="13" name="badge-num-1"/>
          <p:cNvSpPr/>
          <p:nvPr/>
        </p:nvSpPr>
        <p:spPr>
          <a:xfrm>
            <a:off x="9737200" y="3285142"/>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14" name="label-1"/>
          <p:cNvSpPr/>
          <p:nvPr/>
        </p:nvSpPr>
        <p:spPr>
          <a:xfrm>
            <a:off x="10157550" y="3217142"/>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Attack &amp; Actor Trend by Year</a:t>
            </a:r>
            <a:endParaRPr lang="en-US" sz="1300" dirty="0"/>
          </a:p>
        </p:txBody>
      </p:sp>
      <p:sp>
        <p:nvSpPr>
          <p:cNvPr id="15" name="desc-1"/>
          <p:cNvSpPr/>
          <p:nvPr/>
        </p:nvSpPr>
        <p:spPr>
          <a:xfrm>
            <a:off x="10157550" y="3477142"/>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A layered line/area chart shows incident volume spiking sharply in the mid-1990s before tapering into a steadier trend.</a:t>
            </a:r>
            <a:endParaRPr lang="en-US" sz="1050" dirty="0"/>
          </a:p>
        </p:txBody>
      </p:sp>
      <p:sp>
        <p:nvSpPr>
          <p:cNvPr id="16" name="badge-2"/>
          <p:cNvSpPr/>
          <p:nvPr/>
        </p:nvSpPr>
        <p:spPr>
          <a:xfrm>
            <a:off x="9737200" y="4114284"/>
            <a:ext cx="260350" cy="260350"/>
          </a:xfrm>
          <a:prstGeom prst="ellipse">
            <a:avLst/>
          </a:prstGeom>
          <a:solidFill>
            <a:srgbClr val="2F6FED"/>
          </a:solidFill>
        </p:spPr>
      </p:sp>
      <p:sp>
        <p:nvSpPr>
          <p:cNvPr id="17" name="badge-num-2"/>
          <p:cNvSpPr/>
          <p:nvPr/>
        </p:nvSpPr>
        <p:spPr>
          <a:xfrm>
            <a:off x="9737200" y="4152284"/>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18" name="label-2"/>
          <p:cNvSpPr/>
          <p:nvPr/>
        </p:nvSpPr>
        <p:spPr>
          <a:xfrm>
            <a:off x="10157550" y="4084284"/>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Year Slicer</a:t>
            </a:r>
            <a:endParaRPr lang="en-US" sz="1300" dirty="0"/>
          </a:p>
        </p:txBody>
      </p:sp>
      <p:sp>
        <p:nvSpPr>
          <p:cNvPr id="19" name="desc-2"/>
          <p:cNvSpPr/>
          <p:nvPr/>
        </p:nvSpPr>
        <p:spPr>
          <a:xfrm>
            <a:off x="10157550" y="4344284"/>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Filters the dashboard data by year (1971–2024) for focused analysis.</a:t>
            </a:r>
            <a:endParaRPr lang="en-US" sz="1050" dirty="0"/>
          </a:p>
        </p:txBody>
      </p:sp>
      <p:sp>
        <p:nvSpPr>
          <p:cNvPr id="20" name="badge-3"/>
          <p:cNvSpPr/>
          <p:nvPr/>
        </p:nvSpPr>
        <p:spPr>
          <a:xfrm>
            <a:off x="9737200" y="4981426"/>
            <a:ext cx="260350" cy="260350"/>
          </a:xfrm>
          <a:prstGeom prst="ellipse">
            <a:avLst/>
          </a:prstGeom>
          <a:solidFill>
            <a:srgbClr val="0E8F63"/>
          </a:solidFill>
        </p:spPr>
      </p:sp>
      <p:sp>
        <p:nvSpPr>
          <p:cNvPr id="21" name="badge-num-3"/>
          <p:cNvSpPr/>
          <p:nvPr/>
        </p:nvSpPr>
        <p:spPr>
          <a:xfrm>
            <a:off x="9737200" y="5019426"/>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22" name="label-3"/>
          <p:cNvSpPr/>
          <p:nvPr/>
        </p:nvSpPr>
        <p:spPr>
          <a:xfrm>
            <a:off x="10157550" y="4951426"/>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Highest Attack Type</a:t>
            </a:r>
            <a:endParaRPr lang="en-US" sz="1300" dirty="0"/>
          </a:p>
        </p:txBody>
      </p:sp>
      <p:sp>
        <p:nvSpPr>
          <p:cNvPr id="23" name="desc-3"/>
          <p:cNvSpPr/>
          <p:nvPr/>
        </p:nvSpPr>
        <p:spPr>
          <a:xfrm>
            <a:off x="10157550" y="5211426"/>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Hacking is identified as the most frequent attack type, making it the dominant cybersecurity threat in the dataset.</a:t>
            </a:r>
            <a:endParaRPr lang="en-US" sz="1050" dirty="0"/>
          </a:p>
        </p:txBody>
      </p:sp>
      <p:sp>
        <p:nvSpPr>
          <p:cNvPr id="24" name="badge-4"/>
          <p:cNvSpPr/>
          <p:nvPr/>
        </p:nvSpPr>
        <p:spPr>
          <a:xfrm>
            <a:off x="9737200" y="5848568"/>
            <a:ext cx="260350" cy="260350"/>
          </a:xfrm>
          <a:prstGeom prst="ellipse">
            <a:avLst/>
          </a:prstGeom>
          <a:solidFill>
            <a:srgbClr val="2F6FED"/>
          </a:solidFill>
        </p:spPr>
      </p:sp>
      <p:sp>
        <p:nvSpPr>
          <p:cNvPr id="25" name="badge-num-4"/>
          <p:cNvSpPr/>
          <p:nvPr/>
        </p:nvSpPr>
        <p:spPr>
          <a:xfrm>
            <a:off x="9737200" y="5886568"/>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26" name="label-4"/>
          <p:cNvSpPr/>
          <p:nvPr/>
        </p:nvSpPr>
        <p:spPr>
          <a:xfrm>
            <a:off x="10157550" y="5818568"/>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Total Incidents by Attack Type</a:t>
            </a:r>
            <a:endParaRPr lang="en-US" sz="1300" dirty="0"/>
          </a:p>
        </p:txBody>
      </p:sp>
      <p:sp>
        <p:nvSpPr>
          <p:cNvPr id="27" name="desc-4"/>
          <p:cNvSpPr/>
          <p:nvPr/>
        </p:nvSpPr>
        <p:spPr>
          <a:xfrm>
            <a:off x="10157550" y="6078568"/>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The pie chart compares the distribution of incidents across different attack categories, showing hacking and error lead.</a:t>
            </a:r>
            <a:endParaRPr lang="en-US" sz="1050" dirty="0"/>
          </a:p>
        </p:txBody>
      </p:sp>
      <p:sp>
        <p:nvSpPr>
          <p:cNvPr id="28" name="badge-5"/>
          <p:cNvSpPr/>
          <p:nvPr/>
        </p:nvSpPr>
        <p:spPr>
          <a:xfrm>
            <a:off x="9737200" y="6715710"/>
            <a:ext cx="260350" cy="260350"/>
          </a:xfrm>
          <a:prstGeom prst="ellipse">
            <a:avLst/>
          </a:prstGeom>
          <a:solidFill>
            <a:srgbClr val="0E8F63"/>
          </a:solidFill>
        </p:spPr>
      </p:sp>
      <p:sp>
        <p:nvSpPr>
          <p:cNvPr id="29" name="badge-num-5"/>
          <p:cNvSpPr/>
          <p:nvPr/>
        </p:nvSpPr>
        <p:spPr>
          <a:xfrm>
            <a:off x="9737200" y="675371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6</a:t>
            </a:r>
            <a:endParaRPr lang="en-US" sz="1100" dirty="0"/>
          </a:p>
        </p:txBody>
      </p:sp>
      <p:sp>
        <p:nvSpPr>
          <p:cNvPr id="30" name="label-5"/>
          <p:cNvSpPr/>
          <p:nvPr/>
        </p:nvSpPr>
        <p:spPr>
          <a:xfrm>
            <a:off x="10157550" y="668571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Top 10 Targeted Country</a:t>
            </a:r>
            <a:endParaRPr lang="en-US" sz="1300" dirty="0"/>
          </a:p>
        </p:txBody>
      </p:sp>
      <p:sp>
        <p:nvSpPr>
          <p:cNvPr id="31" name="desc-5"/>
          <p:cNvSpPr/>
          <p:nvPr/>
        </p:nvSpPr>
        <p:spPr>
          <a:xfrm>
            <a:off x="10157550" y="6945710"/>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The US dominates with roughly 5K incidents, far ahead of GB, CA, and the rest of the list.</a:t>
            </a:r>
            <a:endParaRPr lang="en-US" sz="1050" dirty="0"/>
          </a:p>
        </p:txBody>
      </p:sp>
      <p:sp>
        <p:nvSpPr>
          <p:cNvPr id="32" name="badge-6"/>
          <p:cNvSpPr/>
          <p:nvPr/>
        </p:nvSpPr>
        <p:spPr>
          <a:xfrm>
            <a:off x="9737200" y="7582852"/>
            <a:ext cx="260350" cy="260350"/>
          </a:xfrm>
          <a:prstGeom prst="ellipse">
            <a:avLst/>
          </a:prstGeom>
          <a:solidFill>
            <a:srgbClr val="2F6FED"/>
          </a:solidFill>
        </p:spPr>
      </p:sp>
      <p:sp>
        <p:nvSpPr>
          <p:cNvPr id="33" name="badge-num-6"/>
          <p:cNvSpPr/>
          <p:nvPr/>
        </p:nvSpPr>
        <p:spPr>
          <a:xfrm>
            <a:off x="9737200" y="7620852"/>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7</a:t>
            </a:r>
            <a:endParaRPr lang="en-US" sz="1100" dirty="0"/>
          </a:p>
        </p:txBody>
      </p:sp>
      <p:sp>
        <p:nvSpPr>
          <p:cNvPr id="34" name="label-6"/>
          <p:cNvSpPr/>
          <p:nvPr/>
        </p:nvSpPr>
        <p:spPr>
          <a:xfrm>
            <a:off x="10157550" y="7552852"/>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Global Threat Map</a:t>
            </a:r>
            <a:endParaRPr lang="en-US" sz="1300" dirty="0"/>
          </a:p>
        </p:txBody>
      </p:sp>
      <p:sp>
        <p:nvSpPr>
          <p:cNvPr id="35" name="desc-6"/>
          <p:cNvSpPr/>
          <p:nvPr/>
        </p:nvSpPr>
        <p:spPr>
          <a:xfrm>
            <a:off x="10157550" y="7812852"/>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Bubble map plotting incident concentration by country — North America shows the single largest bubble.</a:t>
            </a:r>
            <a:endParaRPr lang="en-US" sz="1050" dirty="0"/>
          </a:p>
        </p:txBody>
      </p:sp>
      <p:sp>
        <p:nvSpPr>
          <p:cNvPr id="36" name="page-num-circle"/>
          <p:cNvSpPr/>
          <p:nvPr/>
        </p:nvSpPr>
        <p:spPr>
          <a:xfrm>
            <a:off x="15494000" y="8593455"/>
            <a:ext cx="502285" cy="440055"/>
          </a:xfrm>
          <a:prstGeom prst="ellipse">
            <a:avLst/>
          </a:prstGeom>
          <a:solidFill>
            <a:srgbClr val="5B9BD5"/>
          </a:solidFill>
          <a:ln w="15875">
            <a:noFill/>
            <a:prstDash val="solid"/>
          </a:ln>
        </p:spPr>
        <p:txBody>
          <a:bodyPr wrap="none" anchor="ctr"/>
          <a:p>
            <a:pPr marL="0" indent="0" algn="ctr">
              <a:buNone/>
            </a:pPr>
            <a:r>
              <a:rPr lang="en-US" sz="1600" b="1" dirty="0">
                <a:solidFill>
                  <a:srgbClr val="FFFFFF"/>
                </a:solidFill>
                <a:latin typeface="Calibri" panose="020F0502020204030204" charset="0"/>
              </a:rPr>
              <a:t>5</a:t>
            </a:r>
            <a:endParaRPr lang="en-US" sz="1600"/>
          </a:p>
        </p:txBody>
      </p:sp>
      <p:pic>
        <p:nvPicPr>
          <p:cNvPr id="37" name="Header Banner"/>
          <p:cNvPicPr>
            <a:picLocks noChangeAspect="1"/>
          </p:cNvPicPr>
          <p:nvPr/>
        </p:nvPicPr>
        <p:blipFill>
          <a:blip r:embed="rId2"/>
          <a:srcRect t="27119" b="14044"/>
          <a:stretch>
            <a:fillRect/>
          </a:stretch>
        </p:blipFill>
        <p:spPr>
          <a:xfrm>
            <a:off x="0" y="0"/>
            <a:ext cx="16256000" cy="74549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1270000"/>
            <a:ext cx="50800" cy="368300"/>
          </a:xfrm>
          <a:prstGeom prst="rect">
            <a:avLst/>
          </a:prstGeom>
          <a:solidFill>
            <a:srgbClr val="0E8F63"/>
          </a:solidFill>
        </p:spPr>
      </p:sp>
      <p:sp>
        <p:nvSpPr>
          <p:cNvPr id="3" name="slide-title"/>
          <p:cNvSpPr/>
          <p:nvPr/>
        </p:nvSpPr>
        <p:spPr>
          <a:xfrm>
            <a:off x="762000" y="1216660"/>
            <a:ext cx="120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Threat Analysis Dashboard</a:t>
            </a:r>
            <a:endParaRPr lang="en-US" sz="3000" dirty="0"/>
          </a:p>
        </p:txBody>
      </p:sp>
      <p:sp>
        <p:nvSpPr>
          <p:cNvPr id="4" name="pill-bg"/>
          <p:cNvSpPr/>
          <p:nvPr/>
        </p:nvSpPr>
        <p:spPr>
          <a:xfrm>
            <a:off x="762000" y="1790700"/>
            <a:ext cx="902800" cy="342900"/>
          </a:xfrm>
          <a:prstGeom prst="roundRect">
            <a:avLst>
              <a:gd name="adj" fmla="val 50000"/>
            </a:avLst>
          </a:prstGeom>
          <a:solidFill>
            <a:srgbClr val="E9F6F0"/>
          </a:solidFill>
        </p:spPr>
      </p:sp>
      <p:sp>
        <p:nvSpPr>
          <p:cNvPr id="5" name="pill-text"/>
          <p:cNvSpPr/>
          <p:nvPr/>
        </p:nvSpPr>
        <p:spPr>
          <a:xfrm>
            <a:off x="1022000" y="1866900"/>
            <a:ext cx="382800" cy="190500"/>
          </a:xfrm>
          <a:prstGeom prst="rect">
            <a:avLst/>
          </a:prstGeom>
          <a:noFill/>
        </p:spPr>
        <p:txBody>
          <a:bodyPr wrap="none" lIns="0" tIns="0" rIns="0" bIns="0" rtlCol="0" anchor="ctr"/>
          <a:lstStyle/>
          <a:p>
            <a:pPr marL="0" indent="0" algn="l">
              <a:buNone/>
            </a:pPr>
            <a:r>
              <a:rPr lang="en-US" altLang="en-US" sz="1200" b="1" dirty="0">
                <a:solidFill>
                  <a:srgbClr val="0E8F63"/>
                </a:solidFill>
                <a:latin typeface="Outfit" pitchFamily="34" charset="0"/>
                <a:ea typeface="Outfit" pitchFamily="34" charset="-122"/>
                <a:cs typeface="Outfit" pitchFamily="34" charset="-120"/>
              </a:rPr>
              <a:t>DASHBOARD 2 · DEEP DIVE INTO </a:t>
            </a:r>
            <a:r>
              <a:rPr lang="en-US" altLang="en-US" sz="1200" b="1" dirty="0">
                <a:solidFill>
                  <a:srgbClr val="0E8F63"/>
                </a:solidFill>
                <a:latin typeface="Outfit" pitchFamily="34" charset="0"/>
                <a:ea typeface="Outfit" pitchFamily="34" charset="-122"/>
                <a:cs typeface="Outfit" pitchFamily="34" charset="-120"/>
                <a:sym typeface="+mn-ea"/>
              </a:rPr>
              <a:t> CYBERSECURITY INCIDENTS</a:t>
            </a:r>
            <a:endParaRPr lang="en-US" sz="1200" dirty="0"/>
          </a:p>
        </p:txBody>
      </p:sp>
      <p:sp>
        <p:nvSpPr>
          <p:cNvPr id="6" name="shot-card"/>
          <p:cNvSpPr/>
          <p:nvPr/>
        </p:nvSpPr>
        <p:spPr>
          <a:xfrm>
            <a:off x="457200" y="2350000"/>
            <a:ext cx="9000000" cy="6070000"/>
          </a:xfrm>
          <a:prstGeom prst="roundRect">
            <a:avLst>
              <a:gd name="adj" fmla="val 9000"/>
            </a:avLst>
          </a:prstGeom>
          <a:solidFill>
            <a:srgbClr val="FFFFFF"/>
          </a:solidFill>
          <a:ln w="12700">
            <a:solidFill>
              <a:srgbClr val="E2E8F0"/>
            </a:solidFill>
            <a:prstDash val="solid"/>
          </a:ln>
        </p:spPr>
      </p:sp>
      <p:pic>
        <p:nvPicPr>
          <p:cNvPr id="7" name="Dashboard Screenshot"/>
          <p:cNvPicPr>
            <a:picLocks noChangeAspect="1"/>
          </p:cNvPicPr>
          <p:nvPr/>
        </p:nvPicPr>
        <p:blipFill>
          <a:blip r:embed="rId1"/>
          <a:stretch>
            <a:fillRect/>
          </a:stretch>
        </p:blipFill>
        <p:spPr>
          <a:xfrm>
            <a:off x="637200" y="2535789"/>
            <a:ext cx="8640000" cy="5698421"/>
          </a:xfrm>
          <a:prstGeom prst="rect">
            <a:avLst/>
          </a:prstGeom>
        </p:spPr>
      </p:pic>
      <p:sp>
        <p:nvSpPr>
          <p:cNvPr id="8" name="badge-0"/>
          <p:cNvSpPr/>
          <p:nvPr/>
        </p:nvSpPr>
        <p:spPr>
          <a:xfrm>
            <a:off x="9737200" y="2380000"/>
            <a:ext cx="260350" cy="260350"/>
          </a:xfrm>
          <a:prstGeom prst="ellipse">
            <a:avLst/>
          </a:prstGeom>
          <a:solidFill>
            <a:srgbClr val="2F6FED"/>
          </a:solidFill>
        </p:spPr>
      </p:sp>
      <p:sp>
        <p:nvSpPr>
          <p:cNvPr id="9" name="badge-num-0"/>
          <p:cNvSpPr/>
          <p:nvPr/>
        </p:nvSpPr>
        <p:spPr>
          <a:xfrm>
            <a:off x="9737200" y="24180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10" name="label-0"/>
          <p:cNvSpPr/>
          <p:nvPr/>
        </p:nvSpPr>
        <p:spPr>
          <a:xfrm>
            <a:off x="10157550" y="23500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Threat Level</a:t>
            </a:r>
            <a:endParaRPr lang="en-US" sz="1300" dirty="0"/>
          </a:p>
        </p:txBody>
      </p:sp>
      <p:sp>
        <p:nvSpPr>
          <p:cNvPr id="11" name="desc-0"/>
          <p:cNvSpPr/>
          <p:nvPr/>
        </p:nvSpPr>
        <p:spPr>
          <a:xfrm>
            <a:off x="10157550" y="2610000"/>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Overall status card flags the current risk as CRITICAL.</a:t>
            </a:r>
            <a:endParaRPr lang="en-US" sz="1050" dirty="0"/>
          </a:p>
        </p:txBody>
      </p:sp>
      <p:sp>
        <p:nvSpPr>
          <p:cNvPr id="12" name="badge-1"/>
          <p:cNvSpPr/>
          <p:nvPr/>
        </p:nvSpPr>
        <p:spPr>
          <a:xfrm>
            <a:off x="9737200" y="3247142"/>
            <a:ext cx="260350" cy="260350"/>
          </a:xfrm>
          <a:prstGeom prst="ellipse">
            <a:avLst/>
          </a:prstGeom>
          <a:solidFill>
            <a:srgbClr val="0E8F63"/>
          </a:solidFill>
        </p:spPr>
      </p:sp>
      <p:sp>
        <p:nvSpPr>
          <p:cNvPr id="13" name="badge-num-1"/>
          <p:cNvSpPr/>
          <p:nvPr/>
        </p:nvSpPr>
        <p:spPr>
          <a:xfrm>
            <a:off x="9737200" y="3285142"/>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14" name="label-1"/>
          <p:cNvSpPr/>
          <p:nvPr/>
        </p:nvSpPr>
        <p:spPr>
          <a:xfrm>
            <a:off x="10157550" y="3217142"/>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Actor Type VS Attack Type</a:t>
            </a:r>
            <a:endParaRPr lang="en-US" sz="1300" dirty="0"/>
          </a:p>
        </p:txBody>
      </p:sp>
      <p:sp>
        <p:nvSpPr>
          <p:cNvPr id="15" name="desc-1"/>
          <p:cNvSpPr/>
          <p:nvPr/>
        </p:nvSpPr>
        <p:spPr>
          <a:xfrm>
            <a:off x="10157550" y="3477142"/>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Clustered columns compare external, internal, partner, and unknown actors across attack types.</a:t>
            </a:r>
            <a:endParaRPr lang="en-US" sz="1050" dirty="0"/>
          </a:p>
        </p:txBody>
      </p:sp>
      <p:sp>
        <p:nvSpPr>
          <p:cNvPr id="16" name="badge-2"/>
          <p:cNvSpPr/>
          <p:nvPr/>
        </p:nvSpPr>
        <p:spPr>
          <a:xfrm>
            <a:off x="9737200" y="4114284"/>
            <a:ext cx="260350" cy="260350"/>
          </a:xfrm>
          <a:prstGeom prst="ellipse">
            <a:avLst/>
          </a:prstGeom>
          <a:solidFill>
            <a:srgbClr val="2F6FED"/>
          </a:solidFill>
        </p:spPr>
      </p:sp>
      <p:sp>
        <p:nvSpPr>
          <p:cNvPr id="17" name="badge-num-2"/>
          <p:cNvSpPr/>
          <p:nvPr/>
        </p:nvSpPr>
        <p:spPr>
          <a:xfrm>
            <a:off x="9737200" y="4152284"/>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18" name="label-2"/>
          <p:cNvSpPr/>
          <p:nvPr/>
        </p:nvSpPr>
        <p:spPr>
          <a:xfrm>
            <a:off x="10157550" y="4084284"/>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Attack Type Slicer</a:t>
            </a:r>
            <a:endParaRPr lang="en-US" sz="1300" dirty="0"/>
          </a:p>
        </p:txBody>
      </p:sp>
      <p:sp>
        <p:nvSpPr>
          <p:cNvPr id="19" name="desc-2"/>
          <p:cNvSpPr/>
          <p:nvPr/>
        </p:nvSpPr>
        <p:spPr>
          <a:xfrm>
            <a:off x="10157550" y="4344284"/>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A single filter lets any attack type re-slice every visual on the page.</a:t>
            </a:r>
            <a:endParaRPr lang="en-US" sz="1050" dirty="0"/>
          </a:p>
        </p:txBody>
      </p:sp>
      <p:sp>
        <p:nvSpPr>
          <p:cNvPr id="20" name="badge-3"/>
          <p:cNvSpPr/>
          <p:nvPr/>
        </p:nvSpPr>
        <p:spPr>
          <a:xfrm>
            <a:off x="9737200" y="4981426"/>
            <a:ext cx="260350" cy="260350"/>
          </a:xfrm>
          <a:prstGeom prst="ellipse">
            <a:avLst/>
          </a:prstGeom>
          <a:solidFill>
            <a:srgbClr val="0E8F63"/>
          </a:solidFill>
        </p:spPr>
      </p:sp>
      <p:sp>
        <p:nvSpPr>
          <p:cNvPr id="21" name="badge-num-3"/>
          <p:cNvSpPr/>
          <p:nvPr/>
        </p:nvSpPr>
        <p:spPr>
          <a:xfrm>
            <a:off x="9737200" y="5019426"/>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22" name="label-3"/>
          <p:cNvSpPr/>
          <p:nvPr/>
        </p:nvSpPr>
        <p:spPr>
          <a:xfrm>
            <a:off x="10157550" y="4951426"/>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Attacker Country</a:t>
            </a:r>
            <a:endParaRPr lang="en-US" sz="1300" dirty="0"/>
          </a:p>
        </p:txBody>
      </p:sp>
      <p:sp>
        <p:nvSpPr>
          <p:cNvPr id="23" name="desc-3"/>
          <p:cNvSpPr/>
          <p:nvPr/>
        </p:nvSpPr>
        <p:spPr>
          <a:xfrm>
            <a:off x="10157550" y="5211426"/>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Unknown attribution leads, followed by Russia (RU) and the US.</a:t>
            </a:r>
            <a:endParaRPr lang="en-US" sz="1050" dirty="0"/>
          </a:p>
        </p:txBody>
      </p:sp>
      <p:sp>
        <p:nvSpPr>
          <p:cNvPr id="24" name="badge-4"/>
          <p:cNvSpPr/>
          <p:nvPr/>
        </p:nvSpPr>
        <p:spPr>
          <a:xfrm>
            <a:off x="9737200" y="5848568"/>
            <a:ext cx="260350" cy="260350"/>
          </a:xfrm>
          <a:prstGeom prst="ellipse">
            <a:avLst/>
          </a:prstGeom>
          <a:solidFill>
            <a:srgbClr val="2F6FED"/>
          </a:solidFill>
        </p:spPr>
      </p:sp>
      <p:sp>
        <p:nvSpPr>
          <p:cNvPr id="25" name="badge-num-4"/>
          <p:cNvSpPr/>
          <p:nvPr/>
        </p:nvSpPr>
        <p:spPr>
          <a:xfrm>
            <a:off x="9737200" y="5886568"/>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26" name="label-4"/>
          <p:cNvSpPr/>
          <p:nvPr/>
        </p:nvSpPr>
        <p:spPr>
          <a:xfrm>
            <a:off x="10157550" y="5818568"/>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Motive Decomposition</a:t>
            </a:r>
            <a:endParaRPr lang="en-US" sz="1300" dirty="0"/>
          </a:p>
        </p:txBody>
      </p:sp>
      <p:sp>
        <p:nvSpPr>
          <p:cNvPr id="27" name="desc-4"/>
          <p:cNvSpPr/>
          <p:nvPr/>
        </p:nvSpPr>
        <p:spPr>
          <a:xfrm>
            <a:off x="10157550" y="6078568"/>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Of 10,228 incidents, Unknown motive tops at 4,690, then Financial at 3,951, Fun at 464, Ideology at 397.</a:t>
            </a:r>
            <a:endParaRPr lang="en-US" sz="1050" dirty="0"/>
          </a:p>
        </p:txBody>
      </p:sp>
      <p:sp>
        <p:nvSpPr>
          <p:cNvPr id="28" name="badge-5"/>
          <p:cNvSpPr/>
          <p:nvPr/>
        </p:nvSpPr>
        <p:spPr>
          <a:xfrm>
            <a:off x="9737200" y="6715710"/>
            <a:ext cx="260350" cy="260350"/>
          </a:xfrm>
          <a:prstGeom prst="ellipse">
            <a:avLst/>
          </a:prstGeom>
          <a:solidFill>
            <a:srgbClr val="0E8F63"/>
          </a:solidFill>
        </p:spPr>
      </p:sp>
      <p:sp>
        <p:nvSpPr>
          <p:cNvPr id="29" name="badge-num-5"/>
          <p:cNvSpPr/>
          <p:nvPr/>
        </p:nvSpPr>
        <p:spPr>
          <a:xfrm>
            <a:off x="9737200" y="675371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6</a:t>
            </a:r>
            <a:endParaRPr lang="en-US" sz="1100" dirty="0"/>
          </a:p>
        </p:txBody>
      </p:sp>
      <p:sp>
        <p:nvSpPr>
          <p:cNvPr id="30" name="label-5"/>
          <p:cNvSpPr/>
          <p:nvPr/>
        </p:nvSpPr>
        <p:spPr>
          <a:xfrm>
            <a:off x="10157550" y="668571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Attack Type × Motive Table</a:t>
            </a:r>
            <a:endParaRPr lang="en-US" sz="1300" dirty="0"/>
          </a:p>
        </p:txBody>
      </p:sp>
      <p:sp>
        <p:nvSpPr>
          <p:cNvPr id="31" name="desc-5"/>
          <p:cNvSpPr/>
          <p:nvPr/>
        </p:nvSpPr>
        <p:spPr>
          <a:xfrm>
            <a:off x="10157550" y="6945710"/>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Hacking is financially motivated in 1,628 cases; misuse for financial gain in 725 — the cross-tab behind every chart.</a:t>
            </a:r>
            <a:endParaRPr lang="en-US" sz="1050" dirty="0"/>
          </a:p>
        </p:txBody>
      </p:sp>
      <p:sp>
        <p:nvSpPr>
          <p:cNvPr id="32" name="badge-6"/>
          <p:cNvSpPr/>
          <p:nvPr/>
        </p:nvSpPr>
        <p:spPr>
          <a:xfrm>
            <a:off x="9737200" y="7582852"/>
            <a:ext cx="260350" cy="260350"/>
          </a:xfrm>
          <a:prstGeom prst="ellipse">
            <a:avLst/>
          </a:prstGeom>
          <a:solidFill>
            <a:srgbClr val="2F6FED"/>
          </a:solidFill>
        </p:spPr>
      </p:sp>
      <p:sp>
        <p:nvSpPr>
          <p:cNvPr id="33" name="badge-num-6"/>
          <p:cNvSpPr/>
          <p:nvPr/>
        </p:nvSpPr>
        <p:spPr>
          <a:xfrm>
            <a:off x="9737200" y="7620852"/>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7</a:t>
            </a:r>
            <a:endParaRPr lang="en-US" sz="1100" dirty="0"/>
          </a:p>
        </p:txBody>
      </p:sp>
      <p:sp>
        <p:nvSpPr>
          <p:cNvPr id="34" name="label-6"/>
          <p:cNvSpPr/>
          <p:nvPr/>
        </p:nvSpPr>
        <p:spPr>
          <a:xfrm>
            <a:off x="10157550" y="7552852"/>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Year × Motive Trend</a:t>
            </a:r>
            <a:endParaRPr lang="en-US" sz="1300" dirty="0"/>
          </a:p>
        </p:txBody>
      </p:sp>
      <p:sp>
        <p:nvSpPr>
          <p:cNvPr id="35" name="desc-6"/>
          <p:cNvSpPr/>
          <p:nvPr/>
        </p:nvSpPr>
        <p:spPr>
          <a:xfrm>
            <a:off x="10157550" y="7812852"/>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A stacked area chart tracks how the motive mix shifts over time, peaking around the same mid-1990s spike.</a:t>
            </a:r>
            <a:endParaRPr lang="en-US" sz="1050" dirty="0"/>
          </a:p>
        </p:txBody>
      </p:sp>
      <p:sp>
        <p:nvSpPr>
          <p:cNvPr id="36" name="page-num-circle"/>
          <p:cNvSpPr/>
          <p:nvPr/>
        </p:nvSpPr>
        <p:spPr>
          <a:xfrm>
            <a:off x="15494000" y="8593455"/>
            <a:ext cx="502285" cy="440055"/>
          </a:xfrm>
          <a:prstGeom prst="ellipse">
            <a:avLst/>
          </a:prstGeom>
          <a:solidFill>
            <a:srgbClr val="5B9BD5"/>
          </a:solidFill>
          <a:ln w="15875">
            <a:noFill/>
            <a:prstDash val="solid"/>
          </a:ln>
        </p:spPr>
        <p:txBody>
          <a:bodyPr wrap="none" anchor="ctr"/>
          <a:p>
            <a:pPr marL="0" indent="0" algn="ctr">
              <a:buNone/>
            </a:pPr>
            <a:r>
              <a:rPr lang="en-US" sz="1600" b="1" dirty="0">
                <a:solidFill>
                  <a:srgbClr val="FFFFFF"/>
                </a:solidFill>
                <a:latin typeface="Calibri" panose="020F0502020204030204" charset="0"/>
              </a:rPr>
              <a:t>6</a:t>
            </a:r>
            <a:endParaRPr lang="en-US" sz="1600"/>
          </a:p>
        </p:txBody>
      </p:sp>
      <p:pic>
        <p:nvPicPr>
          <p:cNvPr id="37" name="Header Banner"/>
          <p:cNvPicPr>
            <a:picLocks noChangeAspect="1"/>
          </p:cNvPicPr>
          <p:nvPr/>
        </p:nvPicPr>
        <p:blipFill>
          <a:blip r:embed="rId2"/>
          <a:srcRect t="27119" b="14044"/>
          <a:stretch>
            <a:fillRect/>
          </a:stretch>
        </p:blipFill>
        <p:spPr>
          <a:xfrm>
            <a:off x="0" y="0"/>
            <a:ext cx="16256000" cy="74549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1270000"/>
            <a:ext cx="50800" cy="368300"/>
          </a:xfrm>
          <a:prstGeom prst="rect">
            <a:avLst/>
          </a:prstGeom>
          <a:solidFill>
            <a:srgbClr val="0E8F63"/>
          </a:solidFill>
        </p:spPr>
      </p:sp>
      <p:sp>
        <p:nvSpPr>
          <p:cNvPr id="3" name="slide-title"/>
          <p:cNvSpPr/>
          <p:nvPr/>
        </p:nvSpPr>
        <p:spPr>
          <a:xfrm>
            <a:off x="762000" y="1216660"/>
            <a:ext cx="120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Target &amp; Asset Vulnerability Analysis Dashboard</a:t>
            </a:r>
            <a:endParaRPr lang="en-US" sz="3000" dirty="0"/>
          </a:p>
        </p:txBody>
      </p:sp>
      <p:sp>
        <p:nvSpPr>
          <p:cNvPr id="4" name="pill-bg"/>
          <p:cNvSpPr/>
          <p:nvPr/>
        </p:nvSpPr>
        <p:spPr>
          <a:xfrm>
            <a:off x="762000" y="1790700"/>
            <a:ext cx="955600" cy="342900"/>
          </a:xfrm>
          <a:prstGeom prst="roundRect">
            <a:avLst>
              <a:gd name="adj" fmla="val 50000"/>
            </a:avLst>
          </a:prstGeom>
          <a:solidFill>
            <a:srgbClr val="E9F6F0"/>
          </a:solidFill>
        </p:spPr>
      </p:sp>
      <p:sp>
        <p:nvSpPr>
          <p:cNvPr id="5" name="pill-text"/>
          <p:cNvSpPr/>
          <p:nvPr/>
        </p:nvSpPr>
        <p:spPr>
          <a:xfrm>
            <a:off x="1022000" y="1866900"/>
            <a:ext cx="435600" cy="190500"/>
          </a:xfrm>
          <a:prstGeom prst="rect">
            <a:avLst/>
          </a:prstGeom>
          <a:noFill/>
        </p:spPr>
        <p:txBody>
          <a:bodyPr wrap="none" lIns="0" tIns="0" rIns="0" bIns="0" rtlCol="0" anchor="ctr"/>
          <a:lstStyle/>
          <a:p>
            <a:pPr marL="0" indent="0" algn="l">
              <a:buNone/>
            </a:pPr>
            <a:r>
              <a:rPr lang="en-US" altLang="en-US" sz="1200" b="1" dirty="0">
                <a:solidFill>
                  <a:srgbClr val="0E8F63"/>
                </a:solidFill>
                <a:latin typeface="Outfit" pitchFamily="34" charset="0"/>
                <a:ea typeface="Outfit" pitchFamily="34" charset="-122"/>
                <a:cs typeface="Outfit" pitchFamily="34" charset="-120"/>
              </a:rPr>
              <a:t>DASHBOARD 4 · IDENTIFIED THE MOST TARGETED ASSET AND COUNTRIES </a:t>
            </a:r>
            <a:endParaRPr lang="en-US" sz="1200" dirty="0"/>
          </a:p>
        </p:txBody>
      </p:sp>
      <p:sp>
        <p:nvSpPr>
          <p:cNvPr id="6" name="shot-card"/>
          <p:cNvSpPr/>
          <p:nvPr/>
        </p:nvSpPr>
        <p:spPr>
          <a:xfrm>
            <a:off x="457200" y="2350000"/>
            <a:ext cx="9000000" cy="6070000"/>
          </a:xfrm>
          <a:prstGeom prst="roundRect">
            <a:avLst>
              <a:gd name="adj" fmla="val 9000"/>
            </a:avLst>
          </a:prstGeom>
          <a:solidFill>
            <a:srgbClr val="FFFFFF"/>
          </a:solidFill>
          <a:ln w="12700">
            <a:solidFill>
              <a:srgbClr val="E2E8F0"/>
            </a:solidFill>
            <a:prstDash val="solid"/>
          </a:ln>
        </p:spPr>
      </p:sp>
      <p:pic>
        <p:nvPicPr>
          <p:cNvPr id="7" name="Dashboard Screenshot"/>
          <p:cNvPicPr>
            <a:picLocks noChangeAspect="1"/>
          </p:cNvPicPr>
          <p:nvPr/>
        </p:nvPicPr>
        <p:blipFill>
          <a:blip r:embed="rId1"/>
          <a:stretch>
            <a:fillRect/>
          </a:stretch>
        </p:blipFill>
        <p:spPr>
          <a:xfrm>
            <a:off x="637200" y="2628158"/>
            <a:ext cx="8640000" cy="5513684"/>
          </a:xfrm>
          <a:prstGeom prst="rect">
            <a:avLst/>
          </a:prstGeom>
        </p:spPr>
      </p:pic>
      <p:sp>
        <p:nvSpPr>
          <p:cNvPr id="8" name="badge-0"/>
          <p:cNvSpPr/>
          <p:nvPr/>
        </p:nvSpPr>
        <p:spPr>
          <a:xfrm>
            <a:off x="9737200" y="2380000"/>
            <a:ext cx="260350" cy="260350"/>
          </a:xfrm>
          <a:prstGeom prst="ellipse">
            <a:avLst/>
          </a:prstGeom>
          <a:solidFill>
            <a:srgbClr val="2F6FED"/>
          </a:solidFill>
        </p:spPr>
      </p:sp>
      <p:sp>
        <p:nvSpPr>
          <p:cNvPr id="9" name="badge-num-0"/>
          <p:cNvSpPr/>
          <p:nvPr/>
        </p:nvSpPr>
        <p:spPr>
          <a:xfrm>
            <a:off x="9737200" y="24180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10" name="label-0"/>
          <p:cNvSpPr/>
          <p:nvPr/>
        </p:nvSpPr>
        <p:spPr>
          <a:xfrm>
            <a:off x="10157550" y="23500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Filters</a:t>
            </a:r>
            <a:endParaRPr lang="en-US" sz="1300" dirty="0"/>
          </a:p>
        </p:txBody>
      </p:sp>
      <p:sp>
        <p:nvSpPr>
          <p:cNvPr id="11" name="desc-0"/>
          <p:cNvSpPr/>
          <p:nvPr/>
        </p:nvSpPr>
        <p:spPr>
          <a:xfrm>
            <a:off x="10157550" y="26100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asset_variety and Attack Type slicers instantly re-slice every visual on the page.</a:t>
            </a:r>
            <a:endParaRPr lang="en-US" sz="1050" dirty="0"/>
          </a:p>
        </p:txBody>
      </p:sp>
      <p:sp>
        <p:nvSpPr>
          <p:cNvPr id="12" name="badge-1"/>
          <p:cNvSpPr/>
          <p:nvPr/>
        </p:nvSpPr>
        <p:spPr>
          <a:xfrm>
            <a:off x="9737200" y="3138750"/>
            <a:ext cx="260350" cy="260350"/>
          </a:xfrm>
          <a:prstGeom prst="ellipse">
            <a:avLst/>
          </a:prstGeom>
          <a:solidFill>
            <a:srgbClr val="0E8F63"/>
          </a:solidFill>
        </p:spPr>
      </p:sp>
      <p:sp>
        <p:nvSpPr>
          <p:cNvPr id="13" name="badge-num-1"/>
          <p:cNvSpPr/>
          <p:nvPr/>
        </p:nvSpPr>
        <p:spPr>
          <a:xfrm>
            <a:off x="9737200" y="31767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14" name="label-1"/>
          <p:cNvSpPr/>
          <p:nvPr/>
        </p:nvSpPr>
        <p:spPr>
          <a:xfrm>
            <a:off x="10157550" y="31087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Asset Environment Distribution</a:t>
            </a:r>
            <a:endParaRPr lang="en-US" sz="1300" dirty="0"/>
          </a:p>
        </p:txBody>
      </p:sp>
      <p:sp>
        <p:nvSpPr>
          <p:cNvPr id="15" name="desc-1"/>
          <p:cNvSpPr/>
          <p:nvPr/>
        </p:nvSpPr>
        <p:spPr>
          <a:xfrm>
            <a:off x="10157550" y="33687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Shows how different attack environments (environmental, error, hacking, malware, etc.) distribute across asset types over time.</a:t>
            </a:r>
            <a:endParaRPr lang="en-US" sz="1050" dirty="0"/>
          </a:p>
        </p:txBody>
      </p:sp>
      <p:sp>
        <p:nvSpPr>
          <p:cNvPr id="16" name="badge-2"/>
          <p:cNvSpPr/>
          <p:nvPr/>
        </p:nvSpPr>
        <p:spPr>
          <a:xfrm>
            <a:off x="9737200" y="3897500"/>
            <a:ext cx="260350" cy="260350"/>
          </a:xfrm>
          <a:prstGeom prst="ellipse">
            <a:avLst/>
          </a:prstGeom>
          <a:solidFill>
            <a:srgbClr val="2F6FED"/>
          </a:solidFill>
        </p:spPr>
      </p:sp>
      <p:sp>
        <p:nvSpPr>
          <p:cNvPr id="17" name="badge-num-2"/>
          <p:cNvSpPr/>
          <p:nvPr/>
        </p:nvSpPr>
        <p:spPr>
          <a:xfrm>
            <a:off x="9737200" y="39355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18" name="label-2"/>
          <p:cNvSpPr/>
          <p:nvPr/>
        </p:nvSpPr>
        <p:spPr>
          <a:xfrm>
            <a:off x="10157550" y="38675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Most Common Attack Detail</a:t>
            </a:r>
            <a:endParaRPr lang="en-US" sz="1300" dirty="0"/>
          </a:p>
        </p:txBody>
      </p:sp>
      <p:sp>
        <p:nvSpPr>
          <p:cNvPr id="19" name="desc-2"/>
          <p:cNvSpPr/>
          <p:nvPr/>
        </p:nvSpPr>
        <p:spPr>
          <a:xfrm>
            <a:off x="10157550" y="41275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Adware is the single most frequent attack detail recorded in the dataset.</a:t>
            </a:r>
            <a:endParaRPr lang="en-US" sz="1050" dirty="0"/>
          </a:p>
        </p:txBody>
      </p:sp>
      <p:sp>
        <p:nvSpPr>
          <p:cNvPr id="20" name="badge-3"/>
          <p:cNvSpPr/>
          <p:nvPr/>
        </p:nvSpPr>
        <p:spPr>
          <a:xfrm>
            <a:off x="9737200" y="4656250"/>
            <a:ext cx="260350" cy="260350"/>
          </a:xfrm>
          <a:prstGeom prst="ellipse">
            <a:avLst/>
          </a:prstGeom>
          <a:solidFill>
            <a:srgbClr val="0E8F63"/>
          </a:solidFill>
        </p:spPr>
      </p:sp>
      <p:sp>
        <p:nvSpPr>
          <p:cNvPr id="21" name="badge-num-3"/>
          <p:cNvSpPr/>
          <p:nvPr/>
        </p:nvSpPr>
        <p:spPr>
          <a:xfrm>
            <a:off x="9737200" y="46942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22" name="label-3"/>
          <p:cNvSpPr/>
          <p:nvPr/>
        </p:nvSpPr>
        <p:spPr>
          <a:xfrm>
            <a:off x="10157550" y="46262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Total Unique Asset Varieties</a:t>
            </a:r>
            <a:endParaRPr lang="en-US" sz="1300" dirty="0"/>
          </a:p>
        </p:txBody>
      </p:sp>
      <p:sp>
        <p:nvSpPr>
          <p:cNvPr id="23" name="desc-3"/>
          <p:cNvSpPr/>
          <p:nvPr/>
        </p:nvSpPr>
        <p:spPr>
          <a:xfrm>
            <a:off x="10157550" y="48862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8 distinct asset types make up the dataset's attack surface.</a:t>
            </a:r>
            <a:endParaRPr lang="en-US" sz="1050" dirty="0"/>
          </a:p>
        </p:txBody>
      </p:sp>
      <p:sp>
        <p:nvSpPr>
          <p:cNvPr id="24" name="badge-4"/>
          <p:cNvSpPr/>
          <p:nvPr/>
        </p:nvSpPr>
        <p:spPr>
          <a:xfrm>
            <a:off x="9737200" y="5415000"/>
            <a:ext cx="260350" cy="260350"/>
          </a:xfrm>
          <a:prstGeom prst="ellipse">
            <a:avLst/>
          </a:prstGeom>
          <a:solidFill>
            <a:srgbClr val="2F6FED"/>
          </a:solidFill>
        </p:spPr>
      </p:sp>
      <p:sp>
        <p:nvSpPr>
          <p:cNvPr id="25" name="badge-num-4"/>
          <p:cNvSpPr/>
          <p:nvPr/>
        </p:nvSpPr>
        <p:spPr>
          <a:xfrm>
            <a:off x="9737200" y="54530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26" name="label-4"/>
          <p:cNvSpPr/>
          <p:nvPr/>
        </p:nvSpPr>
        <p:spPr>
          <a:xfrm>
            <a:off x="10157550" y="53850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Asset Type Targeting Trend by Year</a:t>
            </a:r>
            <a:endParaRPr lang="en-US" sz="1300" dirty="0"/>
          </a:p>
        </p:txBody>
      </p:sp>
      <p:sp>
        <p:nvSpPr>
          <p:cNvPr id="27" name="desc-4"/>
          <p:cNvSpPr/>
          <p:nvPr/>
        </p:nvSpPr>
        <p:spPr>
          <a:xfrm>
            <a:off x="10157550" y="56450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Multi-line trend shows targeting activity spiking in the 2010s before settling.</a:t>
            </a:r>
            <a:endParaRPr lang="en-US" sz="1050" dirty="0"/>
          </a:p>
        </p:txBody>
      </p:sp>
      <p:sp>
        <p:nvSpPr>
          <p:cNvPr id="28" name="badge-5"/>
          <p:cNvSpPr/>
          <p:nvPr/>
        </p:nvSpPr>
        <p:spPr>
          <a:xfrm>
            <a:off x="9737200" y="6173750"/>
            <a:ext cx="260350" cy="260350"/>
          </a:xfrm>
          <a:prstGeom prst="ellipse">
            <a:avLst/>
          </a:prstGeom>
          <a:solidFill>
            <a:srgbClr val="0E8F63"/>
          </a:solidFill>
        </p:spPr>
      </p:sp>
      <p:sp>
        <p:nvSpPr>
          <p:cNvPr id="29" name="badge-num-5"/>
          <p:cNvSpPr/>
          <p:nvPr/>
        </p:nvSpPr>
        <p:spPr>
          <a:xfrm>
            <a:off x="9737200" y="62117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6</a:t>
            </a:r>
            <a:endParaRPr lang="en-US" sz="1100" dirty="0"/>
          </a:p>
        </p:txBody>
      </p:sp>
      <p:sp>
        <p:nvSpPr>
          <p:cNvPr id="30" name="label-5"/>
          <p:cNvSpPr/>
          <p:nvPr/>
        </p:nvSpPr>
        <p:spPr>
          <a:xfrm>
            <a:off x="10157550" y="61437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Asset Type vs Attacker Motive Matrix</a:t>
            </a:r>
            <a:endParaRPr lang="en-US" sz="1300" dirty="0"/>
          </a:p>
        </p:txBody>
      </p:sp>
      <p:sp>
        <p:nvSpPr>
          <p:cNvPr id="31" name="desc-5"/>
          <p:cNvSpPr/>
          <p:nvPr/>
        </p:nvSpPr>
        <p:spPr>
          <a:xfrm>
            <a:off x="10157550" y="64037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ATM assets draw the heaviest financial-motive concentration, over 200 cases alone.</a:t>
            </a:r>
            <a:endParaRPr lang="en-US" sz="1050" dirty="0"/>
          </a:p>
        </p:txBody>
      </p:sp>
      <p:sp>
        <p:nvSpPr>
          <p:cNvPr id="32" name="badge-6"/>
          <p:cNvSpPr/>
          <p:nvPr/>
        </p:nvSpPr>
        <p:spPr>
          <a:xfrm>
            <a:off x="9737200" y="6932500"/>
            <a:ext cx="260350" cy="260350"/>
          </a:xfrm>
          <a:prstGeom prst="ellipse">
            <a:avLst/>
          </a:prstGeom>
          <a:solidFill>
            <a:srgbClr val="2F6FED"/>
          </a:solidFill>
        </p:spPr>
      </p:sp>
      <p:sp>
        <p:nvSpPr>
          <p:cNvPr id="33" name="badge-num-6"/>
          <p:cNvSpPr/>
          <p:nvPr/>
        </p:nvSpPr>
        <p:spPr>
          <a:xfrm>
            <a:off x="9737200" y="69705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7</a:t>
            </a:r>
            <a:endParaRPr lang="en-US" sz="1100" dirty="0"/>
          </a:p>
        </p:txBody>
      </p:sp>
      <p:sp>
        <p:nvSpPr>
          <p:cNvPr id="34" name="label-6"/>
          <p:cNvSpPr/>
          <p:nvPr/>
        </p:nvSpPr>
        <p:spPr>
          <a:xfrm>
            <a:off x="10157550" y="69025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Attack Motivation by Asset Environment</a:t>
            </a:r>
            <a:endParaRPr lang="en-US" sz="1300" dirty="0"/>
          </a:p>
        </p:txBody>
      </p:sp>
      <p:sp>
        <p:nvSpPr>
          <p:cNvPr id="35" name="desc-6"/>
          <p:cNvSpPr/>
          <p:nvPr/>
        </p:nvSpPr>
        <p:spPr>
          <a:xfrm>
            <a:off x="10157550" y="71625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Financial motive dominates most cloud environments in the 100% stacked breakdown.</a:t>
            </a:r>
            <a:endParaRPr lang="en-US" sz="1050" dirty="0"/>
          </a:p>
        </p:txBody>
      </p:sp>
      <p:sp>
        <p:nvSpPr>
          <p:cNvPr id="36" name="badge-7"/>
          <p:cNvSpPr/>
          <p:nvPr/>
        </p:nvSpPr>
        <p:spPr>
          <a:xfrm>
            <a:off x="9737200" y="7691250"/>
            <a:ext cx="260350" cy="260350"/>
          </a:xfrm>
          <a:prstGeom prst="ellipse">
            <a:avLst/>
          </a:prstGeom>
          <a:solidFill>
            <a:srgbClr val="0E8F63"/>
          </a:solidFill>
        </p:spPr>
      </p:sp>
      <p:sp>
        <p:nvSpPr>
          <p:cNvPr id="37" name="badge-num-7"/>
          <p:cNvSpPr/>
          <p:nvPr/>
        </p:nvSpPr>
        <p:spPr>
          <a:xfrm>
            <a:off x="9737200" y="77292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8</a:t>
            </a:r>
            <a:endParaRPr lang="en-US" sz="1100" dirty="0"/>
          </a:p>
        </p:txBody>
      </p:sp>
      <p:sp>
        <p:nvSpPr>
          <p:cNvPr id="38" name="label-7"/>
          <p:cNvSpPr/>
          <p:nvPr/>
        </p:nvSpPr>
        <p:spPr>
          <a:xfrm>
            <a:off x="10157550" y="76612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Attacker Country Share per Asset Type</a:t>
            </a:r>
            <a:endParaRPr lang="en-US" sz="1300" dirty="0"/>
          </a:p>
        </p:txBody>
      </p:sp>
      <p:sp>
        <p:nvSpPr>
          <p:cNvPr id="39" name="desc-7"/>
          <p:cNvSpPr/>
          <p:nvPr/>
        </p:nvSpPr>
        <p:spPr>
          <a:xfrm>
            <a:off x="10157550" y="79212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Documents are almost entirely one country's doing (97.71%), while web app attacks split across CN, GB, and others.</a:t>
            </a:r>
            <a:endParaRPr lang="en-US" sz="1050" dirty="0"/>
          </a:p>
        </p:txBody>
      </p:sp>
      <p:sp>
        <p:nvSpPr>
          <p:cNvPr id="40" name="page-num-circle"/>
          <p:cNvSpPr/>
          <p:nvPr/>
        </p:nvSpPr>
        <p:spPr>
          <a:xfrm>
            <a:off x="15494000" y="8593455"/>
            <a:ext cx="502285" cy="440055"/>
          </a:xfrm>
          <a:prstGeom prst="ellipse">
            <a:avLst/>
          </a:prstGeom>
          <a:solidFill>
            <a:srgbClr val="5B9BD5"/>
          </a:solidFill>
          <a:ln w="15875">
            <a:noFill/>
            <a:prstDash val="solid"/>
          </a:ln>
        </p:spPr>
        <p:txBody>
          <a:bodyPr wrap="none" anchor="ctr"/>
          <a:p>
            <a:pPr marL="0" indent="0" algn="ctr">
              <a:buNone/>
            </a:pPr>
            <a:r>
              <a:rPr lang="en-US" sz="1600" b="1" dirty="0">
                <a:solidFill>
                  <a:srgbClr val="FFFFFF"/>
                </a:solidFill>
                <a:latin typeface="Calibri" panose="020F0502020204030204" charset="0"/>
              </a:rPr>
              <a:t>7</a:t>
            </a:r>
            <a:endParaRPr lang="en-US" sz="1600"/>
          </a:p>
        </p:txBody>
      </p:sp>
      <p:pic>
        <p:nvPicPr>
          <p:cNvPr id="41" name="Header Banner"/>
          <p:cNvPicPr>
            <a:picLocks noChangeAspect="1"/>
          </p:cNvPicPr>
          <p:nvPr/>
        </p:nvPicPr>
        <p:blipFill>
          <a:blip r:embed="rId2"/>
          <a:srcRect t="27119" b="14044"/>
          <a:stretch>
            <a:fillRect/>
          </a:stretch>
        </p:blipFill>
        <p:spPr>
          <a:xfrm>
            <a:off x="0" y="0"/>
            <a:ext cx="16256000" cy="74549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1270000"/>
            <a:ext cx="50800" cy="368300"/>
          </a:xfrm>
          <a:prstGeom prst="rect">
            <a:avLst/>
          </a:prstGeom>
          <a:solidFill>
            <a:srgbClr val="0E8F63"/>
          </a:solidFill>
        </p:spPr>
      </p:sp>
      <p:sp>
        <p:nvSpPr>
          <p:cNvPr id="3" name="slide-title"/>
          <p:cNvSpPr/>
          <p:nvPr/>
        </p:nvSpPr>
        <p:spPr>
          <a:xfrm>
            <a:off x="762000" y="1216660"/>
            <a:ext cx="120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Attacker &amp; Actor Intelligence Dashboard</a:t>
            </a:r>
            <a:endParaRPr lang="en-US" sz="3000" dirty="0"/>
          </a:p>
        </p:txBody>
      </p:sp>
      <p:sp>
        <p:nvSpPr>
          <p:cNvPr id="4" name="pill-bg"/>
          <p:cNvSpPr/>
          <p:nvPr/>
        </p:nvSpPr>
        <p:spPr>
          <a:xfrm>
            <a:off x="762000" y="1790700"/>
            <a:ext cx="982000" cy="342900"/>
          </a:xfrm>
          <a:prstGeom prst="roundRect">
            <a:avLst>
              <a:gd name="adj" fmla="val 50000"/>
            </a:avLst>
          </a:prstGeom>
          <a:solidFill>
            <a:srgbClr val="E9F6F0"/>
          </a:solidFill>
        </p:spPr>
      </p:sp>
      <p:sp>
        <p:nvSpPr>
          <p:cNvPr id="5" name="pill-text"/>
          <p:cNvSpPr/>
          <p:nvPr/>
        </p:nvSpPr>
        <p:spPr>
          <a:xfrm>
            <a:off x="1022000" y="1866900"/>
            <a:ext cx="462000" cy="190500"/>
          </a:xfrm>
          <a:prstGeom prst="rect">
            <a:avLst/>
          </a:prstGeom>
          <a:noFill/>
        </p:spPr>
        <p:txBody>
          <a:bodyPr wrap="none" lIns="0" tIns="0" rIns="0" bIns="0" rtlCol="0" anchor="ctr"/>
          <a:lstStyle/>
          <a:p>
            <a:pPr marL="0" indent="0" algn="l">
              <a:buNone/>
            </a:pPr>
            <a:r>
              <a:rPr lang="en-US" altLang="en-US" sz="1200" b="1" dirty="0">
                <a:solidFill>
                  <a:srgbClr val="0E8F63"/>
                </a:solidFill>
                <a:latin typeface="Outfit" pitchFamily="34" charset="0"/>
                <a:ea typeface="Outfit" pitchFamily="34" charset="-122"/>
                <a:cs typeface="Outfit" pitchFamily="34" charset="-120"/>
              </a:rPr>
              <a:t>DASHBOARD 3 · UNDERSTANDING WHO INITIATES </a:t>
            </a:r>
            <a:r>
              <a:rPr lang="en-US" altLang="en-US" sz="1200" b="1" dirty="0">
                <a:solidFill>
                  <a:srgbClr val="0E8F63"/>
                </a:solidFill>
                <a:latin typeface="Outfit" pitchFamily="34" charset="0"/>
                <a:ea typeface="Outfit" pitchFamily="34" charset="-122"/>
                <a:cs typeface="Outfit" pitchFamily="34" charset="-120"/>
                <a:sym typeface="+mn-ea"/>
              </a:rPr>
              <a:t>CYBERSECURITY AND  INCIDENTS</a:t>
            </a:r>
            <a:r>
              <a:rPr lang="en-US" altLang="en-US" sz="1200" b="1" dirty="0">
                <a:solidFill>
                  <a:srgbClr val="0E8F63"/>
                </a:solidFill>
                <a:latin typeface="Outfit" pitchFamily="34" charset="0"/>
                <a:ea typeface="Outfit" pitchFamily="34" charset="-122"/>
                <a:cs typeface="Outfit" pitchFamily="34" charset="-120"/>
              </a:rPr>
              <a:t> </a:t>
            </a:r>
            <a:endParaRPr lang="en-US" sz="1200" dirty="0"/>
          </a:p>
        </p:txBody>
      </p:sp>
      <p:sp>
        <p:nvSpPr>
          <p:cNvPr id="6" name="shot-card"/>
          <p:cNvSpPr/>
          <p:nvPr/>
        </p:nvSpPr>
        <p:spPr>
          <a:xfrm>
            <a:off x="457200" y="2350000"/>
            <a:ext cx="9000000" cy="6070000"/>
          </a:xfrm>
          <a:prstGeom prst="roundRect">
            <a:avLst>
              <a:gd name="adj" fmla="val 9000"/>
            </a:avLst>
          </a:prstGeom>
          <a:solidFill>
            <a:srgbClr val="FFFFFF"/>
          </a:solidFill>
          <a:ln w="12700">
            <a:solidFill>
              <a:srgbClr val="E2E8F0"/>
            </a:solidFill>
            <a:prstDash val="solid"/>
          </a:ln>
        </p:spPr>
      </p:sp>
      <p:pic>
        <p:nvPicPr>
          <p:cNvPr id="7" name="Dashboard Screenshot"/>
          <p:cNvPicPr>
            <a:picLocks noChangeAspect="1"/>
          </p:cNvPicPr>
          <p:nvPr/>
        </p:nvPicPr>
        <p:blipFill>
          <a:blip r:embed="rId1"/>
          <a:stretch>
            <a:fillRect/>
          </a:stretch>
        </p:blipFill>
        <p:spPr>
          <a:xfrm>
            <a:off x="637200" y="2573797"/>
            <a:ext cx="8640000" cy="5622405"/>
          </a:xfrm>
          <a:prstGeom prst="rect">
            <a:avLst/>
          </a:prstGeom>
        </p:spPr>
      </p:pic>
      <p:sp>
        <p:nvSpPr>
          <p:cNvPr id="8" name="badge-0"/>
          <p:cNvSpPr/>
          <p:nvPr/>
        </p:nvSpPr>
        <p:spPr>
          <a:xfrm>
            <a:off x="9737200" y="2380000"/>
            <a:ext cx="260350" cy="260350"/>
          </a:xfrm>
          <a:prstGeom prst="ellipse">
            <a:avLst/>
          </a:prstGeom>
          <a:solidFill>
            <a:srgbClr val="2F6FED"/>
          </a:solidFill>
        </p:spPr>
      </p:sp>
      <p:sp>
        <p:nvSpPr>
          <p:cNvPr id="9" name="badge-num-0"/>
          <p:cNvSpPr/>
          <p:nvPr/>
        </p:nvSpPr>
        <p:spPr>
          <a:xfrm>
            <a:off x="9737200" y="24180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10" name="label-0"/>
          <p:cNvSpPr/>
          <p:nvPr/>
        </p:nvSpPr>
        <p:spPr>
          <a:xfrm>
            <a:off x="10157550" y="23500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Total Incidents by Year</a:t>
            </a:r>
            <a:endParaRPr lang="en-US" sz="1300" dirty="0"/>
          </a:p>
        </p:txBody>
      </p:sp>
      <p:sp>
        <p:nvSpPr>
          <p:cNvPr id="11" name="desc-0"/>
          <p:cNvSpPr/>
          <p:nvPr/>
        </p:nvSpPr>
        <p:spPr>
          <a:xfrm>
            <a:off x="10157550" y="2610000"/>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Incident volume stays flat for decades before spiking sharply around 2020.</a:t>
            </a:r>
            <a:endParaRPr lang="en-US" sz="1050" dirty="0"/>
          </a:p>
        </p:txBody>
      </p:sp>
      <p:sp>
        <p:nvSpPr>
          <p:cNvPr id="12" name="badge-1"/>
          <p:cNvSpPr/>
          <p:nvPr/>
        </p:nvSpPr>
        <p:spPr>
          <a:xfrm>
            <a:off x="9737200" y="3247142"/>
            <a:ext cx="260350" cy="260350"/>
          </a:xfrm>
          <a:prstGeom prst="ellipse">
            <a:avLst/>
          </a:prstGeom>
          <a:solidFill>
            <a:srgbClr val="0E8F63"/>
          </a:solidFill>
        </p:spPr>
      </p:sp>
      <p:sp>
        <p:nvSpPr>
          <p:cNvPr id="13" name="badge-num-1"/>
          <p:cNvSpPr/>
          <p:nvPr/>
        </p:nvSpPr>
        <p:spPr>
          <a:xfrm>
            <a:off x="9737200" y="3285142"/>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14" name="label-1"/>
          <p:cNvSpPr/>
          <p:nvPr/>
        </p:nvSpPr>
        <p:spPr>
          <a:xfrm>
            <a:off x="10157550" y="3217142"/>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Actor Type Filter</a:t>
            </a:r>
            <a:endParaRPr lang="en-US" sz="1300" dirty="0"/>
          </a:p>
        </p:txBody>
      </p:sp>
      <p:sp>
        <p:nvSpPr>
          <p:cNvPr id="15" name="desc-1"/>
          <p:cNvSpPr/>
          <p:nvPr/>
        </p:nvSpPr>
        <p:spPr>
          <a:xfrm>
            <a:off x="10157550" y="3477142"/>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A slicer lets any actor type — external, internal, partner, or unknown — re-slice the page.</a:t>
            </a:r>
            <a:endParaRPr lang="en-US" sz="1050" dirty="0"/>
          </a:p>
        </p:txBody>
      </p:sp>
      <p:sp>
        <p:nvSpPr>
          <p:cNvPr id="16" name="badge-2"/>
          <p:cNvSpPr/>
          <p:nvPr/>
        </p:nvSpPr>
        <p:spPr>
          <a:xfrm>
            <a:off x="9737200" y="4114284"/>
            <a:ext cx="260350" cy="260350"/>
          </a:xfrm>
          <a:prstGeom prst="ellipse">
            <a:avLst/>
          </a:prstGeom>
          <a:solidFill>
            <a:srgbClr val="2F6FED"/>
          </a:solidFill>
        </p:spPr>
      </p:sp>
      <p:sp>
        <p:nvSpPr>
          <p:cNvPr id="17" name="badge-num-2"/>
          <p:cNvSpPr/>
          <p:nvPr/>
        </p:nvSpPr>
        <p:spPr>
          <a:xfrm>
            <a:off x="9737200" y="4152284"/>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18" name="label-2"/>
          <p:cNvSpPr/>
          <p:nvPr/>
        </p:nvSpPr>
        <p:spPr>
          <a:xfrm>
            <a:off x="10157550" y="4084284"/>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First Actor Type</a:t>
            </a:r>
            <a:endParaRPr lang="en-US" sz="1300" dirty="0"/>
          </a:p>
        </p:txBody>
      </p:sp>
      <p:sp>
        <p:nvSpPr>
          <p:cNvPr id="19" name="desc-2"/>
          <p:cNvSpPr/>
          <p:nvPr/>
        </p:nvSpPr>
        <p:spPr>
          <a:xfrm>
            <a:off x="10157550" y="4344284"/>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External actors are the first (most common) actor type recorded across incidents.</a:t>
            </a:r>
            <a:endParaRPr lang="en-US" sz="1050" dirty="0"/>
          </a:p>
        </p:txBody>
      </p:sp>
      <p:sp>
        <p:nvSpPr>
          <p:cNvPr id="20" name="badge-3"/>
          <p:cNvSpPr/>
          <p:nvPr/>
        </p:nvSpPr>
        <p:spPr>
          <a:xfrm>
            <a:off x="9737200" y="4981426"/>
            <a:ext cx="260350" cy="260350"/>
          </a:xfrm>
          <a:prstGeom prst="ellipse">
            <a:avLst/>
          </a:prstGeom>
          <a:solidFill>
            <a:srgbClr val="0E8F63"/>
          </a:solidFill>
        </p:spPr>
      </p:sp>
      <p:sp>
        <p:nvSpPr>
          <p:cNvPr id="21" name="badge-num-3"/>
          <p:cNvSpPr/>
          <p:nvPr/>
        </p:nvSpPr>
        <p:spPr>
          <a:xfrm>
            <a:off x="9737200" y="5019426"/>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22" name="label-3"/>
          <p:cNvSpPr/>
          <p:nvPr/>
        </p:nvSpPr>
        <p:spPr>
          <a:xfrm>
            <a:off x="10157550" y="4951426"/>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Count of Incidents by Actor Type</a:t>
            </a:r>
            <a:endParaRPr lang="en-US" sz="1300" dirty="0"/>
          </a:p>
        </p:txBody>
      </p:sp>
      <p:sp>
        <p:nvSpPr>
          <p:cNvPr id="23" name="desc-3"/>
          <p:cNvSpPr/>
          <p:nvPr/>
        </p:nvSpPr>
        <p:spPr>
          <a:xfrm>
            <a:off x="10157550" y="5211426"/>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External actors account for roughly half of all attributed incidents, with internal a close second.</a:t>
            </a:r>
            <a:endParaRPr lang="en-US" sz="1050" dirty="0"/>
          </a:p>
        </p:txBody>
      </p:sp>
      <p:sp>
        <p:nvSpPr>
          <p:cNvPr id="24" name="badge-4"/>
          <p:cNvSpPr/>
          <p:nvPr/>
        </p:nvSpPr>
        <p:spPr>
          <a:xfrm>
            <a:off x="9737200" y="5848568"/>
            <a:ext cx="260350" cy="260350"/>
          </a:xfrm>
          <a:prstGeom prst="ellipse">
            <a:avLst/>
          </a:prstGeom>
          <a:solidFill>
            <a:srgbClr val="2F6FED"/>
          </a:solidFill>
        </p:spPr>
      </p:sp>
      <p:sp>
        <p:nvSpPr>
          <p:cNvPr id="25" name="badge-num-4"/>
          <p:cNvSpPr/>
          <p:nvPr/>
        </p:nvSpPr>
        <p:spPr>
          <a:xfrm>
            <a:off x="9737200" y="5886568"/>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26" name="label-4"/>
          <p:cNvSpPr/>
          <p:nvPr/>
        </p:nvSpPr>
        <p:spPr>
          <a:xfrm>
            <a:off x="10157550" y="5818568"/>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Top Attacker Origins</a:t>
            </a:r>
            <a:endParaRPr lang="en-US" sz="1300" dirty="0"/>
          </a:p>
        </p:txBody>
      </p:sp>
      <p:sp>
        <p:nvSpPr>
          <p:cNvPr id="27" name="desc-4"/>
          <p:cNvSpPr/>
          <p:nvPr/>
        </p:nvSpPr>
        <p:spPr>
          <a:xfrm>
            <a:off x="10157550" y="6078568"/>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China (CN) leads attacker-origin countries with 69 incidents, far ahead of the rest of the table.</a:t>
            </a:r>
            <a:endParaRPr lang="en-US" sz="1050" dirty="0"/>
          </a:p>
        </p:txBody>
      </p:sp>
      <p:sp>
        <p:nvSpPr>
          <p:cNvPr id="28" name="badge-5"/>
          <p:cNvSpPr/>
          <p:nvPr/>
        </p:nvSpPr>
        <p:spPr>
          <a:xfrm>
            <a:off x="9737200" y="6715710"/>
            <a:ext cx="260350" cy="260350"/>
          </a:xfrm>
          <a:prstGeom prst="ellipse">
            <a:avLst/>
          </a:prstGeom>
          <a:solidFill>
            <a:srgbClr val="0E8F63"/>
          </a:solidFill>
        </p:spPr>
      </p:sp>
      <p:sp>
        <p:nvSpPr>
          <p:cNvPr id="29" name="badge-num-5"/>
          <p:cNvSpPr/>
          <p:nvPr/>
        </p:nvSpPr>
        <p:spPr>
          <a:xfrm>
            <a:off x="9737200" y="675371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6</a:t>
            </a:r>
            <a:endParaRPr lang="en-US" sz="1100" dirty="0"/>
          </a:p>
        </p:txBody>
      </p:sp>
      <p:sp>
        <p:nvSpPr>
          <p:cNvPr id="30" name="label-5"/>
          <p:cNvSpPr/>
          <p:nvPr/>
        </p:nvSpPr>
        <p:spPr>
          <a:xfrm>
            <a:off x="10157550" y="668571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Attacker Country Map</a:t>
            </a:r>
            <a:endParaRPr lang="en-US" sz="1300" dirty="0"/>
          </a:p>
        </p:txBody>
      </p:sp>
      <p:sp>
        <p:nvSpPr>
          <p:cNvPr id="31" name="desc-5"/>
          <p:cNvSpPr/>
          <p:nvPr/>
        </p:nvSpPr>
        <p:spPr>
          <a:xfrm>
            <a:off x="10157550" y="6945710"/>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Attacker locations cluster heavily across Europe, with further concentration in North America and Asia.</a:t>
            </a:r>
            <a:endParaRPr lang="en-US" sz="1050" dirty="0"/>
          </a:p>
        </p:txBody>
      </p:sp>
      <p:sp>
        <p:nvSpPr>
          <p:cNvPr id="32" name="badge-6"/>
          <p:cNvSpPr/>
          <p:nvPr/>
        </p:nvSpPr>
        <p:spPr>
          <a:xfrm>
            <a:off x="9737200" y="7582852"/>
            <a:ext cx="260350" cy="260350"/>
          </a:xfrm>
          <a:prstGeom prst="ellipse">
            <a:avLst/>
          </a:prstGeom>
          <a:solidFill>
            <a:srgbClr val="2F6FED"/>
          </a:solidFill>
        </p:spPr>
      </p:sp>
      <p:sp>
        <p:nvSpPr>
          <p:cNvPr id="33" name="badge-num-6"/>
          <p:cNvSpPr/>
          <p:nvPr/>
        </p:nvSpPr>
        <p:spPr>
          <a:xfrm>
            <a:off x="9737200" y="7620852"/>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7</a:t>
            </a:r>
            <a:endParaRPr lang="en-US" sz="1100" dirty="0"/>
          </a:p>
        </p:txBody>
      </p:sp>
      <p:sp>
        <p:nvSpPr>
          <p:cNvPr id="34" name="label-6"/>
          <p:cNvSpPr/>
          <p:nvPr/>
        </p:nvSpPr>
        <p:spPr>
          <a:xfrm>
            <a:off x="10157550" y="7552852"/>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Total Incidents by Year and Actor Type</a:t>
            </a:r>
            <a:endParaRPr lang="en-US" sz="1300" dirty="0"/>
          </a:p>
        </p:txBody>
      </p:sp>
      <p:sp>
        <p:nvSpPr>
          <p:cNvPr id="35" name="desc-6"/>
          <p:cNvSpPr/>
          <p:nvPr/>
        </p:nvSpPr>
        <p:spPr>
          <a:xfrm>
            <a:off x="10157550" y="7812852"/>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The stacked trend shows external actors driving most of the incident spike after 2010.</a:t>
            </a:r>
            <a:endParaRPr lang="en-US" sz="1050" dirty="0"/>
          </a:p>
        </p:txBody>
      </p:sp>
      <p:sp>
        <p:nvSpPr>
          <p:cNvPr id="36" name="page-num-circle"/>
          <p:cNvSpPr/>
          <p:nvPr/>
        </p:nvSpPr>
        <p:spPr>
          <a:xfrm>
            <a:off x="15494000" y="8593455"/>
            <a:ext cx="502285" cy="440055"/>
          </a:xfrm>
          <a:prstGeom prst="ellipse">
            <a:avLst/>
          </a:prstGeom>
          <a:solidFill>
            <a:srgbClr val="5B9BD5"/>
          </a:solidFill>
          <a:ln w="15875">
            <a:noFill/>
            <a:prstDash val="solid"/>
          </a:ln>
        </p:spPr>
        <p:txBody>
          <a:bodyPr wrap="none" anchor="ctr"/>
          <a:p>
            <a:pPr marL="0" indent="0" algn="ctr">
              <a:buNone/>
            </a:pPr>
            <a:r>
              <a:rPr lang="en-US" sz="1600" b="1" dirty="0">
                <a:solidFill>
                  <a:srgbClr val="FFFFFF"/>
                </a:solidFill>
                <a:latin typeface="Calibri" panose="020F0502020204030204" charset="0"/>
              </a:rPr>
              <a:t>8</a:t>
            </a:r>
            <a:endParaRPr lang="en-US" sz="1600"/>
          </a:p>
        </p:txBody>
      </p:sp>
      <p:pic>
        <p:nvPicPr>
          <p:cNvPr id="37" name="Header Banner"/>
          <p:cNvPicPr>
            <a:picLocks noChangeAspect="1"/>
          </p:cNvPicPr>
          <p:nvPr/>
        </p:nvPicPr>
        <p:blipFill>
          <a:blip r:embed="rId2"/>
          <a:srcRect t="27119" b="14044"/>
          <a:stretch>
            <a:fillRect/>
          </a:stretch>
        </p:blipFill>
        <p:spPr>
          <a:xfrm>
            <a:off x="0" y="0"/>
            <a:ext cx="16256000" cy="74549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1270000"/>
            <a:ext cx="50800" cy="368300"/>
          </a:xfrm>
          <a:prstGeom prst="rect">
            <a:avLst/>
          </a:prstGeom>
          <a:solidFill>
            <a:srgbClr val="0E8F63"/>
          </a:solidFill>
        </p:spPr>
      </p:sp>
      <p:sp>
        <p:nvSpPr>
          <p:cNvPr id="3" name="slide-title"/>
          <p:cNvSpPr/>
          <p:nvPr/>
        </p:nvSpPr>
        <p:spPr>
          <a:xfrm>
            <a:off x="762000" y="1216660"/>
            <a:ext cx="120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Impact &amp; Incident Severity Dashboard</a:t>
            </a:r>
            <a:endParaRPr lang="en-US" sz="3000" dirty="0"/>
          </a:p>
        </p:txBody>
      </p:sp>
      <p:sp>
        <p:nvSpPr>
          <p:cNvPr id="4" name="pill-bg"/>
          <p:cNvSpPr/>
          <p:nvPr/>
        </p:nvSpPr>
        <p:spPr>
          <a:xfrm>
            <a:off x="762000" y="1790700"/>
            <a:ext cx="929200" cy="342900"/>
          </a:xfrm>
          <a:prstGeom prst="roundRect">
            <a:avLst>
              <a:gd name="adj" fmla="val 50000"/>
            </a:avLst>
          </a:prstGeom>
          <a:solidFill>
            <a:srgbClr val="E9F6F0"/>
          </a:solidFill>
        </p:spPr>
      </p:sp>
      <p:sp>
        <p:nvSpPr>
          <p:cNvPr id="5" name="pill-text"/>
          <p:cNvSpPr/>
          <p:nvPr/>
        </p:nvSpPr>
        <p:spPr>
          <a:xfrm>
            <a:off x="1022000" y="1866900"/>
            <a:ext cx="409200" cy="190500"/>
          </a:xfrm>
          <a:prstGeom prst="rect">
            <a:avLst/>
          </a:prstGeom>
          <a:noFill/>
        </p:spPr>
        <p:txBody>
          <a:bodyPr wrap="none" lIns="0" tIns="0" rIns="0" bIns="0" rtlCol="0" anchor="ctr"/>
          <a:lstStyle/>
          <a:p>
            <a:pPr marL="0" indent="0" algn="l">
              <a:buNone/>
            </a:pPr>
            <a:r>
              <a:rPr lang="en-US" altLang="en-US" sz="1200" b="1" dirty="0">
                <a:solidFill>
                  <a:srgbClr val="0E8F63"/>
                </a:solidFill>
                <a:latin typeface="Outfit" pitchFamily="34" charset="0"/>
                <a:ea typeface="Outfit" pitchFamily="34" charset="-122"/>
                <a:cs typeface="Outfit" pitchFamily="34" charset="-120"/>
              </a:rPr>
              <a:t>DASHBOARD 5 · MEASURING THECONSEQUENCES AND SEVERITY OF </a:t>
            </a:r>
            <a:r>
              <a:rPr lang="en-US" altLang="en-US" sz="1200" b="1" dirty="0">
                <a:solidFill>
                  <a:srgbClr val="0E8F63"/>
                </a:solidFill>
                <a:latin typeface="Outfit" pitchFamily="34" charset="0"/>
                <a:ea typeface="Outfit" pitchFamily="34" charset="-122"/>
                <a:cs typeface="Outfit" pitchFamily="34" charset="-120"/>
                <a:sym typeface="+mn-ea"/>
              </a:rPr>
              <a:t>CYBERSECURITY INCIDENTS</a:t>
            </a:r>
            <a:endParaRPr lang="en-US" sz="1200" dirty="0"/>
          </a:p>
        </p:txBody>
      </p:sp>
      <p:sp>
        <p:nvSpPr>
          <p:cNvPr id="6" name="shot-card"/>
          <p:cNvSpPr/>
          <p:nvPr/>
        </p:nvSpPr>
        <p:spPr>
          <a:xfrm>
            <a:off x="457200" y="2350000"/>
            <a:ext cx="9000000" cy="6070000"/>
          </a:xfrm>
          <a:prstGeom prst="roundRect">
            <a:avLst>
              <a:gd name="adj" fmla="val 9000"/>
            </a:avLst>
          </a:prstGeom>
          <a:solidFill>
            <a:srgbClr val="FFFFFF"/>
          </a:solidFill>
          <a:ln w="12700">
            <a:solidFill>
              <a:srgbClr val="E2E8F0"/>
            </a:solidFill>
            <a:prstDash val="solid"/>
          </a:ln>
        </p:spPr>
      </p:sp>
      <p:pic>
        <p:nvPicPr>
          <p:cNvPr id="7" name="Dashboard Screenshot"/>
          <p:cNvPicPr>
            <a:picLocks noChangeAspect="1"/>
          </p:cNvPicPr>
          <p:nvPr/>
        </p:nvPicPr>
        <p:blipFill>
          <a:blip r:embed="rId1"/>
          <a:stretch>
            <a:fillRect/>
          </a:stretch>
        </p:blipFill>
        <p:spPr>
          <a:xfrm>
            <a:off x="637200" y="2545131"/>
            <a:ext cx="8640000" cy="5679737"/>
          </a:xfrm>
          <a:prstGeom prst="rect">
            <a:avLst/>
          </a:prstGeom>
        </p:spPr>
      </p:pic>
      <p:sp>
        <p:nvSpPr>
          <p:cNvPr id="8" name="badge-0"/>
          <p:cNvSpPr/>
          <p:nvPr/>
        </p:nvSpPr>
        <p:spPr>
          <a:xfrm>
            <a:off x="9737200" y="2380000"/>
            <a:ext cx="260350" cy="260350"/>
          </a:xfrm>
          <a:prstGeom prst="ellipse">
            <a:avLst/>
          </a:prstGeom>
          <a:solidFill>
            <a:srgbClr val="2F6FED"/>
          </a:solidFill>
        </p:spPr>
      </p:sp>
      <p:sp>
        <p:nvSpPr>
          <p:cNvPr id="9" name="badge-num-0"/>
          <p:cNvSpPr/>
          <p:nvPr/>
        </p:nvSpPr>
        <p:spPr>
          <a:xfrm>
            <a:off x="9737200" y="24180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10" name="label-0"/>
          <p:cNvSpPr/>
          <p:nvPr/>
        </p:nvSpPr>
        <p:spPr>
          <a:xfrm>
            <a:off x="10157550" y="23500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Filter by Attack Type</a:t>
            </a:r>
            <a:endParaRPr lang="en-US" sz="1300" dirty="0"/>
          </a:p>
        </p:txBody>
      </p:sp>
      <p:sp>
        <p:nvSpPr>
          <p:cNvPr id="11" name="desc-0"/>
          <p:cNvSpPr/>
          <p:nvPr/>
        </p:nvSpPr>
        <p:spPr>
          <a:xfrm>
            <a:off x="10157550" y="26100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A slicer instantly re-slices every visual on the page by attack type.</a:t>
            </a:r>
            <a:endParaRPr lang="en-US" sz="1050" dirty="0"/>
          </a:p>
        </p:txBody>
      </p:sp>
      <p:sp>
        <p:nvSpPr>
          <p:cNvPr id="12" name="badge-1"/>
          <p:cNvSpPr/>
          <p:nvPr/>
        </p:nvSpPr>
        <p:spPr>
          <a:xfrm>
            <a:off x="9737200" y="3138750"/>
            <a:ext cx="260350" cy="260350"/>
          </a:xfrm>
          <a:prstGeom prst="ellipse">
            <a:avLst/>
          </a:prstGeom>
          <a:solidFill>
            <a:srgbClr val="0E8F63"/>
          </a:solidFill>
        </p:spPr>
      </p:sp>
      <p:sp>
        <p:nvSpPr>
          <p:cNvPr id="13" name="badge-num-1"/>
          <p:cNvSpPr/>
          <p:nvPr/>
        </p:nvSpPr>
        <p:spPr>
          <a:xfrm>
            <a:off x="9737200" y="31767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14" name="label-1"/>
          <p:cNvSpPr/>
          <p:nvPr/>
        </p:nvSpPr>
        <p:spPr>
          <a:xfrm>
            <a:off x="10157550" y="31087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Year-over-Year Growth Rate</a:t>
            </a:r>
            <a:endParaRPr lang="en-US" sz="1300" dirty="0"/>
          </a:p>
        </p:txBody>
      </p:sp>
      <p:sp>
        <p:nvSpPr>
          <p:cNvPr id="15" name="desc-1"/>
          <p:cNvSpPr/>
          <p:nvPr/>
        </p:nvSpPr>
        <p:spPr>
          <a:xfrm>
            <a:off x="10157550" y="33687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Incidents fell sharply, down 90.83% YoY, reflecting the recent-year taper.</a:t>
            </a:r>
            <a:endParaRPr lang="en-US" sz="1050" dirty="0"/>
          </a:p>
        </p:txBody>
      </p:sp>
      <p:sp>
        <p:nvSpPr>
          <p:cNvPr id="16" name="badge-2"/>
          <p:cNvSpPr/>
          <p:nvPr/>
        </p:nvSpPr>
        <p:spPr>
          <a:xfrm>
            <a:off x="9737200" y="3897500"/>
            <a:ext cx="260350" cy="260350"/>
          </a:xfrm>
          <a:prstGeom prst="ellipse">
            <a:avLst/>
          </a:prstGeom>
          <a:solidFill>
            <a:srgbClr val="2F6FED"/>
          </a:solidFill>
        </p:spPr>
      </p:sp>
      <p:sp>
        <p:nvSpPr>
          <p:cNvPr id="17" name="badge-num-2"/>
          <p:cNvSpPr/>
          <p:nvPr/>
        </p:nvSpPr>
        <p:spPr>
          <a:xfrm>
            <a:off x="9737200" y="39355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18" name="label-2"/>
          <p:cNvSpPr/>
          <p:nvPr/>
        </p:nvSpPr>
        <p:spPr>
          <a:xfrm>
            <a:off x="10157550" y="38675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Total Incidents by Attack Detail</a:t>
            </a:r>
            <a:endParaRPr lang="en-US" sz="1300" dirty="0"/>
          </a:p>
        </p:txBody>
      </p:sp>
      <p:sp>
        <p:nvSpPr>
          <p:cNvPr id="19" name="desc-2"/>
          <p:cNvSpPr/>
          <p:nvPr/>
        </p:nvSpPr>
        <p:spPr>
          <a:xfrm>
            <a:off x="10157550" y="41275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A single attack detail dominates the count, with the rest trailing off in a long tail.</a:t>
            </a:r>
            <a:endParaRPr lang="en-US" sz="1050" dirty="0"/>
          </a:p>
        </p:txBody>
      </p:sp>
      <p:sp>
        <p:nvSpPr>
          <p:cNvPr id="20" name="badge-3"/>
          <p:cNvSpPr/>
          <p:nvPr/>
        </p:nvSpPr>
        <p:spPr>
          <a:xfrm>
            <a:off x="9737200" y="4656250"/>
            <a:ext cx="260350" cy="260350"/>
          </a:xfrm>
          <a:prstGeom prst="ellipse">
            <a:avLst/>
          </a:prstGeom>
          <a:solidFill>
            <a:srgbClr val="0E8F63"/>
          </a:solidFill>
        </p:spPr>
      </p:sp>
      <p:sp>
        <p:nvSpPr>
          <p:cNvPr id="21" name="badge-num-3"/>
          <p:cNvSpPr/>
          <p:nvPr/>
        </p:nvSpPr>
        <p:spPr>
          <a:xfrm>
            <a:off x="9737200" y="46942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22" name="label-3"/>
          <p:cNvSpPr/>
          <p:nvPr/>
        </p:nvSpPr>
        <p:spPr>
          <a:xfrm>
            <a:off x="10157550" y="46262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Most Targeted Asset Types</a:t>
            </a:r>
            <a:endParaRPr lang="en-US" sz="1300" dirty="0"/>
          </a:p>
        </p:txBody>
      </p:sp>
      <p:sp>
        <p:nvSpPr>
          <p:cNvPr id="23" name="desc-3"/>
          <p:cNvSpPr/>
          <p:nvPr/>
        </p:nvSpPr>
        <p:spPr>
          <a:xfrm>
            <a:off x="10157550" y="48862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Web application and Documents are the largest targeted-asset categories, followed by Database.</a:t>
            </a:r>
            <a:endParaRPr lang="en-US" sz="1050" dirty="0"/>
          </a:p>
        </p:txBody>
      </p:sp>
      <p:sp>
        <p:nvSpPr>
          <p:cNvPr id="24" name="badge-4"/>
          <p:cNvSpPr/>
          <p:nvPr/>
        </p:nvSpPr>
        <p:spPr>
          <a:xfrm>
            <a:off x="9737200" y="5415000"/>
            <a:ext cx="260350" cy="260350"/>
          </a:xfrm>
          <a:prstGeom prst="ellipse">
            <a:avLst/>
          </a:prstGeom>
          <a:solidFill>
            <a:srgbClr val="2F6FED"/>
          </a:solidFill>
        </p:spPr>
      </p:sp>
      <p:sp>
        <p:nvSpPr>
          <p:cNvPr id="25" name="badge-num-4"/>
          <p:cNvSpPr/>
          <p:nvPr/>
        </p:nvSpPr>
        <p:spPr>
          <a:xfrm>
            <a:off x="9737200" y="54530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26" name="label-4"/>
          <p:cNvSpPr/>
          <p:nvPr/>
        </p:nvSpPr>
        <p:spPr>
          <a:xfrm>
            <a:off x="10157550" y="53850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Average Incidents by Asset Variety</a:t>
            </a:r>
            <a:endParaRPr lang="en-US" sz="1300" dirty="0"/>
          </a:p>
        </p:txBody>
      </p:sp>
      <p:sp>
        <p:nvSpPr>
          <p:cNvPr id="27" name="desc-4"/>
          <p:cNvSpPr/>
          <p:nvPr/>
        </p:nvSpPr>
        <p:spPr>
          <a:xfrm>
            <a:off x="10157550" y="56450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Incident volume concentrates in a handful of asset types before tailing off sharply.</a:t>
            </a:r>
            <a:endParaRPr lang="en-US" sz="1050" dirty="0"/>
          </a:p>
        </p:txBody>
      </p:sp>
      <p:sp>
        <p:nvSpPr>
          <p:cNvPr id="28" name="badge-5"/>
          <p:cNvSpPr/>
          <p:nvPr/>
        </p:nvSpPr>
        <p:spPr>
          <a:xfrm>
            <a:off x="9737200" y="6173750"/>
            <a:ext cx="260350" cy="260350"/>
          </a:xfrm>
          <a:prstGeom prst="ellipse">
            <a:avLst/>
          </a:prstGeom>
          <a:solidFill>
            <a:srgbClr val="0E8F63"/>
          </a:solidFill>
        </p:spPr>
      </p:sp>
      <p:sp>
        <p:nvSpPr>
          <p:cNvPr id="29" name="badge-num-5"/>
          <p:cNvSpPr/>
          <p:nvPr/>
        </p:nvSpPr>
        <p:spPr>
          <a:xfrm>
            <a:off x="9737200" y="62117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6</a:t>
            </a:r>
            <a:endParaRPr lang="en-US" sz="1100" dirty="0"/>
          </a:p>
        </p:txBody>
      </p:sp>
      <p:sp>
        <p:nvSpPr>
          <p:cNvPr id="30" name="label-5"/>
          <p:cNvSpPr/>
          <p:nvPr/>
        </p:nvSpPr>
        <p:spPr>
          <a:xfrm>
            <a:off x="10157550" y="61437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Total Incidents by Month</a:t>
            </a:r>
            <a:endParaRPr lang="en-US" sz="1300" dirty="0"/>
          </a:p>
        </p:txBody>
      </p:sp>
      <p:sp>
        <p:nvSpPr>
          <p:cNvPr id="31" name="desc-5"/>
          <p:cNvSpPr/>
          <p:nvPr/>
        </p:nvSpPr>
        <p:spPr>
          <a:xfrm>
            <a:off x="10157550" y="64037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The line chart illustrates monthly incident trends, showing peaks and declines in attack frequency.</a:t>
            </a:r>
            <a:endParaRPr lang="en-US" sz="1050" dirty="0"/>
          </a:p>
        </p:txBody>
      </p:sp>
      <p:sp>
        <p:nvSpPr>
          <p:cNvPr id="32" name="badge-6"/>
          <p:cNvSpPr/>
          <p:nvPr/>
        </p:nvSpPr>
        <p:spPr>
          <a:xfrm>
            <a:off x="9737200" y="6932500"/>
            <a:ext cx="260350" cy="260350"/>
          </a:xfrm>
          <a:prstGeom prst="ellipse">
            <a:avLst/>
          </a:prstGeom>
          <a:solidFill>
            <a:srgbClr val="2F6FED"/>
          </a:solidFill>
        </p:spPr>
      </p:sp>
      <p:sp>
        <p:nvSpPr>
          <p:cNvPr id="33" name="badge-num-6"/>
          <p:cNvSpPr/>
          <p:nvPr/>
        </p:nvSpPr>
        <p:spPr>
          <a:xfrm>
            <a:off x="9737200" y="69705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7</a:t>
            </a:r>
            <a:endParaRPr lang="en-US" sz="1100" dirty="0"/>
          </a:p>
        </p:txBody>
      </p:sp>
      <p:sp>
        <p:nvSpPr>
          <p:cNvPr id="34" name="label-6"/>
          <p:cNvSpPr/>
          <p:nvPr/>
        </p:nvSpPr>
        <p:spPr>
          <a:xfrm>
            <a:off x="10157550" y="69025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Asset Environment Share by Attack Type</a:t>
            </a:r>
            <a:endParaRPr lang="en-US" sz="1300" dirty="0"/>
          </a:p>
        </p:txBody>
      </p:sp>
      <p:sp>
        <p:nvSpPr>
          <p:cNvPr id="35" name="desc-6"/>
          <p:cNvSpPr/>
          <p:nvPr/>
        </p:nvSpPr>
        <p:spPr>
          <a:xfrm>
            <a:off x="10157550" y="71625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Hacking splits 22.77% external cloud vs 75.68% other environments; other types skew almost entirely to one.</a:t>
            </a:r>
            <a:endParaRPr lang="en-US" sz="1050" dirty="0"/>
          </a:p>
        </p:txBody>
      </p:sp>
      <p:sp>
        <p:nvSpPr>
          <p:cNvPr id="36" name="badge-7"/>
          <p:cNvSpPr/>
          <p:nvPr/>
        </p:nvSpPr>
        <p:spPr>
          <a:xfrm>
            <a:off x="9737200" y="7691250"/>
            <a:ext cx="260350" cy="260350"/>
          </a:xfrm>
          <a:prstGeom prst="ellipse">
            <a:avLst/>
          </a:prstGeom>
          <a:solidFill>
            <a:srgbClr val="0E8F63"/>
          </a:solidFill>
        </p:spPr>
      </p:sp>
      <p:sp>
        <p:nvSpPr>
          <p:cNvPr id="37" name="badge-num-7"/>
          <p:cNvSpPr/>
          <p:nvPr/>
        </p:nvSpPr>
        <p:spPr>
          <a:xfrm>
            <a:off x="9737200" y="77292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8</a:t>
            </a:r>
            <a:endParaRPr lang="en-US" sz="1100" dirty="0"/>
          </a:p>
        </p:txBody>
      </p:sp>
      <p:sp>
        <p:nvSpPr>
          <p:cNvPr id="38" name="label-7"/>
          <p:cNvSpPr/>
          <p:nvPr/>
        </p:nvSpPr>
        <p:spPr>
          <a:xfrm>
            <a:off x="10157550" y="76612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Cloud vs On-Premise Asset Incidents</a:t>
            </a:r>
            <a:endParaRPr lang="en-US" sz="1300" dirty="0"/>
          </a:p>
        </p:txBody>
      </p:sp>
      <p:sp>
        <p:nvSpPr>
          <p:cNvPr id="39" name="desc-7"/>
          <p:cNvSpPr/>
          <p:nvPr/>
        </p:nvSpPr>
        <p:spPr>
          <a:xfrm>
            <a:off x="10157550" y="79212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The matrix table compares incidents across cloud, on-premise, and other environments to assess concentrated risk.</a:t>
            </a:r>
            <a:endParaRPr lang="en-US" sz="1050" dirty="0"/>
          </a:p>
        </p:txBody>
      </p:sp>
      <p:sp>
        <p:nvSpPr>
          <p:cNvPr id="40" name="page-num-circle"/>
          <p:cNvSpPr/>
          <p:nvPr/>
        </p:nvSpPr>
        <p:spPr>
          <a:xfrm>
            <a:off x="15494000" y="8593455"/>
            <a:ext cx="502285" cy="440055"/>
          </a:xfrm>
          <a:prstGeom prst="ellipse">
            <a:avLst/>
          </a:prstGeom>
          <a:solidFill>
            <a:srgbClr val="5B9BD5"/>
          </a:solidFill>
          <a:ln w="15875">
            <a:noFill/>
            <a:prstDash val="solid"/>
          </a:ln>
        </p:spPr>
        <p:txBody>
          <a:bodyPr wrap="none" anchor="ctr"/>
          <a:p>
            <a:pPr marL="0" indent="0" algn="ctr">
              <a:buNone/>
            </a:pPr>
            <a:r>
              <a:rPr lang="en-US" sz="1600" b="1" dirty="0">
                <a:solidFill>
                  <a:srgbClr val="FFFFFF"/>
                </a:solidFill>
                <a:latin typeface="Calibri" panose="020F0502020204030204" charset="0"/>
              </a:rPr>
              <a:t>9</a:t>
            </a:r>
            <a:endParaRPr lang="en-US" sz="1600"/>
          </a:p>
        </p:txBody>
      </p:sp>
      <p:pic>
        <p:nvPicPr>
          <p:cNvPr id="41" name="Header Banner"/>
          <p:cNvPicPr>
            <a:picLocks noChangeAspect="1"/>
          </p:cNvPicPr>
          <p:nvPr/>
        </p:nvPicPr>
        <p:blipFill>
          <a:blip r:embed="rId2"/>
          <a:srcRect t="27119" b="14044"/>
          <a:stretch>
            <a:fillRect/>
          </a:stretch>
        </p:blipFill>
        <p:spPr>
          <a:xfrm>
            <a:off x="0" y="0"/>
            <a:ext cx="16256000" cy="74549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1270000"/>
            <a:ext cx="50800" cy="368300"/>
          </a:xfrm>
          <a:prstGeom prst="rect">
            <a:avLst/>
          </a:prstGeom>
          <a:solidFill>
            <a:srgbClr val="0E8F63"/>
          </a:solidFill>
        </p:spPr>
      </p:sp>
      <p:sp>
        <p:nvSpPr>
          <p:cNvPr id="3" name="slide-title"/>
          <p:cNvSpPr/>
          <p:nvPr/>
        </p:nvSpPr>
        <p:spPr>
          <a:xfrm>
            <a:off x="762000" y="1216660"/>
            <a:ext cx="120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Threat Pattern Deep Dive Dashboard</a:t>
            </a:r>
            <a:endParaRPr lang="en-US" sz="3000" dirty="0"/>
          </a:p>
        </p:txBody>
      </p:sp>
      <p:sp>
        <p:nvSpPr>
          <p:cNvPr id="4" name="pill-bg"/>
          <p:cNvSpPr/>
          <p:nvPr/>
        </p:nvSpPr>
        <p:spPr>
          <a:xfrm>
            <a:off x="762000" y="1790700"/>
            <a:ext cx="1021600" cy="342900"/>
          </a:xfrm>
          <a:prstGeom prst="roundRect">
            <a:avLst>
              <a:gd name="adj" fmla="val 50000"/>
            </a:avLst>
          </a:prstGeom>
          <a:solidFill>
            <a:srgbClr val="E9F6F0"/>
          </a:solidFill>
        </p:spPr>
      </p:sp>
      <p:sp>
        <p:nvSpPr>
          <p:cNvPr id="5" name="pill-text"/>
          <p:cNvSpPr/>
          <p:nvPr/>
        </p:nvSpPr>
        <p:spPr>
          <a:xfrm>
            <a:off x="1022000" y="1866900"/>
            <a:ext cx="501600" cy="190500"/>
          </a:xfrm>
          <a:prstGeom prst="rect">
            <a:avLst/>
          </a:prstGeom>
          <a:noFill/>
        </p:spPr>
        <p:txBody>
          <a:bodyPr wrap="none" lIns="0" tIns="0" rIns="0" bIns="0" rtlCol="0" anchor="ctr"/>
          <a:lstStyle/>
          <a:p>
            <a:pPr marL="0" indent="0" algn="l">
              <a:buNone/>
            </a:pPr>
            <a:r>
              <a:rPr lang="en-US" altLang="en-US" sz="1200" b="1" dirty="0">
                <a:solidFill>
                  <a:srgbClr val="0E8F63"/>
                </a:solidFill>
                <a:latin typeface="Outfit" pitchFamily="34" charset="0"/>
                <a:ea typeface="Outfit" pitchFamily="34" charset="-122"/>
                <a:cs typeface="Outfit" pitchFamily="34" charset="-120"/>
              </a:rPr>
              <a:t>DASHBOARD 6 · UNCOVERING HIDDEN PATTERNS ACROSS ATTACK METHODS,MOTIVEAND THREAT ORIGINS</a:t>
            </a:r>
            <a:endParaRPr lang="en-US" sz="1200" dirty="0"/>
          </a:p>
        </p:txBody>
      </p:sp>
      <p:sp>
        <p:nvSpPr>
          <p:cNvPr id="6" name="shot-card"/>
          <p:cNvSpPr/>
          <p:nvPr/>
        </p:nvSpPr>
        <p:spPr>
          <a:xfrm>
            <a:off x="457200" y="2350000"/>
            <a:ext cx="9000000" cy="6070000"/>
          </a:xfrm>
          <a:prstGeom prst="roundRect">
            <a:avLst>
              <a:gd name="adj" fmla="val 9000"/>
            </a:avLst>
          </a:prstGeom>
          <a:solidFill>
            <a:srgbClr val="FFFFFF"/>
          </a:solidFill>
          <a:ln w="12700">
            <a:solidFill>
              <a:srgbClr val="E2E8F0"/>
            </a:solidFill>
            <a:prstDash val="solid"/>
          </a:ln>
        </p:spPr>
      </p:sp>
      <p:pic>
        <p:nvPicPr>
          <p:cNvPr id="7" name="Dashboard Screenshot"/>
          <p:cNvPicPr>
            <a:picLocks noChangeAspect="1"/>
          </p:cNvPicPr>
          <p:nvPr/>
        </p:nvPicPr>
        <p:blipFill>
          <a:blip r:embed="rId1"/>
          <a:stretch>
            <a:fillRect/>
          </a:stretch>
        </p:blipFill>
        <p:spPr>
          <a:xfrm>
            <a:off x="637200" y="2568842"/>
            <a:ext cx="8640000" cy="5632315"/>
          </a:xfrm>
          <a:prstGeom prst="rect">
            <a:avLst/>
          </a:prstGeom>
        </p:spPr>
      </p:pic>
      <p:sp>
        <p:nvSpPr>
          <p:cNvPr id="8" name="badge-0"/>
          <p:cNvSpPr/>
          <p:nvPr/>
        </p:nvSpPr>
        <p:spPr>
          <a:xfrm>
            <a:off x="9737200" y="2380000"/>
            <a:ext cx="260350" cy="260350"/>
          </a:xfrm>
          <a:prstGeom prst="ellipse">
            <a:avLst/>
          </a:prstGeom>
          <a:solidFill>
            <a:srgbClr val="2F6FED"/>
          </a:solidFill>
        </p:spPr>
      </p:sp>
      <p:sp>
        <p:nvSpPr>
          <p:cNvPr id="9" name="badge-num-0"/>
          <p:cNvSpPr/>
          <p:nvPr/>
        </p:nvSpPr>
        <p:spPr>
          <a:xfrm>
            <a:off x="9737200" y="24180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10" name="label-0"/>
          <p:cNvSpPr/>
          <p:nvPr/>
        </p:nvSpPr>
        <p:spPr>
          <a:xfrm>
            <a:off x="10157550" y="23500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Peak Threat Year</a:t>
            </a:r>
            <a:endParaRPr lang="en-US" sz="1300" dirty="0"/>
          </a:p>
        </p:txBody>
      </p:sp>
      <p:sp>
        <p:nvSpPr>
          <p:cNvPr id="11" name="desc-0"/>
          <p:cNvSpPr/>
          <p:nvPr/>
        </p:nvSpPr>
        <p:spPr>
          <a:xfrm>
            <a:off x="10157550" y="26100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Identifies the year with the highest number of recorded cyber incidents — 2013.</a:t>
            </a:r>
            <a:endParaRPr lang="en-US" sz="1050" dirty="0"/>
          </a:p>
        </p:txBody>
      </p:sp>
      <p:sp>
        <p:nvSpPr>
          <p:cNvPr id="12" name="badge-1"/>
          <p:cNvSpPr/>
          <p:nvPr/>
        </p:nvSpPr>
        <p:spPr>
          <a:xfrm>
            <a:off x="9737200" y="3138750"/>
            <a:ext cx="260350" cy="260350"/>
          </a:xfrm>
          <a:prstGeom prst="ellipse">
            <a:avLst/>
          </a:prstGeom>
          <a:solidFill>
            <a:srgbClr val="0E8F63"/>
          </a:solidFill>
        </p:spPr>
      </p:sp>
      <p:sp>
        <p:nvSpPr>
          <p:cNvPr id="13" name="badge-num-1"/>
          <p:cNvSpPr/>
          <p:nvPr/>
        </p:nvSpPr>
        <p:spPr>
          <a:xfrm>
            <a:off x="9737200" y="31767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14" name="label-1"/>
          <p:cNvSpPr/>
          <p:nvPr/>
        </p:nvSpPr>
        <p:spPr>
          <a:xfrm>
            <a:off x="10157550" y="31087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Dominant Attack Motive</a:t>
            </a:r>
            <a:endParaRPr lang="en-US" sz="1300" dirty="0"/>
          </a:p>
        </p:txBody>
      </p:sp>
      <p:sp>
        <p:nvSpPr>
          <p:cNvPr id="15" name="desc-1"/>
          <p:cNvSpPr/>
          <p:nvPr/>
        </p:nvSpPr>
        <p:spPr>
          <a:xfrm>
            <a:off x="10157550" y="33687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Shows the most common attacker motivation — Financial gain.</a:t>
            </a:r>
            <a:endParaRPr lang="en-US" sz="1050" dirty="0"/>
          </a:p>
        </p:txBody>
      </p:sp>
      <p:sp>
        <p:nvSpPr>
          <p:cNvPr id="16" name="badge-2"/>
          <p:cNvSpPr/>
          <p:nvPr/>
        </p:nvSpPr>
        <p:spPr>
          <a:xfrm>
            <a:off x="9737200" y="3897500"/>
            <a:ext cx="260350" cy="260350"/>
          </a:xfrm>
          <a:prstGeom prst="ellipse">
            <a:avLst/>
          </a:prstGeom>
          <a:solidFill>
            <a:srgbClr val="2F6FED"/>
          </a:solidFill>
        </p:spPr>
      </p:sp>
      <p:sp>
        <p:nvSpPr>
          <p:cNvPr id="17" name="badge-num-2"/>
          <p:cNvSpPr/>
          <p:nvPr/>
        </p:nvSpPr>
        <p:spPr>
          <a:xfrm>
            <a:off x="9737200" y="39355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18" name="label-2"/>
          <p:cNvSpPr/>
          <p:nvPr/>
        </p:nvSpPr>
        <p:spPr>
          <a:xfrm>
            <a:off x="10157550" y="38675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Most Targeted Asset</a:t>
            </a:r>
            <a:endParaRPr lang="en-US" sz="1300" dirty="0"/>
          </a:p>
        </p:txBody>
      </p:sp>
      <p:sp>
        <p:nvSpPr>
          <p:cNvPr id="19" name="desc-2"/>
          <p:cNvSpPr/>
          <p:nvPr/>
        </p:nvSpPr>
        <p:spPr>
          <a:xfrm>
            <a:off x="10157550" y="41275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Highlights the asset most frequently targeted — Web applications.</a:t>
            </a:r>
            <a:endParaRPr lang="en-US" sz="1050" dirty="0"/>
          </a:p>
        </p:txBody>
      </p:sp>
      <p:sp>
        <p:nvSpPr>
          <p:cNvPr id="20" name="badge-3"/>
          <p:cNvSpPr/>
          <p:nvPr/>
        </p:nvSpPr>
        <p:spPr>
          <a:xfrm>
            <a:off x="9737200" y="4656250"/>
            <a:ext cx="260350" cy="260350"/>
          </a:xfrm>
          <a:prstGeom prst="ellipse">
            <a:avLst/>
          </a:prstGeom>
          <a:solidFill>
            <a:srgbClr val="0E8F63"/>
          </a:solidFill>
        </p:spPr>
      </p:sp>
      <p:sp>
        <p:nvSpPr>
          <p:cNvPr id="21" name="badge-num-3"/>
          <p:cNvSpPr/>
          <p:nvPr/>
        </p:nvSpPr>
        <p:spPr>
          <a:xfrm>
            <a:off x="9737200" y="46942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22" name="label-3"/>
          <p:cNvSpPr/>
          <p:nvPr/>
        </p:nvSpPr>
        <p:spPr>
          <a:xfrm>
            <a:off x="10157550" y="46262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Cloud Exposure Trends</a:t>
            </a:r>
            <a:endParaRPr lang="en-US" sz="1300" dirty="0"/>
          </a:p>
        </p:txBody>
      </p:sp>
      <p:sp>
        <p:nvSpPr>
          <p:cNvPr id="23" name="desc-3"/>
          <p:cNvSpPr/>
          <p:nvPr/>
        </p:nvSpPr>
        <p:spPr>
          <a:xfrm>
            <a:off x="10157550" y="48862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Shows how attack exposure across different cloud/hosting environments changes over time.</a:t>
            </a:r>
            <a:endParaRPr lang="en-US" sz="1050" dirty="0"/>
          </a:p>
        </p:txBody>
      </p:sp>
      <p:sp>
        <p:nvSpPr>
          <p:cNvPr id="24" name="badge-4"/>
          <p:cNvSpPr/>
          <p:nvPr/>
        </p:nvSpPr>
        <p:spPr>
          <a:xfrm>
            <a:off x="9737200" y="5415000"/>
            <a:ext cx="260350" cy="260350"/>
          </a:xfrm>
          <a:prstGeom prst="ellipse">
            <a:avLst/>
          </a:prstGeom>
          <a:solidFill>
            <a:srgbClr val="2F6FED"/>
          </a:solidFill>
        </p:spPr>
      </p:sp>
      <p:sp>
        <p:nvSpPr>
          <p:cNvPr id="25" name="badge-num-4"/>
          <p:cNvSpPr/>
          <p:nvPr/>
        </p:nvSpPr>
        <p:spPr>
          <a:xfrm>
            <a:off x="9737200" y="54530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26" name="label-4"/>
          <p:cNvSpPr/>
          <p:nvPr/>
        </p:nvSpPr>
        <p:spPr>
          <a:xfrm>
            <a:off x="10157550" y="53850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Asset Ownership Trends</a:t>
            </a:r>
            <a:endParaRPr lang="en-US" sz="1300" dirty="0"/>
          </a:p>
        </p:txBody>
      </p:sp>
      <p:sp>
        <p:nvSpPr>
          <p:cNvPr id="27" name="desc-4"/>
          <p:cNvSpPr/>
          <p:nvPr/>
        </p:nvSpPr>
        <p:spPr>
          <a:xfrm>
            <a:off x="10157550" y="56450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Compares attack incidents involving Partner and Victim owned assets over the years.</a:t>
            </a:r>
            <a:endParaRPr lang="en-US" sz="1050" dirty="0"/>
          </a:p>
        </p:txBody>
      </p:sp>
      <p:sp>
        <p:nvSpPr>
          <p:cNvPr id="28" name="badge-5"/>
          <p:cNvSpPr/>
          <p:nvPr/>
        </p:nvSpPr>
        <p:spPr>
          <a:xfrm>
            <a:off x="9737200" y="6173750"/>
            <a:ext cx="260350" cy="260350"/>
          </a:xfrm>
          <a:prstGeom prst="ellipse">
            <a:avLst/>
          </a:prstGeom>
          <a:solidFill>
            <a:srgbClr val="0E8F63"/>
          </a:solidFill>
        </p:spPr>
      </p:sp>
      <p:sp>
        <p:nvSpPr>
          <p:cNvPr id="29" name="badge-num-5"/>
          <p:cNvSpPr/>
          <p:nvPr/>
        </p:nvSpPr>
        <p:spPr>
          <a:xfrm>
            <a:off x="9737200" y="62117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6</a:t>
            </a:r>
            <a:endParaRPr lang="en-US" sz="1100" dirty="0"/>
          </a:p>
        </p:txBody>
      </p:sp>
      <p:sp>
        <p:nvSpPr>
          <p:cNvPr id="30" name="label-5"/>
          <p:cNvSpPr/>
          <p:nvPr/>
        </p:nvSpPr>
        <p:spPr>
          <a:xfrm>
            <a:off x="10157550" y="61437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Attacker Profile Distribution</a:t>
            </a:r>
            <a:endParaRPr lang="en-US" sz="1300" dirty="0"/>
          </a:p>
        </p:txBody>
      </p:sp>
      <p:sp>
        <p:nvSpPr>
          <p:cNvPr id="31" name="desc-5"/>
          <p:cNvSpPr/>
          <p:nvPr/>
        </p:nvSpPr>
        <p:spPr>
          <a:xfrm>
            <a:off x="10157550" y="64037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Displays the distribution of incidents across different attacker types.</a:t>
            </a:r>
            <a:endParaRPr lang="en-US" sz="1050" dirty="0"/>
          </a:p>
        </p:txBody>
      </p:sp>
      <p:sp>
        <p:nvSpPr>
          <p:cNvPr id="32" name="badge-6"/>
          <p:cNvSpPr/>
          <p:nvPr/>
        </p:nvSpPr>
        <p:spPr>
          <a:xfrm>
            <a:off x="9737200" y="6932500"/>
            <a:ext cx="260350" cy="260350"/>
          </a:xfrm>
          <a:prstGeom prst="ellipse">
            <a:avLst/>
          </a:prstGeom>
          <a:solidFill>
            <a:srgbClr val="2F6FED"/>
          </a:solidFill>
        </p:spPr>
      </p:sp>
      <p:sp>
        <p:nvSpPr>
          <p:cNvPr id="33" name="badge-num-6"/>
          <p:cNvSpPr/>
          <p:nvPr/>
        </p:nvSpPr>
        <p:spPr>
          <a:xfrm>
            <a:off x="9737200" y="69705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7</a:t>
            </a:r>
            <a:endParaRPr lang="en-US" sz="1100" dirty="0"/>
          </a:p>
        </p:txBody>
      </p:sp>
      <p:sp>
        <p:nvSpPr>
          <p:cNvPr id="34" name="label-6"/>
          <p:cNvSpPr/>
          <p:nvPr/>
        </p:nvSpPr>
        <p:spPr>
          <a:xfrm>
            <a:off x="10157550" y="69025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Asset Management Threat Exposure</a:t>
            </a:r>
            <a:endParaRPr lang="en-US" sz="1300" dirty="0"/>
          </a:p>
        </p:txBody>
      </p:sp>
      <p:sp>
        <p:nvSpPr>
          <p:cNvPr id="35" name="desc-6"/>
          <p:cNvSpPr/>
          <p:nvPr/>
        </p:nvSpPr>
        <p:spPr>
          <a:xfrm>
            <a:off x="10157550" y="716250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Compares threat exposure between External and Internal assets by attack type.</a:t>
            </a:r>
            <a:endParaRPr lang="en-US" sz="1050" dirty="0"/>
          </a:p>
        </p:txBody>
      </p:sp>
      <p:sp>
        <p:nvSpPr>
          <p:cNvPr id="36" name="badge-7"/>
          <p:cNvSpPr/>
          <p:nvPr/>
        </p:nvSpPr>
        <p:spPr>
          <a:xfrm>
            <a:off x="9737200" y="7691250"/>
            <a:ext cx="260350" cy="260350"/>
          </a:xfrm>
          <a:prstGeom prst="ellipse">
            <a:avLst/>
          </a:prstGeom>
          <a:solidFill>
            <a:srgbClr val="0E8F63"/>
          </a:solidFill>
        </p:spPr>
      </p:sp>
      <p:sp>
        <p:nvSpPr>
          <p:cNvPr id="37" name="badge-num-7"/>
          <p:cNvSpPr/>
          <p:nvPr/>
        </p:nvSpPr>
        <p:spPr>
          <a:xfrm>
            <a:off x="9737200" y="772925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8</a:t>
            </a:r>
            <a:endParaRPr lang="en-US" sz="1100" dirty="0"/>
          </a:p>
        </p:txBody>
      </p:sp>
      <p:sp>
        <p:nvSpPr>
          <p:cNvPr id="38" name="label-7"/>
          <p:cNvSpPr/>
          <p:nvPr/>
        </p:nvSpPr>
        <p:spPr>
          <a:xfrm>
            <a:off x="10157550" y="766125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Motive &amp; Country Filters</a:t>
            </a:r>
            <a:endParaRPr lang="en-US" sz="1300" dirty="0"/>
          </a:p>
        </p:txBody>
      </p:sp>
      <p:sp>
        <p:nvSpPr>
          <p:cNvPr id="39" name="desc-7"/>
          <p:cNvSpPr/>
          <p:nvPr/>
        </p:nvSpPr>
        <p:spPr>
          <a:xfrm>
            <a:off x="10157550" y="7921250"/>
            <a:ext cx="5641250" cy="458750"/>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Enable analysis of threat patterns based on the selected attack motive and country.</a:t>
            </a:r>
            <a:endParaRPr lang="en-US" sz="1050" dirty="0"/>
          </a:p>
        </p:txBody>
      </p:sp>
      <p:sp>
        <p:nvSpPr>
          <p:cNvPr id="40" name="page-num-circle"/>
          <p:cNvSpPr/>
          <p:nvPr/>
        </p:nvSpPr>
        <p:spPr>
          <a:xfrm>
            <a:off x="15494000" y="8593455"/>
            <a:ext cx="502285" cy="440055"/>
          </a:xfrm>
          <a:prstGeom prst="ellipse">
            <a:avLst/>
          </a:prstGeom>
          <a:solidFill>
            <a:srgbClr val="5B9BD5"/>
          </a:solidFill>
          <a:ln w="15875">
            <a:noFill/>
            <a:prstDash val="solid"/>
          </a:ln>
        </p:spPr>
        <p:txBody>
          <a:bodyPr wrap="none" anchor="ctr"/>
          <a:p>
            <a:pPr marL="0" indent="0" algn="ctr">
              <a:buNone/>
            </a:pPr>
            <a:r>
              <a:rPr lang="en-US" sz="1600" b="1" dirty="0">
                <a:solidFill>
                  <a:srgbClr val="FFFFFF"/>
                </a:solidFill>
                <a:latin typeface="Calibri" panose="020F0502020204030204" charset="0"/>
              </a:rPr>
              <a:t>10</a:t>
            </a:r>
            <a:endParaRPr lang="en-US" sz="1600"/>
          </a:p>
        </p:txBody>
      </p:sp>
      <p:pic>
        <p:nvPicPr>
          <p:cNvPr id="41" name="Header Banner"/>
          <p:cNvPicPr>
            <a:picLocks noChangeAspect="1"/>
          </p:cNvPicPr>
          <p:nvPr/>
        </p:nvPicPr>
        <p:blipFill>
          <a:blip r:embed="rId2"/>
          <a:srcRect t="27119" b="14044"/>
          <a:stretch>
            <a:fillRect/>
          </a:stretch>
        </p:blipFill>
        <p:spPr>
          <a:xfrm>
            <a:off x="0" y="0"/>
            <a:ext cx="16256000" cy="74549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1270000"/>
            <a:ext cx="50800" cy="368300"/>
          </a:xfrm>
          <a:prstGeom prst="rect">
            <a:avLst/>
          </a:prstGeom>
          <a:solidFill>
            <a:srgbClr val="0E8F63"/>
          </a:solidFill>
        </p:spPr>
      </p:sp>
      <p:sp>
        <p:nvSpPr>
          <p:cNvPr id="3" name="slide-title"/>
          <p:cNvSpPr/>
          <p:nvPr/>
        </p:nvSpPr>
        <p:spPr>
          <a:xfrm>
            <a:off x="762000" y="1216660"/>
            <a:ext cx="120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Attack Pattern Analysis Dashboard</a:t>
            </a:r>
            <a:endParaRPr lang="en-US" sz="3000" dirty="0"/>
          </a:p>
        </p:txBody>
      </p:sp>
      <p:sp>
        <p:nvSpPr>
          <p:cNvPr id="4" name="pill-bg"/>
          <p:cNvSpPr/>
          <p:nvPr/>
        </p:nvSpPr>
        <p:spPr>
          <a:xfrm>
            <a:off x="762000" y="1790700"/>
            <a:ext cx="1008400" cy="342900"/>
          </a:xfrm>
          <a:prstGeom prst="roundRect">
            <a:avLst>
              <a:gd name="adj" fmla="val 50000"/>
            </a:avLst>
          </a:prstGeom>
          <a:solidFill>
            <a:srgbClr val="E9F6F0"/>
          </a:solidFill>
        </p:spPr>
      </p:sp>
      <p:sp>
        <p:nvSpPr>
          <p:cNvPr id="5" name="pill-text"/>
          <p:cNvSpPr/>
          <p:nvPr/>
        </p:nvSpPr>
        <p:spPr>
          <a:xfrm>
            <a:off x="1022000" y="1866900"/>
            <a:ext cx="488400" cy="190500"/>
          </a:xfrm>
          <a:prstGeom prst="rect">
            <a:avLst/>
          </a:prstGeom>
          <a:noFill/>
        </p:spPr>
        <p:txBody>
          <a:bodyPr wrap="none" lIns="0" tIns="0" rIns="0" bIns="0" rtlCol="0" anchor="ctr"/>
          <a:lstStyle/>
          <a:p>
            <a:pPr marL="0" indent="0" algn="l">
              <a:buNone/>
            </a:pPr>
            <a:r>
              <a:rPr lang="en-US" altLang="en-US" sz="1200" b="1" dirty="0">
                <a:solidFill>
                  <a:srgbClr val="0E8F63"/>
                </a:solidFill>
                <a:latin typeface="Outfit" pitchFamily="34" charset="0"/>
                <a:ea typeface="Outfit" pitchFamily="34" charset="-122"/>
                <a:cs typeface="Outfit" pitchFamily="34" charset="-120"/>
              </a:rPr>
              <a:t>DASHBOARD 7 · A TEMPORAL AND BEHAVIOURAL ANALYSIS OF GLOBAL </a:t>
            </a:r>
            <a:r>
              <a:rPr lang="en-US" altLang="en-US" sz="1200" b="1" dirty="0">
                <a:solidFill>
                  <a:srgbClr val="0E8F63"/>
                </a:solidFill>
                <a:latin typeface="Outfit" pitchFamily="34" charset="0"/>
                <a:ea typeface="Outfit" pitchFamily="34" charset="-122"/>
                <a:cs typeface="Outfit" pitchFamily="34" charset="-120"/>
                <a:sym typeface="+mn-ea"/>
              </a:rPr>
              <a:t>CYBERSECURITY INCIDENTS FROM 1971-2024</a:t>
            </a:r>
            <a:endParaRPr lang="en-US" sz="1200" dirty="0"/>
          </a:p>
        </p:txBody>
      </p:sp>
      <p:sp>
        <p:nvSpPr>
          <p:cNvPr id="6" name="shot-card"/>
          <p:cNvSpPr/>
          <p:nvPr/>
        </p:nvSpPr>
        <p:spPr>
          <a:xfrm>
            <a:off x="457200" y="2350000"/>
            <a:ext cx="9000000" cy="6070000"/>
          </a:xfrm>
          <a:prstGeom prst="roundRect">
            <a:avLst>
              <a:gd name="adj" fmla="val 9000"/>
            </a:avLst>
          </a:prstGeom>
          <a:solidFill>
            <a:srgbClr val="FFFFFF"/>
          </a:solidFill>
          <a:ln w="12700">
            <a:solidFill>
              <a:srgbClr val="E2E8F0"/>
            </a:solidFill>
            <a:prstDash val="solid"/>
          </a:ln>
        </p:spPr>
      </p:sp>
      <p:pic>
        <p:nvPicPr>
          <p:cNvPr id="7" name="Dashboard Screenshot"/>
          <p:cNvPicPr>
            <a:picLocks noChangeAspect="1"/>
          </p:cNvPicPr>
          <p:nvPr/>
        </p:nvPicPr>
        <p:blipFill>
          <a:blip r:embed="rId1"/>
          <a:stretch>
            <a:fillRect/>
          </a:stretch>
        </p:blipFill>
        <p:spPr>
          <a:xfrm>
            <a:off x="637200" y="2578061"/>
            <a:ext cx="8640000" cy="5613878"/>
          </a:xfrm>
          <a:prstGeom prst="rect">
            <a:avLst/>
          </a:prstGeom>
        </p:spPr>
      </p:pic>
      <p:sp>
        <p:nvSpPr>
          <p:cNvPr id="8" name="badge-0"/>
          <p:cNvSpPr/>
          <p:nvPr/>
        </p:nvSpPr>
        <p:spPr>
          <a:xfrm>
            <a:off x="9737200" y="2380000"/>
            <a:ext cx="260350" cy="260350"/>
          </a:xfrm>
          <a:prstGeom prst="ellipse">
            <a:avLst/>
          </a:prstGeom>
          <a:solidFill>
            <a:srgbClr val="2F6FED"/>
          </a:solidFill>
        </p:spPr>
      </p:sp>
      <p:sp>
        <p:nvSpPr>
          <p:cNvPr id="9" name="badge-num-0"/>
          <p:cNvSpPr/>
          <p:nvPr/>
        </p:nvSpPr>
        <p:spPr>
          <a:xfrm>
            <a:off x="9737200" y="241800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10" name="label-0"/>
          <p:cNvSpPr/>
          <p:nvPr/>
        </p:nvSpPr>
        <p:spPr>
          <a:xfrm>
            <a:off x="10157550" y="235000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Threat Activity Span</a:t>
            </a:r>
            <a:endParaRPr lang="en-US" sz="1300" dirty="0"/>
          </a:p>
        </p:txBody>
      </p:sp>
      <p:sp>
        <p:nvSpPr>
          <p:cNvPr id="11" name="desc-0"/>
          <p:cNvSpPr/>
          <p:nvPr/>
        </p:nvSpPr>
        <p:spPr>
          <a:xfrm>
            <a:off x="10157550" y="2610000"/>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Shows the overall time span and number of recorded cyber incidents.</a:t>
            </a:r>
            <a:endParaRPr lang="en-US" sz="1050" dirty="0"/>
          </a:p>
        </p:txBody>
      </p:sp>
      <p:sp>
        <p:nvSpPr>
          <p:cNvPr id="12" name="badge-1"/>
          <p:cNvSpPr/>
          <p:nvPr/>
        </p:nvSpPr>
        <p:spPr>
          <a:xfrm>
            <a:off x="9737200" y="3247142"/>
            <a:ext cx="260350" cy="260350"/>
          </a:xfrm>
          <a:prstGeom prst="ellipse">
            <a:avLst/>
          </a:prstGeom>
          <a:solidFill>
            <a:srgbClr val="0E8F63"/>
          </a:solidFill>
        </p:spPr>
      </p:sp>
      <p:sp>
        <p:nvSpPr>
          <p:cNvPr id="13" name="badge-num-1"/>
          <p:cNvSpPr/>
          <p:nvPr/>
        </p:nvSpPr>
        <p:spPr>
          <a:xfrm>
            <a:off x="9737200" y="3285142"/>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14" name="label-1"/>
          <p:cNvSpPr/>
          <p:nvPr/>
        </p:nvSpPr>
        <p:spPr>
          <a:xfrm>
            <a:off x="10157550" y="3217142"/>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Peak Threat Decade</a:t>
            </a:r>
            <a:endParaRPr lang="en-US" sz="1300" dirty="0"/>
          </a:p>
        </p:txBody>
      </p:sp>
      <p:sp>
        <p:nvSpPr>
          <p:cNvPr id="15" name="desc-1"/>
          <p:cNvSpPr/>
          <p:nvPr/>
        </p:nvSpPr>
        <p:spPr>
          <a:xfrm>
            <a:off x="10157550" y="3477142"/>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Identifies the decade with the highest cyber-attack activity — 2010s.</a:t>
            </a:r>
            <a:endParaRPr lang="en-US" sz="1050" dirty="0"/>
          </a:p>
        </p:txBody>
      </p:sp>
      <p:sp>
        <p:nvSpPr>
          <p:cNvPr id="16" name="badge-2"/>
          <p:cNvSpPr/>
          <p:nvPr/>
        </p:nvSpPr>
        <p:spPr>
          <a:xfrm>
            <a:off x="9737200" y="4114284"/>
            <a:ext cx="260350" cy="260350"/>
          </a:xfrm>
          <a:prstGeom prst="ellipse">
            <a:avLst/>
          </a:prstGeom>
          <a:solidFill>
            <a:srgbClr val="2F6FED"/>
          </a:solidFill>
        </p:spPr>
      </p:sp>
      <p:sp>
        <p:nvSpPr>
          <p:cNvPr id="17" name="badge-num-2"/>
          <p:cNvSpPr/>
          <p:nvPr/>
        </p:nvSpPr>
        <p:spPr>
          <a:xfrm>
            <a:off x="9737200" y="4152284"/>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18" name="label-2"/>
          <p:cNvSpPr/>
          <p:nvPr/>
        </p:nvSpPr>
        <p:spPr>
          <a:xfrm>
            <a:off x="10157550" y="4084284"/>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Threat Patterns Across Decade</a:t>
            </a:r>
            <a:endParaRPr lang="en-US" sz="1300" dirty="0"/>
          </a:p>
        </p:txBody>
      </p:sp>
      <p:sp>
        <p:nvSpPr>
          <p:cNvPr id="19" name="desc-2"/>
          <p:cNvSpPr/>
          <p:nvPr/>
        </p:nvSpPr>
        <p:spPr>
          <a:xfrm>
            <a:off x="10157550" y="4344284"/>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Compares attacker profiles and how their distribution changes across different decades.</a:t>
            </a:r>
            <a:endParaRPr lang="en-US" sz="1050" dirty="0"/>
          </a:p>
        </p:txBody>
      </p:sp>
      <p:sp>
        <p:nvSpPr>
          <p:cNvPr id="20" name="badge-3"/>
          <p:cNvSpPr/>
          <p:nvPr/>
        </p:nvSpPr>
        <p:spPr>
          <a:xfrm>
            <a:off x="9737200" y="4981426"/>
            <a:ext cx="260350" cy="260350"/>
          </a:xfrm>
          <a:prstGeom prst="ellipse">
            <a:avLst/>
          </a:prstGeom>
          <a:solidFill>
            <a:srgbClr val="0E8F63"/>
          </a:solidFill>
        </p:spPr>
      </p:sp>
      <p:sp>
        <p:nvSpPr>
          <p:cNvPr id="21" name="badge-num-3"/>
          <p:cNvSpPr/>
          <p:nvPr/>
        </p:nvSpPr>
        <p:spPr>
          <a:xfrm>
            <a:off x="9737200" y="5019426"/>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22" name="label-3"/>
          <p:cNvSpPr/>
          <p:nvPr/>
        </p:nvSpPr>
        <p:spPr>
          <a:xfrm>
            <a:off x="10157550" y="4951426"/>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Threat Motive Trend</a:t>
            </a:r>
            <a:endParaRPr lang="en-US" sz="1300" dirty="0"/>
          </a:p>
        </p:txBody>
      </p:sp>
      <p:sp>
        <p:nvSpPr>
          <p:cNvPr id="23" name="desc-3"/>
          <p:cNvSpPr/>
          <p:nvPr/>
        </p:nvSpPr>
        <p:spPr>
          <a:xfrm>
            <a:off x="10157550" y="5211426"/>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Shows how different attack motives vary across the years.</a:t>
            </a:r>
            <a:endParaRPr lang="en-US" sz="1050" dirty="0"/>
          </a:p>
        </p:txBody>
      </p:sp>
      <p:sp>
        <p:nvSpPr>
          <p:cNvPr id="24" name="badge-4"/>
          <p:cNvSpPr/>
          <p:nvPr/>
        </p:nvSpPr>
        <p:spPr>
          <a:xfrm>
            <a:off x="9737200" y="5848568"/>
            <a:ext cx="260350" cy="260350"/>
          </a:xfrm>
          <a:prstGeom prst="ellipse">
            <a:avLst/>
          </a:prstGeom>
          <a:solidFill>
            <a:srgbClr val="2F6FED"/>
          </a:solidFill>
        </p:spPr>
      </p:sp>
      <p:sp>
        <p:nvSpPr>
          <p:cNvPr id="25" name="badge-num-4"/>
          <p:cNvSpPr/>
          <p:nvPr/>
        </p:nvSpPr>
        <p:spPr>
          <a:xfrm>
            <a:off x="9737200" y="5886568"/>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26" name="label-4"/>
          <p:cNvSpPr/>
          <p:nvPr/>
        </p:nvSpPr>
        <p:spPr>
          <a:xfrm>
            <a:off x="10157550" y="5818568"/>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Threats by Asset Hosting</a:t>
            </a:r>
            <a:endParaRPr lang="en-US" sz="1300" dirty="0"/>
          </a:p>
        </p:txBody>
      </p:sp>
      <p:sp>
        <p:nvSpPr>
          <p:cNvPr id="27" name="desc-4"/>
          <p:cNvSpPr/>
          <p:nvPr/>
        </p:nvSpPr>
        <p:spPr>
          <a:xfrm>
            <a:off x="10157550" y="6078568"/>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Compares threats based on the hosting environment of targeted assets.</a:t>
            </a:r>
            <a:endParaRPr lang="en-US" sz="1050" dirty="0"/>
          </a:p>
        </p:txBody>
      </p:sp>
      <p:sp>
        <p:nvSpPr>
          <p:cNvPr id="28" name="badge-5"/>
          <p:cNvSpPr/>
          <p:nvPr/>
        </p:nvSpPr>
        <p:spPr>
          <a:xfrm>
            <a:off x="9737200" y="6715710"/>
            <a:ext cx="260350" cy="260350"/>
          </a:xfrm>
          <a:prstGeom prst="ellipse">
            <a:avLst/>
          </a:prstGeom>
          <a:solidFill>
            <a:srgbClr val="0E8F63"/>
          </a:solidFill>
        </p:spPr>
      </p:sp>
      <p:sp>
        <p:nvSpPr>
          <p:cNvPr id="29" name="badge-num-5"/>
          <p:cNvSpPr/>
          <p:nvPr/>
        </p:nvSpPr>
        <p:spPr>
          <a:xfrm>
            <a:off x="9737200" y="6753710"/>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6</a:t>
            </a:r>
            <a:endParaRPr lang="en-US" sz="1100" dirty="0"/>
          </a:p>
        </p:txBody>
      </p:sp>
      <p:sp>
        <p:nvSpPr>
          <p:cNvPr id="30" name="label-5"/>
          <p:cNvSpPr/>
          <p:nvPr/>
        </p:nvSpPr>
        <p:spPr>
          <a:xfrm>
            <a:off x="10157550" y="6685710"/>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Attack Technique Over Time</a:t>
            </a:r>
            <a:endParaRPr lang="en-US" sz="1300" dirty="0"/>
          </a:p>
        </p:txBody>
      </p:sp>
      <p:sp>
        <p:nvSpPr>
          <p:cNvPr id="31" name="desc-5"/>
          <p:cNvSpPr/>
          <p:nvPr/>
        </p:nvSpPr>
        <p:spPr>
          <a:xfrm>
            <a:off x="10157550" y="6945710"/>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Shows how different attack techniques evolved and increased across the years.</a:t>
            </a:r>
            <a:endParaRPr lang="en-US" sz="1050" dirty="0"/>
          </a:p>
        </p:txBody>
      </p:sp>
      <p:sp>
        <p:nvSpPr>
          <p:cNvPr id="32" name="badge-6"/>
          <p:cNvSpPr/>
          <p:nvPr/>
        </p:nvSpPr>
        <p:spPr>
          <a:xfrm>
            <a:off x="9737200" y="7582852"/>
            <a:ext cx="260350" cy="260350"/>
          </a:xfrm>
          <a:prstGeom prst="ellipse">
            <a:avLst/>
          </a:prstGeom>
          <a:solidFill>
            <a:srgbClr val="2F6FED"/>
          </a:solidFill>
        </p:spPr>
      </p:sp>
      <p:sp>
        <p:nvSpPr>
          <p:cNvPr id="33" name="badge-num-6"/>
          <p:cNvSpPr/>
          <p:nvPr/>
        </p:nvSpPr>
        <p:spPr>
          <a:xfrm>
            <a:off x="9737200" y="7620852"/>
            <a:ext cx="260350" cy="190000"/>
          </a:xfrm>
          <a:prstGeom prst="rect">
            <a:avLst/>
          </a:prstGeom>
          <a:noFill/>
        </p:spPr>
        <p:txBody>
          <a:bodyPr wrap="none" lIns="0" tIns="0" rIns="0" bIns="0" rtlCol="0" anchor="t"/>
          <a:lstStyle/>
          <a:p>
            <a:pPr marL="0" indent="0" algn="ctr">
              <a:buNone/>
            </a:pPr>
            <a:r>
              <a:rPr lang="en-US" altLang="en-US" sz="1100" b="1" dirty="0">
                <a:solidFill>
                  <a:srgbClr val="FFFFFF"/>
                </a:solidFill>
                <a:latin typeface="Outfit" pitchFamily="34" charset="0"/>
                <a:ea typeface="Outfit" pitchFamily="34" charset="-122"/>
                <a:cs typeface="Outfit" pitchFamily="34" charset="-120"/>
              </a:rPr>
              <a:t>7</a:t>
            </a:r>
            <a:endParaRPr lang="en-US" sz="1100" dirty="0"/>
          </a:p>
        </p:txBody>
      </p:sp>
      <p:sp>
        <p:nvSpPr>
          <p:cNvPr id="34" name="label-6"/>
          <p:cNvSpPr/>
          <p:nvPr/>
        </p:nvSpPr>
        <p:spPr>
          <a:xfrm>
            <a:off x="10157550" y="7552852"/>
            <a:ext cx="5641250" cy="230000"/>
          </a:xfrm>
          <a:prstGeom prst="rect">
            <a:avLst/>
          </a:prstGeom>
          <a:noFill/>
        </p:spPr>
        <p:txBody>
          <a:bodyPr wrap="square" lIns="0" tIns="0" rIns="0" bIns="0" rtlCol="0" anchor="t"/>
          <a:lstStyle/>
          <a:p>
            <a:pPr marL="0" indent="0" algn="l">
              <a:buNone/>
            </a:pPr>
            <a:r>
              <a:rPr lang="en-US" altLang="en-US" sz="1300" b="1" dirty="0">
                <a:solidFill>
                  <a:srgbClr val="1E2761"/>
                </a:solidFill>
                <a:latin typeface="Outfit" pitchFamily="34" charset="0"/>
                <a:ea typeface="Outfit" pitchFamily="34" charset="-122"/>
                <a:cs typeface="Outfit" pitchFamily="34" charset="-120"/>
              </a:rPr>
              <a:t>Most Targeted Asset Role</a:t>
            </a:r>
            <a:endParaRPr lang="en-US" sz="1300" dirty="0"/>
          </a:p>
        </p:txBody>
      </p:sp>
      <p:sp>
        <p:nvSpPr>
          <p:cNvPr id="35" name="desc-6"/>
          <p:cNvSpPr/>
          <p:nvPr/>
        </p:nvSpPr>
        <p:spPr>
          <a:xfrm>
            <a:off x="10157550" y="7812852"/>
            <a:ext cx="5641250" cy="567142"/>
          </a:xfrm>
          <a:prstGeom prst="rect">
            <a:avLst/>
          </a:prstGeom>
          <a:noFill/>
        </p:spPr>
        <p:txBody>
          <a:bodyPr wrap="square" lIns="0" tIns="0" rIns="0" bIns="0" rtlCol="0" anchor="t"/>
          <a:lstStyle/>
          <a:p>
            <a:pPr marL="0" indent="0" algn="l">
              <a:buNone/>
            </a:pPr>
            <a:r>
              <a:rPr lang="en-US" altLang="en-US" sz="1050" dirty="0">
                <a:solidFill>
                  <a:srgbClr val="5A6B85"/>
                </a:solidFill>
                <a:latin typeface="Outfit" pitchFamily="34" charset="0"/>
                <a:ea typeface="Outfit" pitchFamily="34" charset="-122"/>
                <a:cs typeface="Outfit" pitchFamily="34" charset="-120"/>
              </a:rPr>
              <a:t>Identifies the asset role most frequently targeted — IT assets.</a:t>
            </a:r>
            <a:endParaRPr lang="en-US" sz="1050" dirty="0"/>
          </a:p>
        </p:txBody>
      </p:sp>
      <p:sp>
        <p:nvSpPr>
          <p:cNvPr id="36" name="page-num-circle"/>
          <p:cNvSpPr/>
          <p:nvPr/>
        </p:nvSpPr>
        <p:spPr>
          <a:xfrm>
            <a:off x="15494000" y="8593455"/>
            <a:ext cx="502285" cy="440055"/>
          </a:xfrm>
          <a:prstGeom prst="ellipse">
            <a:avLst/>
          </a:prstGeom>
          <a:solidFill>
            <a:srgbClr val="5B9BD5"/>
          </a:solidFill>
          <a:ln w="15875">
            <a:noFill/>
            <a:prstDash val="solid"/>
          </a:ln>
        </p:spPr>
        <p:txBody>
          <a:bodyPr wrap="none" anchor="ctr"/>
          <a:p>
            <a:pPr marL="0" indent="0" algn="ctr">
              <a:buNone/>
            </a:pPr>
            <a:r>
              <a:rPr lang="en-US" sz="1600" b="1" dirty="0">
                <a:solidFill>
                  <a:srgbClr val="FFFFFF"/>
                </a:solidFill>
                <a:latin typeface="Calibri" panose="020F0502020204030204" charset="0"/>
              </a:rPr>
              <a:t>11</a:t>
            </a:r>
            <a:endParaRPr lang="en-US" sz="1600"/>
          </a:p>
        </p:txBody>
      </p:sp>
      <p:pic>
        <p:nvPicPr>
          <p:cNvPr id="37" name="Header Banner"/>
          <p:cNvPicPr>
            <a:picLocks noChangeAspect="1"/>
          </p:cNvPicPr>
          <p:nvPr/>
        </p:nvPicPr>
        <p:blipFill>
          <a:blip r:embed="rId2"/>
          <a:srcRect t="27119" b="14044"/>
          <a:stretch>
            <a:fillRect/>
          </a:stretch>
        </p:blipFill>
        <p:spPr>
          <a:xfrm>
            <a:off x="0" y="0"/>
            <a:ext cx="16256000" cy="74549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06400" y="850900"/>
            <a:ext cx="50800" cy="368300"/>
          </a:xfrm>
          <a:prstGeom prst="rect">
            <a:avLst/>
          </a:prstGeom>
          <a:solidFill>
            <a:srgbClr val="0E8F63"/>
          </a:solidFill>
        </p:spPr>
      </p:sp>
      <p:sp>
        <p:nvSpPr>
          <p:cNvPr id="3" name="slide-title"/>
          <p:cNvSpPr/>
          <p:nvPr/>
        </p:nvSpPr>
        <p:spPr>
          <a:xfrm>
            <a:off x="635000" y="798195"/>
            <a:ext cx="1143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Challenges &amp; Resolutions</a:t>
            </a:r>
            <a:endPar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endParaRPr>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04</a:t>
            </a:r>
            <a:endParaRPr lang="en-US" sz="1400" dirty="0"/>
          </a:p>
        </p:txBody>
      </p:sp>
      <p:sp>
        <p:nvSpPr>
          <p:cNvPr id="5" name="challenge-tag"/>
          <p:cNvSpPr/>
          <p:nvPr/>
        </p:nvSpPr>
        <p:spPr>
          <a:xfrm>
            <a:off x="762000" y="1428750"/>
            <a:ext cx="1714500" cy="381000"/>
          </a:xfrm>
          <a:prstGeom prst="roundRect">
            <a:avLst>
              <a:gd name="adj" fmla="val 50000"/>
            </a:avLst>
          </a:prstGeom>
          <a:solidFill>
            <a:srgbClr val="FFF1F1"/>
          </a:solidFill>
        </p:spPr>
      </p:sp>
      <p:sp>
        <p:nvSpPr>
          <p:cNvPr id="6" name="challenge-tag-text"/>
          <p:cNvSpPr/>
          <p:nvPr/>
        </p:nvSpPr>
        <p:spPr>
          <a:xfrm>
            <a:off x="914400" y="1511300"/>
            <a:ext cx="1397000" cy="215900"/>
          </a:xfrm>
          <a:prstGeom prst="rect">
            <a:avLst/>
          </a:prstGeom>
          <a:noFill/>
        </p:spPr>
        <p:txBody>
          <a:bodyPr wrap="none" lIns="0" tIns="0" rIns="0" bIns="0" rtlCol="0" anchor="t"/>
          <a:lstStyle/>
          <a:p>
            <a:pPr marL="0" indent="0" algn="ctr">
              <a:buNone/>
            </a:pPr>
            <a:r>
              <a:rPr lang="en-US" altLang="en-US" sz="1400" b="1" dirty="0">
                <a:solidFill>
                  <a:srgbClr val="C2414C"/>
                </a:solidFill>
                <a:latin typeface="Outfit" pitchFamily="34" charset="0"/>
                <a:ea typeface="Outfit" pitchFamily="34" charset="-122"/>
                <a:cs typeface="Outfit" pitchFamily="34" charset="-120"/>
              </a:rPr>
              <a:t>CHALLENGES</a:t>
            </a:r>
            <a:endParaRPr lang="en-US" sz="1400" dirty="0"/>
          </a:p>
        </p:txBody>
      </p:sp>
      <p:sp>
        <p:nvSpPr>
          <p:cNvPr id="7" name="resolution-tag"/>
          <p:cNvSpPr/>
          <p:nvPr/>
        </p:nvSpPr>
        <p:spPr>
          <a:xfrm>
            <a:off x="8382000" y="1219200"/>
            <a:ext cx="1841500" cy="381000"/>
          </a:xfrm>
          <a:prstGeom prst="roundRect">
            <a:avLst>
              <a:gd name="adj" fmla="val 50000"/>
            </a:avLst>
          </a:prstGeom>
          <a:solidFill>
            <a:srgbClr val="E9F6F0"/>
          </a:solidFill>
        </p:spPr>
      </p:sp>
      <p:sp>
        <p:nvSpPr>
          <p:cNvPr id="8" name="resolution-tag-text"/>
          <p:cNvSpPr/>
          <p:nvPr/>
        </p:nvSpPr>
        <p:spPr>
          <a:xfrm>
            <a:off x="8547100" y="1295400"/>
            <a:ext cx="1524000" cy="215900"/>
          </a:xfrm>
          <a:prstGeom prst="rect">
            <a:avLst/>
          </a:prstGeom>
          <a:noFill/>
        </p:spPr>
        <p:txBody>
          <a:bodyPr wrap="none" lIns="0" tIns="0" rIns="0" bIns="0" rtlCol="0" anchor="t"/>
          <a:lstStyle/>
          <a:p>
            <a:pPr marL="0" indent="0" algn="ctr">
              <a:buNone/>
            </a:pPr>
            <a:r>
              <a:rPr lang="en-US" altLang="en-US" sz="1400" b="1" dirty="0">
                <a:solidFill>
                  <a:srgbClr val="0E8F63"/>
                </a:solidFill>
                <a:latin typeface="Outfit" pitchFamily="34" charset="0"/>
                <a:ea typeface="Outfit" pitchFamily="34" charset="-122"/>
                <a:cs typeface="Outfit" pitchFamily="34" charset="-120"/>
              </a:rPr>
              <a:t>RESOLUTIONS</a:t>
            </a:r>
            <a:endParaRPr lang="en-US" sz="1400" dirty="0"/>
          </a:p>
        </p:txBody>
      </p:sp>
      <p:sp>
        <p:nvSpPr>
          <p:cNvPr id="100" name="challenge-card-1"/>
          <p:cNvSpPr/>
          <p:nvPr/>
        </p:nvSpPr>
        <p:spPr>
          <a:xfrm>
            <a:off x="762000" y="19050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01" name="challenge-badge-1"/>
          <p:cNvSpPr/>
          <p:nvPr/>
        </p:nvSpPr>
        <p:spPr>
          <a:xfrm>
            <a:off x="1016000" y="2006600"/>
            <a:ext cx="254000" cy="254000"/>
          </a:xfrm>
          <a:prstGeom prst="ellipse">
            <a:avLst/>
          </a:prstGeom>
          <a:solidFill>
            <a:srgbClr val="C2414C"/>
          </a:solidFill>
          <a:ln>
            <a:noFill/>
          </a:ln>
        </p:spPr>
        <p:txBody>
          <a:bodyPr/>
          <a:lstStyle/>
          <a:p>
            <a:endParaRPr lang="en-US"/>
          </a:p>
        </p:txBody>
      </p:sp>
      <p:sp>
        <p:nvSpPr>
          <p:cNvPr id="102" name="challenge-badge-text-1"/>
          <p:cNvSpPr/>
          <p:nvPr/>
        </p:nvSpPr>
        <p:spPr>
          <a:xfrm>
            <a:off x="1016000" y="20574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1</a:t>
            </a:r>
            <a:endParaRPr lang="en-US" sz="1000" dirty="0"/>
          </a:p>
        </p:txBody>
      </p:sp>
      <p:sp>
        <p:nvSpPr>
          <p:cNvPr id="103" name="challenge-title-1"/>
          <p:cNvSpPr/>
          <p:nvPr/>
        </p:nvSpPr>
        <p:spPr>
          <a:xfrm>
            <a:off x="1574800" y="20421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High-volume records</a:t>
            </a:r>
            <a:endParaRPr lang="en-US" sz="1200" dirty="0"/>
          </a:p>
        </p:txBody>
      </p:sp>
      <p:sp>
        <p:nvSpPr>
          <p:cNvPr id="104" name="challenge-body-1"/>
          <p:cNvSpPr/>
          <p:nvPr/>
        </p:nvSpPr>
        <p:spPr>
          <a:xfrm>
            <a:off x="1574800" y="22860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Large, inconsistent incident logs made manual review slow</a:t>
            </a:r>
            <a:r>
              <a:rPr lang="en-US" altLang="en-US" sz="1000" dirty="0">
                <a:solidFill>
                  <a:srgbClr val="5A6B85"/>
                </a:solidFill>
                <a:latin typeface="Outfit" pitchFamily="34" charset="0"/>
                <a:ea typeface="Outfit" pitchFamily="34" charset="-122"/>
                <a:cs typeface="Outfit" pitchFamily="34" charset="-120"/>
              </a:rPr>
              <a:t>.</a:t>
            </a:r>
            <a:endParaRPr lang="en-US" sz="1000" dirty="0"/>
          </a:p>
        </p:txBody>
      </p:sp>
      <p:sp>
        <p:nvSpPr>
          <p:cNvPr id="105" name="resolution-card-1"/>
          <p:cNvSpPr/>
          <p:nvPr/>
        </p:nvSpPr>
        <p:spPr>
          <a:xfrm>
            <a:off x="8382000" y="19050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06" name="resolution-badge-1"/>
          <p:cNvSpPr/>
          <p:nvPr/>
        </p:nvSpPr>
        <p:spPr>
          <a:xfrm>
            <a:off x="8636000" y="2006600"/>
            <a:ext cx="254000" cy="254000"/>
          </a:xfrm>
          <a:prstGeom prst="ellipse">
            <a:avLst/>
          </a:prstGeom>
          <a:solidFill>
            <a:srgbClr val="0E8F63"/>
          </a:solidFill>
          <a:ln>
            <a:noFill/>
          </a:ln>
        </p:spPr>
        <p:txBody>
          <a:bodyPr/>
          <a:lstStyle/>
          <a:p>
            <a:endParaRPr lang="en-US"/>
          </a:p>
        </p:txBody>
      </p:sp>
      <p:sp>
        <p:nvSpPr>
          <p:cNvPr id="107" name="resolution-badge-text-1"/>
          <p:cNvSpPr/>
          <p:nvPr/>
        </p:nvSpPr>
        <p:spPr>
          <a:xfrm>
            <a:off x="8636000" y="20574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1</a:t>
            </a:r>
            <a:endParaRPr lang="en-US" sz="1000" dirty="0"/>
          </a:p>
        </p:txBody>
      </p:sp>
      <p:sp>
        <p:nvSpPr>
          <p:cNvPr id="108" name="resolution-title-1"/>
          <p:cNvSpPr/>
          <p:nvPr/>
        </p:nvSpPr>
        <p:spPr>
          <a:xfrm>
            <a:off x="9194800" y="20421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Repeatable cleaning pipeline</a:t>
            </a:r>
            <a:endParaRPr lang="en-US" sz="1200" dirty="0"/>
          </a:p>
        </p:txBody>
      </p:sp>
      <p:sp>
        <p:nvSpPr>
          <p:cNvPr id="109" name="resolution-body-1"/>
          <p:cNvSpPr/>
          <p:nvPr/>
        </p:nvSpPr>
        <p:spPr>
          <a:xfrm>
            <a:off x="9194800" y="22860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Standardized records through Power Query transformation steps.</a:t>
            </a:r>
            <a:endParaRPr lang="en-US" sz="1200" dirty="0"/>
          </a:p>
        </p:txBody>
      </p:sp>
      <p:sp>
        <p:nvSpPr>
          <p:cNvPr id="110" name="challenge-card-2"/>
          <p:cNvSpPr/>
          <p:nvPr/>
        </p:nvSpPr>
        <p:spPr>
          <a:xfrm>
            <a:off x="762000" y="30083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11" name="challenge-badge-2"/>
          <p:cNvSpPr/>
          <p:nvPr/>
        </p:nvSpPr>
        <p:spPr>
          <a:xfrm>
            <a:off x="1016000" y="3109900"/>
            <a:ext cx="254000" cy="254000"/>
          </a:xfrm>
          <a:prstGeom prst="ellipse">
            <a:avLst/>
          </a:prstGeom>
          <a:solidFill>
            <a:srgbClr val="C2414C"/>
          </a:solidFill>
          <a:ln>
            <a:noFill/>
          </a:ln>
        </p:spPr>
        <p:txBody>
          <a:bodyPr/>
          <a:lstStyle/>
          <a:p>
            <a:endParaRPr lang="en-US"/>
          </a:p>
        </p:txBody>
      </p:sp>
      <p:sp>
        <p:nvSpPr>
          <p:cNvPr id="112" name="challenge-badge-text-2"/>
          <p:cNvSpPr/>
          <p:nvPr/>
        </p:nvSpPr>
        <p:spPr>
          <a:xfrm>
            <a:off x="1016000" y="31607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2</a:t>
            </a:r>
            <a:endParaRPr lang="en-US" sz="1000" dirty="0"/>
          </a:p>
        </p:txBody>
      </p:sp>
      <p:sp>
        <p:nvSpPr>
          <p:cNvPr id="113" name="challenge-title-2"/>
          <p:cNvSpPr/>
          <p:nvPr/>
        </p:nvSpPr>
        <p:spPr>
          <a:xfrm>
            <a:off x="1574800" y="31454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Missing or ambiguous fields</a:t>
            </a:r>
            <a:endParaRPr lang="en-US" sz="1200" dirty="0"/>
          </a:p>
        </p:txBody>
      </p:sp>
      <p:sp>
        <p:nvSpPr>
          <p:cNvPr id="114" name="challenge-body-2"/>
          <p:cNvSpPr/>
          <p:nvPr/>
        </p:nvSpPr>
        <p:spPr>
          <a:xfrm>
            <a:off x="1574800" y="33893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Blank months, motives, actor classes, and countries weakened completeness</a:t>
            </a:r>
            <a:r>
              <a:rPr lang="en-US" altLang="en-US" sz="1000" dirty="0">
                <a:solidFill>
                  <a:srgbClr val="5A6B85"/>
                </a:solidFill>
                <a:latin typeface="Outfit" pitchFamily="34" charset="0"/>
                <a:ea typeface="Outfit" pitchFamily="34" charset="-122"/>
                <a:cs typeface="Outfit" pitchFamily="34" charset="-120"/>
              </a:rPr>
              <a:t>.</a:t>
            </a:r>
            <a:endParaRPr lang="en-US" sz="1000" dirty="0"/>
          </a:p>
        </p:txBody>
      </p:sp>
      <p:sp>
        <p:nvSpPr>
          <p:cNvPr id="115" name="resolution-card-2"/>
          <p:cNvSpPr/>
          <p:nvPr/>
        </p:nvSpPr>
        <p:spPr>
          <a:xfrm>
            <a:off x="8382000" y="30083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16" name="resolution-badge-2"/>
          <p:cNvSpPr/>
          <p:nvPr/>
        </p:nvSpPr>
        <p:spPr>
          <a:xfrm>
            <a:off x="8636000" y="3109900"/>
            <a:ext cx="254000" cy="254000"/>
          </a:xfrm>
          <a:prstGeom prst="ellipse">
            <a:avLst/>
          </a:prstGeom>
          <a:solidFill>
            <a:srgbClr val="0E8F63"/>
          </a:solidFill>
          <a:ln>
            <a:noFill/>
          </a:ln>
        </p:spPr>
        <p:txBody>
          <a:bodyPr/>
          <a:lstStyle/>
          <a:p>
            <a:endParaRPr lang="en-US"/>
          </a:p>
        </p:txBody>
      </p:sp>
      <p:sp>
        <p:nvSpPr>
          <p:cNvPr id="117" name="resolution-badge-text-2"/>
          <p:cNvSpPr/>
          <p:nvPr/>
        </p:nvSpPr>
        <p:spPr>
          <a:xfrm>
            <a:off x="8636000" y="31607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2</a:t>
            </a:r>
            <a:endParaRPr lang="en-US" sz="1000" dirty="0"/>
          </a:p>
        </p:txBody>
      </p:sp>
      <p:sp>
        <p:nvSpPr>
          <p:cNvPr id="118" name="resolution-title-2"/>
          <p:cNvSpPr/>
          <p:nvPr/>
        </p:nvSpPr>
        <p:spPr>
          <a:xfrm>
            <a:off x="9194800" y="31454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Neutral classification rules</a:t>
            </a:r>
            <a:endParaRPr lang="en-US" sz="1200" dirty="0"/>
          </a:p>
        </p:txBody>
      </p:sp>
      <p:sp>
        <p:nvSpPr>
          <p:cNvPr id="119" name="resolution-body-2"/>
          <p:cNvSpPr/>
          <p:nvPr/>
        </p:nvSpPr>
        <p:spPr>
          <a:xfrm>
            <a:off x="9194800" y="33893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Applied consistent labels for missing or unknown values.</a:t>
            </a:r>
            <a:endParaRPr lang="en-US" sz="1200" dirty="0"/>
          </a:p>
        </p:txBody>
      </p:sp>
      <p:sp>
        <p:nvSpPr>
          <p:cNvPr id="120" name="challenge-card-3"/>
          <p:cNvSpPr/>
          <p:nvPr/>
        </p:nvSpPr>
        <p:spPr>
          <a:xfrm>
            <a:off x="762000" y="41116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21" name="challenge-badge-3"/>
          <p:cNvSpPr/>
          <p:nvPr/>
        </p:nvSpPr>
        <p:spPr>
          <a:xfrm>
            <a:off x="1016000" y="4213200"/>
            <a:ext cx="254000" cy="254000"/>
          </a:xfrm>
          <a:prstGeom prst="ellipse">
            <a:avLst/>
          </a:prstGeom>
          <a:solidFill>
            <a:srgbClr val="C2414C"/>
          </a:solidFill>
          <a:ln>
            <a:noFill/>
          </a:ln>
        </p:spPr>
        <p:txBody>
          <a:bodyPr/>
          <a:lstStyle/>
          <a:p>
            <a:endParaRPr lang="en-US"/>
          </a:p>
        </p:txBody>
      </p:sp>
      <p:sp>
        <p:nvSpPr>
          <p:cNvPr id="122" name="challenge-badge-text-3"/>
          <p:cNvSpPr/>
          <p:nvPr/>
        </p:nvSpPr>
        <p:spPr>
          <a:xfrm>
            <a:off x="1016000" y="42640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3</a:t>
            </a:r>
            <a:endParaRPr lang="en-US" sz="1000" dirty="0"/>
          </a:p>
        </p:txBody>
      </p:sp>
      <p:sp>
        <p:nvSpPr>
          <p:cNvPr id="123" name="challenge-title-3"/>
          <p:cNvSpPr/>
          <p:nvPr/>
        </p:nvSpPr>
        <p:spPr>
          <a:xfrm>
            <a:off x="1574800" y="42487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Complex categorical dimensions</a:t>
            </a:r>
            <a:endParaRPr lang="en-US" sz="1200" dirty="0"/>
          </a:p>
        </p:txBody>
      </p:sp>
      <p:sp>
        <p:nvSpPr>
          <p:cNvPr id="124" name="challenge-body-3"/>
          <p:cNvSpPr/>
          <p:nvPr/>
        </p:nvSpPr>
        <p:spPr>
          <a:xfrm>
            <a:off x="1574800" y="44926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Many variables made threat patterns hard to compare at a glance.</a:t>
            </a:r>
            <a:endParaRPr lang="en-US" sz="1200" dirty="0"/>
          </a:p>
        </p:txBody>
      </p:sp>
      <p:sp>
        <p:nvSpPr>
          <p:cNvPr id="125" name="resolution-card-3"/>
          <p:cNvSpPr/>
          <p:nvPr/>
        </p:nvSpPr>
        <p:spPr>
          <a:xfrm>
            <a:off x="8382000" y="41116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26" name="resolution-badge-3"/>
          <p:cNvSpPr/>
          <p:nvPr/>
        </p:nvSpPr>
        <p:spPr>
          <a:xfrm>
            <a:off x="8636000" y="4213200"/>
            <a:ext cx="254000" cy="254000"/>
          </a:xfrm>
          <a:prstGeom prst="ellipse">
            <a:avLst/>
          </a:prstGeom>
          <a:solidFill>
            <a:srgbClr val="0E8F63"/>
          </a:solidFill>
          <a:ln>
            <a:noFill/>
          </a:ln>
        </p:spPr>
        <p:txBody>
          <a:bodyPr/>
          <a:lstStyle/>
          <a:p>
            <a:endParaRPr lang="en-US"/>
          </a:p>
        </p:txBody>
      </p:sp>
      <p:sp>
        <p:nvSpPr>
          <p:cNvPr id="127" name="resolution-badge-text-3"/>
          <p:cNvSpPr/>
          <p:nvPr/>
        </p:nvSpPr>
        <p:spPr>
          <a:xfrm>
            <a:off x="8636000" y="42640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3</a:t>
            </a:r>
            <a:endParaRPr lang="en-US" sz="1000" dirty="0"/>
          </a:p>
        </p:txBody>
      </p:sp>
      <p:sp>
        <p:nvSpPr>
          <p:cNvPr id="128" name="resolution-title-3"/>
          <p:cNvSpPr/>
          <p:nvPr/>
        </p:nvSpPr>
        <p:spPr>
          <a:xfrm>
            <a:off x="9194800" y="42487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Analyst-friendly dashboards</a:t>
            </a:r>
            <a:endParaRPr lang="en-US" sz="1200" dirty="0"/>
          </a:p>
        </p:txBody>
      </p:sp>
      <p:sp>
        <p:nvSpPr>
          <p:cNvPr id="129" name="resolution-body-3"/>
          <p:cNvSpPr/>
          <p:nvPr/>
        </p:nvSpPr>
        <p:spPr>
          <a:xfrm>
            <a:off x="9194800" y="44926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Used filters, KPIs, charts, and geographic views to surface trends.</a:t>
            </a:r>
            <a:endParaRPr lang="en-US" sz="1200" dirty="0"/>
          </a:p>
        </p:txBody>
      </p:sp>
      <p:sp>
        <p:nvSpPr>
          <p:cNvPr id="130" name="challenge-card-4"/>
          <p:cNvSpPr/>
          <p:nvPr/>
        </p:nvSpPr>
        <p:spPr>
          <a:xfrm>
            <a:off x="762000" y="52149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31" name="challenge-badge-4"/>
          <p:cNvSpPr/>
          <p:nvPr/>
        </p:nvSpPr>
        <p:spPr>
          <a:xfrm>
            <a:off x="1016000" y="5316500"/>
            <a:ext cx="254000" cy="254000"/>
          </a:xfrm>
          <a:prstGeom prst="ellipse">
            <a:avLst/>
          </a:prstGeom>
          <a:solidFill>
            <a:srgbClr val="C2414C"/>
          </a:solidFill>
          <a:ln>
            <a:noFill/>
          </a:ln>
        </p:spPr>
        <p:txBody>
          <a:bodyPr/>
          <a:lstStyle/>
          <a:p>
            <a:endParaRPr lang="en-US"/>
          </a:p>
        </p:txBody>
      </p:sp>
      <p:sp>
        <p:nvSpPr>
          <p:cNvPr id="132" name="challenge-badge-text-4"/>
          <p:cNvSpPr/>
          <p:nvPr/>
        </p:nvSpPr>
        <p:spPr>
          <a:xfrm>
            <a:off x="1016000" y="53673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4</a:t>
            </a:r>
            <a:endParaRPr lang="en-US" sz="1000" dirty="0"/>
          </a:p>
        </p:txBody>
      </p:sp>
      <p:sp>
        <p:nvSpPr>
          <p:cNvPr id="133" name="challenge-title-4"/>
          <p:cNvSpPr/>
          <p:nvPr/>
        </p:nvSpPr>
        <p:spPr>
          <a:xfrm>
            <a:off x="1574800" y="53520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Selecting appropriate visualizations</a:t>
            </a:r>
            <a:endParaRPr lang="en-US" sz="1200" dirty="0"/>
          </a:p>
        </p:txBody>
      </p:sp>
      <p:sp>
        <p:nvSpPr>
          <p:cNvPr id="134" name="challenge-body-4"/>
          <p:cNvSpPr/>
          <p:nvPr/>
        </p:nvSpPr>
        <p:spPr>
          <a:xfrm>
            <a:off x="1574800" y="55959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Choosing suitable charts for different types of cybersecurity information was challenging.</a:t>
            </a:r>
            <a:endParaRPr lang="en-US" sz="1200" dirty="0"/>
          </a:p>
        </p:txBody>
      </p:sp>
      <p:sp>
        <p:nvSpPr>
          <p:cNvPr id="135" name="resolution-card-4"/>
          <p:cNvSpPr/>
          <p:nvPr/>
        </p:nvSpPr>
        <p:spPr>
          <a:xfrm>
            <a:off x="8382000" y="52149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36" name="resolution-badge-4"/>
          <p:cNvSpPr/>
          <p:nvPr/>
        </p:nvSpPr>
        <p:spPr>
          <a:xfrm>
            <a:off x="8636000" y="5316500"/>
            <a:ext cx="254000" cy="254000"/>
          </a:xfrm>
          <a:prstGeom prst="ellipse">
            <a:avLst/>
          </a:prstGeom>
          <a:solidFill>
            <a:srgbClr val="0E8F63"/>
          </a:solidFill>
          <a:ln>
            <a:noFill/>
          </a:ln>
        </p:spPr>
        <p:txBody>
          <a:bodyPr/>
          <a:lstStyle/>
          <a:p>
            <a:endParaRPr lang="en-US"/>
          </a:p>
        </p:txBody>
      </p:sp>
      <p:sp>
        <p:nvSpPr>
          <p:cNvPr id="137" name="resolution-badge-text-4"/>
          <p:cNvSpPr/>
          <p:nvPr/>
        </p:nvSpPr>
        <p:spPr>
          <a:xfrm>
            <a:off x="8636000" y="53673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4</a:t>
            </a:r>
            <a:endParaRPr lang="en-US" sz="1000" dirty="0"/>
          </a:p>
        </p:txBody>
      </p:sp>
      <p:sp>
        <p:nvSpPr>
          <p:cNvPr id="138" name="resolution-title-4"/>
          <p:cNvSpPr/>
          <p:nvPr/>
        </p:nvSpPr>
        <p:spPr>
          <a:xfrm>
            <a:off x="9194800" y="53520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Refined visualization selection</a:t>
            </a:r>
            <a:endParaRPr lang="en-US" sz="1200" dirty="0"/>
          </a:p>
        </p:txBody>
      </p:sp>
      <p:sp>
        <p:nvSpPr>
          <p:cNvPr id="139" name="resolution-body-4"/>
          <p:cNvSpPr/>
          <p:nvPr/>
        </p:nvSpPr>
        <p:spPr>
          <a:xfrm>
            <a:off x="9194800" y="55959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Different visualization types were tested and the most meaningful ones were selected to represent trends and comparisons.</a:t>
            </a:r>
            <a:endParaRPr lang="en-US" sz="1200" dirty="0"/>
          </a:p>
        </p:txBody>
      </p:sp>
      <p:sp>
        <p:nvSpPr>
          <p:cNvPr id="140" name="challenge-card-5"/>
          <p:cNvSpPr/>
          <p:nvPr/>
        </p:nvSpPr>
        <p:spPr>
          <a:xfrm>
            <a:off x="762000" y="63182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41" name="challenge-badge-5"/>
          <p:cNvSpPr/>
          <p:nvPr/>
        </p:nvSpPr>
        <p:spPr>
          <a:xfrm>
            <a:off x="1016000" y="6419800"/>
            <a:ext cx="254000" cy="254000"/>
          </a:xfrm>
          <a:prstGeom prst="ellipse">
            <a:avLst/>
          </a:prstGeom>
          <a:solidFill>
            <a:srgbClr val="C2414C"/>
          </a:solidFill>
          <a:ln>
            <a:noFill/>
          </a:ln>
        </p:spPr>
        <p:txBody>
          <a:bodyPr/>
          <a:lstStyle/>
          <a:p>
            <a:endParaRPr lang="en-US"/>
          </a:p>
        </p:txBody>
      </p:sp>
      <p:sp>
        <p:nvSpPr>
          <p:cNvPr id="142" name="challenge-badge-text-5"/>
          <p:cNvSpPr/>
          <p:nvPr/>
        </p:nvSpPr>
        <p:spPr>
          <a:xfrm>
            <a:off x="1016000" y="64706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5</a:t>
            </a:r>
            <a:endParaRPr lang="en-US" sz="1000" dirty="0"/>
          </a:p>
        </p:txBody>
      </p:sp>
      <p:sp>
        <p:nvSpPr>
          <p:cNvPr id="143" name="challenge-title-5"/>
          <p:cNvSpPr/>
          <p:nvPr/>
        </p:nvSpPr>
        <p:spPr>
          <a:xfrm>
            <a:off x="1574800" y="64553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Creating DAX measures</a:t>
            </a:r>
            <a:endParaRPr lang="en-US" sz="1200" dirty="0"/>
          </a:p>
        </p:txBody>
      </p:sp>
      <p:sp>
        <p:nvSpPr>
          <p:cNvPr id="144" name="challenge-body-5"/>
          <p:cNvSpPr/>
          <p:nvPr/>
        </p:nvSpPr>
        <p:spPr>
          <a:xfrm>
            <a:off x="1574800" y="66992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Developing calculated measures such as total incidents, averages, and other KPIs required understanding basic DAX functions.</a:t>
            </a:r>
            <a:endParaRPr lang="en-US" sz="1200" dirty="0"/>
          </a:p>
        </p:txBody>
      </p:sp>
      <p:sp>
        <p:nvSpPr>
          <p:cNvPr id="145" name="resolution-card-5"/>
          <p:cNvSpPr/>
          <p:nvPr/>
        </p:nvSpPr>
        <p:spPr>
          <a:xfrm>
            <a:off x="8382000" y="63182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46" name="resolution-badge-5"/>
          <p:cNvSpPr/>
          <p:nvPr/>
        </p:nvSpPr>
        <p:spPr>
          <a:xfrm>
            <a:off x="8636000" y="6419800"/>
            <a:ext cx="254000" cy="254000"/>
          </a:xfrm>
          <a:prstGeom prst="ellipse">
            <a:avLst/>
          </a:prstGeom>
          <a:solidFill>
            <a:srgbClr val="0E8F63"/>
          </a:solidFill>
          <a:ln>
            <a:noFill/>
          </a:ln>
        </p:spPr>
        <p:txBody>
          <a:bodyPr/>
          <a:lstStyle/>
          <a:p>
            <a:endParaRPr lang="en-US"/>
          </a:p>
        </p:txBody>
      </p:sp>
      <p:sp>
        <p:nvSpPr>
          <p:cNvPr id="147" name="resolution-badge-text-5"/>
          <p:cNvSpPr/>
          <p:nvPr/>
        </p:nvSpPr>
        <p:spPr>
          <a:xfrm>
            <a:off x="8636000" y="64706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5</a:t>
            </a:r>
            <a:endParaRPr lang="en-US" sz="1000" dirty="0"/>
          </a:p>
        </p:txBody>
      </p:sp>
      <p:sp>
        <p:nvSpPr>
          <p:cNvPr id="148" name="resolution-title-5"/>
          <p:cNvSpPr/>
          <p:nvPr/>
        </p:nvSpPr>
        <p:spPr>
          <a:xfrm>
            <a:off x="9194800" y="64553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Tested DAX calculations</a:t>
            </a:r>
            <a:endParaRPr lang="en-US" sz="1200" dirty="0"/>
          </a:p>
        </p:txBody>
      </p:sp>
      <p:sp>
        <p:nvSpPr>
          <p:cNvPr id="149" name="resolution-body-5"/>
          <p:cNvSpPr/>
          <p:nvPr/>
        </p:nvSpPr>
        <p:spPr>
          <a:xfrm>
            <a:off x="9194800" y="66992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Overcame through practice, testing, and checking results against the dataset.</a:t>
            </a:r>
            <a:endParaRPr lang="en-US" sz="1200" dirty="0"/>
          </a:p>
        </p:txBody>
      </p:sp>
      <p:sp>
        <p:nvSpPr>
          <p:cNvPr id="39" name="outcome-band"/>
          <p:cNvSpPr/>
          <p:nvPr/>
        </p:nvSpPr>
        <p:spPr>
          <a:xfrm>
            <a:off x="762000" y="7438975"/>
            <a:ext cx="14732000" cy="685800"/>
          </a:xfrm>
          <a:prstGeom prst="roundRect">
            <a:avLst>
              <a:gd name="adj" fmla="val 19355"/>
            </a:avLst>
          </a:prstGeom>
          <a:solidFill>
            <a:srgbClr val="EAF1FB"/>
          </a:solidFill>
        </p:spPr>
      </p:sp>
      <p:sp>
        <p:nvSpPr>
          <p:cNvPr id="40" name="outcome-text"/>
          <p:cNvSpPr/>
          <p:nvPr/>
        </p:nvSpPr>
        <p:spPr>
          <a:xfrm>
            <a:off x="1270000" y="7629475"/>
            <a:ext cx="13716000" cy="304800"/>
          </a:xfrm>
          <a:prstGeom prst="rect">
            <a:avLst/>
          </a:prstGeom>
          <a:noFill/>
        </p:spPr>
        <p:txBody>
          <a:bodyPr wrap="none" lIns="0" tIns="0" rIns="0" bIns="0" rtlCol="0" anchor="ctr"/>
          <a:lstStyle/>
          <a:p>
            <a:pPr marL="0" indent="0" algn="ctr">
              <a:buNone/>
            </a:pPr>
            <a:r>
              <a:rPr lang="en-US" altLang="en-US" sz="1600" b="1" dirty="0">
                <a:solidFill>
                  <a:srgbClr val="1E2761"/>
                </a:solidFill>
                <a:latin typeface="Outfit" pitchFamily="34" charset="0"/>
                <a:ea typeface="Outfit" pitchFamily="34" charset="-122"/>
                <a:cs typeface="Outfit" pitchFamily="34" charset="-120"/>
              </a:rPr>
              <a:t>Outcome: a cleaner, more comparable dataset with faster paths from incident evidence to analyst action.</a:t>
            </a:r>
            <a:endParaRPr lang="en-US" sz="1600" dirty="0"/>
          </a:p>
        </p:txBody>
      </p:sp>
      <p:pic>
        <p:nvPicPr>
          <p:cNvPr id="49" name="Picture 48"/>
          <p:cNvPicPr>
            <a:picLocks noChangeAspect="1"/>
          </p:cNvPicPr>
          <p:nvPr/>
        </p:nvPicPr>
        <p:blipFill>
          <a:blip r:embed="rId1"/>
          <a:srcRect t="27119" b="14044"/>
          <a:stretch>
            <a:fillRect/>
          </a:stretch>
        </p:blipFill>
        <p:spPr>
          <a:xfrm>
            <a:off x="0" y="0"/>
            <a:ext cx="16256000" cy="745490"/>
          </a:xfrm>
          <a:prstGeom prst="rect">
            <a:avLst/>
          </a:prstGeom>
        </p:spPr>
      </p:pic>
      <p:sp>
        <p:nvSpPr>
          <p:cNvPr id="60" name="Shape 8"/>
          <p:cNvSpPr/>
          <p:nvPr/>
        </p:nvSpPr>
        <p:spPr>
          <a:xfrm>
            <a:off x="15336520" y="8508365"/>
            <a:ext cx="796925" cy="532130"/>
          </a:xfrm>
          <a:prstGeom prst="ellipse">
            <a:avLst/>
          </a:prstGeom>
          <a:solidFill>
            <a:schemeClr val="accent5"/>
          </a:solidFill>
          <a:ln w="15875">
            <a:noFill/>
            <a:prstDash val="solid"/>
          </a:ln>
        </p:spPr>
        <p:txBody>
          <a:bodyPr/>
          <a:p>
            <a:pPr marL="0" indent="0" algn="ctr">
              <a:buNone/>
            </a:pPr>
            <a:r>
              <a:rPr lang="en-US" sz="1700" b="1" dirty="0">
                <a:solidFill>
                  <a:srgbClr val="FFFFFF"/>
                </a:solidFill>
                <a:latin typeface="Calibri" panose="020F0502020204030204" charset="0"/>
                <a:sym typeface="+mn-ea"/>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838200"/>
            <a:ext cx="50800" cy="368300"/>
          </a:xfrm>
          <a:prstGeom prst="rect">
            <a:avLst/>
          </a:prstGeom>
          <a:solidFill>
            <a:srgbClr val="0E8F63"/>
          </a:solidFill>
        </p:spPr>
      </p:sp>
      <p:sp>
        <p:nvSpPr>
          <p:cNvPr id="3" name="slide-title"/>
          <p:cNvSpPr/>
          <p:nvPr/>
        </p:nvSpPr>
        <p:spPr>
          <a:xfrm>
            <a:off x="635000" y="838200"/>
            <a:ext cx="127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Future Enhancements &amp; Key Insights</a:t>
            </a:r>
            <a:endParaRPr lang="en-US" sz="3000" dirty="0"/>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05</a:t>
            </a:r>
            <a:endParaRPr lang="en-US" sz="1400" dirty="0"/>
          </a:p>
        </p:txBody>
      </p:sp>
      <p:sp>
        <p:nvSpPr>
          <p:cNvPr id="5" name="enhancements-tag"/>
          <p:cNvSpPr/>
          <p:nvPr/>
        </p:nvSpPr>
        <p:spPr>
          <a:xfrm>
            <a:off x="762000" y="1397000"/>
            <a:ext cx="2476500" cy="381000"/>
          </a:xfrm>
          <a:prstGeom prst="roundRect">
            <a:avLst>
              <a:gd name="adj" fmla="val 50000"/>
            </a:avLst>
          </a:prstGeom>
          <a:solidFill>
            <a:srgbClr val="EAF1FB"/>
          </a:solidFill>
        </p:spPr>
      </p:sp>
      <p:sp>
        <p:nvSpPr>
          <p:cNvPr id="6" name="enhancements-tag-text"/>
          <p:cNvSpPr/>
          <p:nvPr/>
        </p:nvSpPr>
        <p:spPr>
          <a:xfrm>
            <a:off x="939800" y="1562100"/>
            <a:ext cx="2120900" cy="215900"/>
          </a:xfrm>
          <a:prstGeom prst="rect">
            <a:avLst/>
          </a:prstGeom>
          <a:noFill/>
        </p:spPr>
        <p:txBody>
          <a:bodyPr wrap="none" lIns="0" tIns="0" rIns="0" bIns="0" rtlCol="0" anchor="t"/>
          <a:lstStyle/>
          <a:p>
            <a:pPr marL="0" indent="0" algn="ctr">
              <a:buNone/>
            </a:pPr>
            <a:r>
              <a:rPr lang="en-US" altLang="en-US" sz="1400" b="1" dirty="0">
                <a:solidFill>
                  <a:srgbClr val="2F6FED"/>
                </a:solidFill>
                <a:latin typeface="Outfit" pitchFamily="34" charset="0"/>
                <a:ea typeface="Outfit" pitchFamily="34" charset="-122"/>
                <a:cs typeface="Outfit" pitchFamily="34" charset="-120"/>
              </a:rPr>
              <a:t>FUTURE ENHANCEMENTS</a:t>
            </a:r>
            <a:endParaRPr lang="en-US" sz="1400" dirty="0"/>
          </a:p>
        </p:txBody>
      </p:sp>
      <p:sp>
        <p:nvSpPr>
          <p:cNvPr id="7" name="insights-tag"/>
          <p:cNvSpPr/>
          <p:nvPr/>
        </p:nvSpPr>
        <p:spPr>
          <a:xfrm>
            <a:off x="8636000" y="1219200"/>
            <a:ext cx="1714500" cy="381000"/>
          </a:xfrm>
          <a:prstGeom prst="roundRect">
            <a:avLst>
              <a:gd name="adj" fmla="val 50000"/>
            </a:avLst>
          </a:prstGeom>
          <a:solidFill>
            <a:srgbClr val="E9F6F0"/>
          </a:solidFill>
        </p:spPr>
      </p:sp>
      <p:sp>
        <p:nvSpPr>
          <p:cNvPr id="8" name="insights-tag-text"/>
          <p:cNvSpPr/>
          <p:nvPr/>
        </p:nvSpPr>
        <p:spPr>
          <a:xfrm>
            <a:off x="8801100" y="1295400"/>
            <a:ext cx="1371600" cy="215900"/>
          </a:xfrm>
          <a:prstGeom prst="rect">
            <a:avLst/>
          </a:prstGeom>
          <a:noFill/>
        </p:spPr>
        <p:txBody>
          <a:bodyPr wrap="none" lIns="0" tIns="0" rIns="0" bIns="0" rtlCol="0" anchor="t"/>
          <a:lstStyle/>
          <a:p>
            <a:pPr marL="0" indent="0" algn="ctr">
              <a:buNone/>
            </a:pPr>
            <a:r>
              <a:rPr lang="en-US" altLang="en-US" sz="1400" b="1" dirty="0">
                <a:solidFill>
                  <a:srgbClr val="0E8F63"/>
                </a:solidFill>
                <a:latin typeface="Outfit" pitchFamily="34" charset="0"/>
                <a:ea typeface="Outfit" pitchFamily="34" charset="-122"/>
                <a:cs typeface="Outfit" pitchFamily="34" charset="-120"/>
              </a:rPr>
              <a:t>KEY INSIGHTS</a:t>
            </a:r>
            <a:endParaRPr lang="en-US" sz="1400" dirty="0"/>
          </a:p>
        </p:txBody>
      </p:sp>
      <p:sp>
        <p:nvSpPr>
          <p:cNvPr id="9" name="enhancement-card-1"/>
          <p:cNvSpPr/>
          <p:nvPr/>
        </p:nvSpPr>
        <p:spPr>
          <a:xfrm>
            <a:off x="762000" y="1905000"/>
            <a:ext cx="6858000" cy="889000"/>
          </a:xfrm>
          <a:prstGeom prst="roundRect">
            <a:avLst>
              <a:gd name="adj" fmla="val 17143"/>
            </a:avLst>
          </a:prstGeom>
          <a:solidFill>
            <a:srgbClr val="FFFFFF"/>
          </a:solidFill>
          <a:ln w="12700">
            <a:solidFill>
              <a:srgbClr val="E2E8F0"/>
            </a:solidFill>
            <a:prstDash val="solid"/>
          </a:ln>
        </p:spPr>
      </p:sp>
      <p:sp>
        <p:nvSpPr>
          <p:cNvPr id="10" name="enhancement-badge-1"/>
          <p:cNvSpPr/>
          <p:nvPr/>
        </p:nvSpPr>
        <p:spPr>
          <a:xfrm>
            <a:off x="1016000" y="2184400"/>
            <a:ext cx="330200" cy="330200"/>
          </a:xfrm>
          <a:prstGeom prst="ellipse">
            <a:avLst/>
          </a:prstGeom>
          <a:solidFill>
            <a:srgbClr val="2F6FED"/>
          </a:solidFill>
        </p:spPr>
      </p:sp>
      <p:sp>
        <p:nvSpPr>
          <p:cNvPr id="11" name="enhancement-badge-text-1"/>
          <p:cNvSpPr/>
          <p:nvPr/>
        </p:nvSpPr>
        <p:spPr>
          <a:xfrm>
            <a:off x="1016000" y="22352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12" name="enhancement-text-1"/>
          <p:cNvSpPr/>
          <p:nvPr/>
        </p:nvSpPr>
        <p:spPr>
          <a:xfrm>
            <a:off x="1574800" y="21971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Near-real-time data ingestion</a:t>
            </a:r>
            <a:endParaRPr lang="en-US" sz="1600" dirty="0"/>
          </a:p>
        </p:txBody>
      </p:sp>
      <p:sp>
        <p:nvSpPr>
          <p:cNvPr id="13" name="enhancement-card-2"/>
          <p:cNvSpPr/>
          <p:nvPr/>
        </p:nvSpPr>
        <p:spPr>
          <a:xfrm>
            <a:off x="762000" y="3022600"/>
            <a:ext cx="6858000" cy="889000"/>
          </a:xfrm>
          <a:prstGeom prst="roundRect">
            <a:avLst>
              <a:gd name="adj" fmla="val 17143"/>
            </a:avLst>
          </a:prstGeom>
          <a:solidFill>
            <a:srgbClr val="FFFFFF"/>
          </a:solidFill>
          <a:ln w="12700">
            <a:solidFill>
              <a:srgbClr val="E2E8F0"/>
            </a:solidFill>
            <a:prstDash val="solid"/>
          </a:ln>
        </p:spPr>
      </p:sp>
      <p:sp>
        <p:nvSpPr>
          <p:cNvPr id="14" name="enhancement-badge-2"/>
          <p:cNvSpPr/>
          <p:nvPr/>
        </p:nvSpPr>
        <p:spPr>
          <a:xfrm>
            <a:off x="1016000" y="3302000"/>
            <a:ext cx="330200" cy="330200"/>
          </a:xfrm>
          <a:prstGeom prst="ellipse">
            <a:avLst/>
          </a:prstGeom>
          <a:solidFill>
            <a:srgbClr val="2F6FED"/>
          </a:solidFill>
        </p:spPr>
      </p:sp>
      <p:sp>
        <p:nvSpPr>
          <p:cNvPr id="15" name="enhancement-badge-text-2"/>
          <p:cNvSpPr/>
          <p:nvPr/>
        </p:nvSpPr>
        <p:spPr>
          <a:xfrm>
            <a:off x="1016000" y="33528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16" name="enhancement-text-2"/>
          <p:cNvSpPr/>
          <p:nvPr/>
        </p:nvSpPr>
        <p:spPr>
          <a:xfrm>
            <a:off x="1574800" y="33147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Advanced ML and anomaly detection</a:t>
            </a:r>
            <a:endParaRPr lang="en-US" sz="1600" dirty="0"/>
          </a:p>
        </p:txBody>
      </p:sp>
      <p:sp>
        <p:nvSpPr>
          <p:cNvPr id="17" name="enhancement-card-3"/>
          <p:cNvSpPr/>
          <p:nvPr/>
        </p:nvSpPr>
        <p:spPr>
          <a:xfrm>
            <a:off x="762000" y="4140200"/>
            <a:ext cx="6858000" cy="889000"/>
          </a:xfrm>
          <a:prstGeom prst="roundRect">
            <a:avLst>
              <a:gd name="adj" fmla="val 17143"/>
            </a:avLst>
          </a:prstGeom>
          <a:solidFill>
            <a:srgbClr val="FFFFFF"/>
          </a:solidFill>
          <a:ln w="12700">
            <a:solidFill>
              <a:srgbClr val="E2E8F0"/>
            </a:solidFill>
            <a:prstDash val="solid"/>
          </a:ln>
        </p:spPr>
      </p:sp>
      <p:sp>
        <p:nvSpPr>
          <p:cNvPr id="18" name="enhancement-badge-3"/>
          <p:cNvSpPr/>
          <p:nvPr/>
        </p:nvSpPr>
        <p:spPr>
          <a:xfrm>
            <a:off x="1016000" y="4419600"/>
            <a:ext cx="330200" cy="330200"/>
          </a:xfrm>
          <a:prstGeom prst="ellipse">
            <a:avLst/>
          </a:prstGeom>
          <a:solidFill>
            <a:srgbClr val="2F6FED"/>
          </a:solidFill>
        </p:spPr>
      </p:sp>
      <p:sp>
        <p:nvSpPr>
          <p:cNvPr id="19" name="enhancement-badge-text-3"/>
          <p:cNvSpPr/>
          <p:nvPr/>
        </p:nvSpPr>
        <p:spPr>
          <a:xfrm>
            <a:off x="1016000" y="44704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20" name="enhancement-text-3"/>
          <p:cNvSpPr/>
          <p:nvPr/>
        </p:nvSpPr>
        <p:spPr>
          <a:xfrm>
            <a:off x="1574800" y="44323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Alerting and role-based dashboards</a:t>
            </a:r>
            <a:endParaRPr lang="en-US" sz="1600" dirty="0"/>
          </a:p>
        </p:txBody>
      </p:sp>
      <p:sp>
        <p:nvSpPr>
          <p:cNvPr id="21" name="enhancement-card-4"/>
          <p:cNvSpPr/>
          <p:nvPr/>
        </p:nvSpPr>
        <p:spPr>
          <a:xfrm>
            <a:off x="762000" y="5257800"/>
            <a:ext cx="6858000" cy="889000"/>
          </a:xfrm>
          <a:prstGeom prst="roundRect">
            <a:avLst>
              <a:gd name="adj" fmla="val 17143"/>
            </a:avLst>
          </a:prstGeom>
          <a:solidFill>
            <a:srgbClr val="FFFFFF"/>
          </a:solidFill>
          <a:ln w="12700">
            <a:solidFill>
              <a:srgbClr val="E2E8F0"/>
            </a:solidFill>
            <a:prstDash val="solid"/>
          </a:ln>
        </p:spPr>
      </p:sp>
      <p:sp>
        <p:nvSpPr>
          <p:cNvPr id="22" name="enhancement-badge-4"/>
          <p:cNvSpPr/>
          <p:nvPr/>
        </p:nvSpPr>
        <p:spPr>
          <a:xfrm>
            <a:off x="1016000" y="5537200"/>
            <a:ext cx="330200" cy="330200"/>
          </a:xfrm>
          <a:prstGeom prst="ellipse">
            <a:avLst/>
          </a:prstGeom>
          <a:solidFill>
            <a:srgbClr val="2F6FED"/>
          </a:solidFill>
        </p:spPr>
      </p:sp>
      <p:sp>
        <p:nvSpPr>
          <p:cNvPr id="23" name="enhancement-badge-text-4"/>
          <p:cNvSpPr/>
          <p:nvPr/>
        </p:nvSpPr>
        <p:spPr>
          <a:xfrm>
            <a:off x="1016000" y="55880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4</a:t>
            </a:r>
            <a:endParaRPr lang="en-US" sz="1400" dirty="0"/>
          </a:p>
        </p:txBody>
      </p:sp>
      <p:sp>
        <p:nvSpPr>
          <p:cNvPr id="24" name="enhancement-text-4"/>
          <p:cNvSpPr/>
          <p:nvPr/>
        </p:nvSpPr>
        <p:spPr>
          <a:xfrm>
            <a:off x="1574800" y="55499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SIEM and streaming-log integrations</a:t>
            </a:r>
            <a:endParaRPr lang="en-US" sz="1600" dirty="0"/>
          </a:p>
        </p:txBody>
      </p:sp>
      <p:sp>
        <p:nvSpPr>
          <p:cNvPr id="25" name="insight-card-1"/>
          <p:cNvSpPr/>
          <p:nvPr/>
        </p:nvSpPr>
        <p:spPr>
          <a:xfrm>
            <a:off x="8636000" y="1905000"/>
            <a:ext cx="6858000" cy="1193800"/>
          </a:xfrm>
          <a:prstGeom prst="roundRect">
            <a:avLst>
              <a:gd name="adj" fmla="val 12766"/>
            </a:avLst>
          </a:prstGeom>
          <a:solidFill>
            <a:srgbClr val="FFFFFF"/>
          </a:solidFill>
          <a:ln w="12700">
            <a:solidFill>
              <a:srgbClr val="C8E8D9"/>
            </a:solidFill>
            <a:prstDash val="solid"/>
          </a:ln>
        </p:spPr>
      </p:sp>
      <p:sp>
        <p:nvSpPr>
          <p:cNvPr id="26" name="insight-badge-1"/>
          <p:cNvSpPr/>
          <p:nvPr/>
        </p:nvSpPr>
        <p:spPr>
          <a:xfrm>
            <a:off x="8890000" y="2311400"/>
            <a:ext cx="330200" cy="330200"/>
          </a:xfrm>
          <a:prstGeom prst="ellipse">
            <a:avLst/>
          </a:prstGeom>
          <a:solidFill>
            <a:srgbClr val="0E8F63"/>
          </a:solidFill>
        </p:spPr>
      </p:sp>
      <p:sp>
        <p:nvSpPr>
          <p:cNvPr id="27" name="insight-badge-text-1"/>
          <p:cNvSpPr/>
          <p:nvPr/>
        </p:nvSpPr>
        <p:spPr>
          <a:xfrm>
            <a:off x="8890000" y="23622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28" name="insight-text-1"/>
          <p:cNvSpPr/>
          <p:nvPr/>
        </p:nvSpPr>
        <p:spPr>
          <a:xfrm>
            <a:off x="9448800" y="2159000"/>
            <a:ext cx="5461000" cy="609600"/>
          </a:xfrm>
          <a:prstGeom prst="rect">
            <a:avLst/>
          </a:prstGeom>
          <a:noFill/>
        </p:spPr>
        <p:txBody>
          <a:bodyPr wrap="square" lIns="0" tIns="0" rIns="0" bIns="0" rtlCol="0" anchor="ctr"/>
          <a:lstStyle/>
          <a:p>
            <a:pPr marL="0" indent="0" algn="l">
              <a:buNone/>
            </a:pPr>
            <a:r>
              <a:rPr lang="en-US" altLang="en-US" sz="1700" b="1" dirty="0">
                <a:solidFill>
                  <a:srgbClr val="1E2761"/>
                </a:solidFill>
                <a:latin typeface="Outfit" pitchFamily="34" charset="0"/>
                <a:ea typeface="Outfit" pitchFamily="34" charset="-122"/>
                <a:cs typeface="Outfit" pitchFamily="34" charset="-120"/>
              </a:rPr>
              <a:t>10,228 incidents across 141 countries.</a:t>
            </a:r>
            <a:endParaRPr lang="en-US" sz="1700" dirty="0"/>
          </a:p>
        </p:txBody>
      </p:sp>
      <p:sp>
        <p:nvSpPr>
          <p:cNvPr id="29" name="insight-card-2"/>
          <p:cNvSpPr/>
          <p:nvPr/>
        </p:nvSpPr>
        <p:spPr>
          <a:xfrm>
            <a:off x="8636000" y="3429000"/>
            <a:ext cx="6858000" cy="1193800"/>
          </a:xfrm>
          <a:prstGeom prst="roundRect">
            <a:avLst>
              <a:gd name="adj" fmla="val 12766"/>
            </a:avLst>
          </a:prstGeom>
          <a:solidFill>
            <a:srgbClr val="FFFFFF"/>
          </a:solidFill>
          <a:ln w="12700">
            <a:solidFill>
              <a:srgbClr val="C8E8D9"/>
            </a:solidFill>
            <a:prstDash val="solid"/>
          </a:ln>
        </p:spPr>
      </p:sp>
      <p:sp>
        <p:nvSpPr>
          <p:cNvPr id="30" name="insight-badge-2"/>
          <p:cNvSpPr/>
          <p:nvPr/>
        </p:nvSpPr>
        <p:spPr>
          <a:xfrm>
            <a:off x="8890000" y="3835400"/>
            <a:ext cx="330200" cy="330200"/>
          </a:xfrm>
          <a:prstGeom prst="ellipse">
            <a:avLst/>
          </a:prstGeom>
          <a:solidFill>
            <a:srgbClr val="0E8F63"/>
          </a:solidFill>
        </p:spPr>
      </p:sp>
      <p:sp>
        <p:nvSpPr>
          <p:cNvPr id="31" name="insight-badge-text-2"/>
          <p:cNvSpPr/>
          <p:nvPr/>
        </p:nvSpPr>
        <p:spPr>
          <a:xfrm>
            <a:off x="8890000" y="38862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32" name="insight-text-2"/>
          <p:cNvSpPr/>
          <p:nvPr/>
        </p:nvSpPr>
        <p:spPr>
          <a:xfrm>
            <a:off x="9448800" y="3619500"/>
            <a:ext cx="5461000" cy="711200"/>
          </a:xfrm>
          <a:prstGeom prst="rect">
            <a:avLst/>
          </a:prstGeom>
          <a:noFill/>
        </p:spPr>
        <p:txBody>
          <a:bodyPr wrap="square" lIns="0" tIns="0" rIns="0" bIns="0" rtlCol="0" anchor="ctr"/>
          <a:lstStyle/>
          <a:p>
            <a:pPr marL="0" indent="0" algn="l">
              <a:buNone/>
            </a:pPr>
            <a:r>
              <a:rPr lang="en-US" altLang="en-US" sz="1600" b="1" dirty="0">
                <a:solidFill>
                  <a:srgbClr val="1E2761"/>
                </a:solidFill>
                <a:latin typeface="Outfit" pitchFamily="34" charset="0"/>
                <a:ea typeface="Outfit" pitchFamily="34" charset="-122"/>
                <a:cs typeface="Outfit" pitchFamily="34" charset="-120"/>
              </a:rPr>
              <a:t>Hacking was dominant; the United States was most targeted.</a:t>
            </a:r>
            <a:endParaRPr lang="en-US" sz="1600" dirty="0"/>
          </a:p>
        </p:txBody>
      </p:sp>
      <p:sp>
        <p:nvSpPr>
          <p:cNvPr id="33" name="insight-card-3"/>
          <p:cNvSpPr/>
          <p:nvPr/>
        </p:nvSpPr>
        <p:spPr>
          <a:xfrm>
            <a:off x="8636000" y="4953000"/>
            <a:ext cx="6858000" cy="1422400"/>
          </a:xfrm>
          <a:prstGeom prst="roundRect">
            <a:avLst>
              <a:gd name="adj" fmla="val 10714"/>
            </a:avLst>
          </a:prstGeom>
          <a:solidFill>
            <a:srgbClr val="FFFFFF"/>
          </a:solidFill>
          <a:ln w="12700">
            <a:solidFill>
              <a:srgbClr val="C8E8D9"/>
            </a:solidFill>
            <a:prstDash val="solid"/>
          </a:ln>
        </p:spPr>
      </p:sp>
      <p:sp>
        <p:nvSpPr>
          <p:cNvPr id="34" name="insight-badge-3"/>
          <p:cNvSpPr/>
          <p:nvPr/>
        </p:nvSpPr>
        <p:spPr>
          <a:xfrm>
            <a:off x="8890000" y="5499100"/>
            <a:ext cx="330200" cy="330200"/>
          </a:xfrm>
          <a:prstGeom prst="ellipse">
            <a:avLst/>
          </a:prstGeom>
          <a:solidFill>
            <a:srgbClr val="0E8F63"/>
          </a:solidFill>
        </p:spPr>
      </p:sp>
      <p:sp>
        <p:nvSpPr>
          <p:cNvPr id="35" name="insight-badge-text-3"/>
          <p:cNvSpPr/>
          <p:nvPr/>
        </p:nvSpPr>
        <p:spPr>
          <a:xfrm>
            <a:off x="8890000" y="55499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36" name="insight-text-3"/>
          <p:cNvSpPr/>
          <p:nvPr/>
        </p:nvSpPr>
        <p:spPr>
          <a:xfrm>
            <a:off x="9448800" y="5168900"/>
            <a:ext cx="5461000" cy="914400"/>
          </a:xfrm>
          <a:prstGeom prst="rect">
            <a:avLst/>
          </a:prstGeom>
          <a:noFill/>
        </p:spPr>
        <p:txBody>
          <a:bodyPr wrap="square" lIns="0" tIns="0" rIns="0" bIns="0" rtlCol="0" anchor="ctr"/>
          <a:lstStyle/>
          <a:p>
            <a:pPr marL="0" indent="0" algn="l">
              <a:buNone/>
            </a:pPr>
            <a:r>
              <a:rPr lang="en-US" altLang="en-US" sz="1600" b="1" dirty="0">
                <a:solidFill>
                  <a:srgbClr val="1E2761"/>
                </a:solidFill>
                <a:latin typeface="Outfit" pitchFamily="34" charset="0"/>
                <a:ea typeface="Outfit" pitchFamily="34" charset="-122"/>
                <a:cs typeface="Outfit" pitchFamily="34" charset="-120"/>
              </a:rPr>
              <a:t>Financial motive, external actors, and authentication-related assets were recurring risk signals.</a:t>
            </a:r>
            <a:endParaRPr lang="en-US" sz="1600" dirty="0"/>
          </a:p>
        </p:txBody>
      </p:sp>
      <p:sp>
        <p:nvSpPr>
          <p:cNvPr id="37" name="direction-band"/>
          <p:cNvSpPr/>
          <p:nvPr/>
        </p:nvSpPr>
        <p:spPr>
          <a:xfrm>
            <a:off x="762000" y="7112000"/>
            <a:ext cx="14732000" cy="863600"/>
          </a:xfrm>
          <a:prstGeom prst="roundRect">
            <a:avLst>
              <a:gd name="adj" fmla="val 17647"/>
            </a:avLst>
          </a:prstGeom>
          <a:solidFill>
            <a:srgbClr val="E9F6F0"/>
          </a:solidFill>
        </p:spPr>
      </p:sp>
      <p:sp>
        <p:nvSpPr>
          <p:cNvPr id="38" name="direction-text"/>
          <p:cNvSpPr/>
          <p:nvPr/>
        </p:nvSpPr>
        <p:spPr>
          <a:xfrm>
            <a:off x="1524000" y="7391400"/>
            <a:ext cx="13208000" cy="304800"/>
          </a:xfrm>
          <a:prstGeom prst="rect">
            <a:avLst/>
          </a:prstGeom>
          <a:noFill/>
        </p:spPr>
        <p:txBody>
          <a:bodyPr wrap="none" lIns="0" tIns="0" rIns="0" bIns="0" rtlCol="0" anchor="ctr"/>
          <a:lstStyle/>
          <a:p>
            <a:pPr marL="0" indent="0" algn="ctr">
              <a:buNone/>
            </a:pPr>
            <a:r>
              <a:rPr lang="en-US" altLang="en-US" sz="1600" b="1" dirty="0">
                <a:solidFill>
                  <a:srgbClr val="0E8F63"/>
                </a:solidFill>
                <a:latin typeface="Outfit" pitchFamily="34" charset="0"/>
                <a:ea typeface="Outfit" pitchFamily="34" charset="-122"/>
                <a:cs typeface="Outfit" pitchFamily="34" charset="-120"/>
              </a:rPr>
              <a:t>Strategic direction: move from retrospective dashboards toward proactive, explainable detection and response.</a:t>
            </a:r>
            <a:endParaRPr lang="en-US" sz="1600" dirty="0"/>
          </a:p>
        </p:txBody>
      </p:sp>
      <p:sp>
        <p:nvSpPr>
          <p:cNvPr id="60" name="Shape 8"/>
          <p:cNvSpPr/>
          <p:nvPr/>
        </p:nvSpPr>
        <p:spPr>
          <a:xfrm>
            <a:off x="15200630" y="8593455"/>
            <a:ext cx="795655" cy="415290"/>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13</a:t>
            </a:r>
            <a:endParaRPr lang="en-US"/>
          </a:p>
        </p:txBody>
      </p:sp>
      <p:pic>
        <p:nvPicPr>
          <p:cNvPr id="49" name="Picture 48"/>
          <p:cNvPicPr>
            <a:picLocks noChangeAspect="1"/>
          </p:cNvPicPr>
          <p:nvPr/>
        </p:nvPicPr>
        <p:blipFill>
          <a:blip r:embed="rId1"/>
          <a:srcRect t="27119" b="14044"/>
          <a:stretch>
            <a:fillRect/>
          </a:stretch>
        </p:blipFill>
        <p:spPr>
          <a:xfrm>
            <a:off x="0" y="0"/>
            <a:ext cx="16256000" cy="74549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542925" y="876300"/>
            <a:ext cx="50800" cy="368300"/>
          </a:xfrm>
          <a:prstGeom prst="rect">
            <a:avLst/>
          </a:prstGeom>
          <a:solidFill>
            <a:srgbClr val="0E8F63"/>
          </a:solidFill>
        </p:spPr>
      </p:sp>
      <p:sp>
        <p:nvSpPr>
          <p:cNvPr id="3" name="slide-title"/>
          <p:cNvSpPr/>
          <p:nvPr/>
        </p:nvSpPr>
        <p:spPr>
          <a:xfrm>
            <a:off x="762000" y="876300"/>
            <a:ext cx="60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Conclusion</a:t>
            </a:r>
            <a:endParaRPr lang="en-US" sz="3000" dirty="0"/>
          </a:p>
        </p:txBody>
      </p:sp>
      <p:sp>
        <p:nvSpPr>
          <p:cNvPr id="4" name="outcome-card"/>
          <p:cNvSpPr/>
          <p:nvPr/>
        </p:nvSpPr>
        <p:spPr>
          <a:xfrm>
            <a:off x="939800" y="1524000"/>
            <a:ext cx="14732000" cy="1097280"/>
          </a:xfrm>
          <a:prstGeom prst="roundRect">
            <a:avLst>
              <a:gd name="adj" fmla="val 11111"/>
            </a:avLst>
          </a:prstGeom>
          <a:solidFill>
            <a:srgbClr val="EAF1FB"/>
          </a:solidFill>
        </p:spPr>
      </p:sp>
      <p:sp>
        <p:nvSpPr>
          <p:cNvPr id="5" name="outcome-statement"/>
          <p:cNvSpPr/>
          <p:nvPr/>
        </p:nvSpPr>
        <p:spPr>
          <a:xfrm>
            <a:off x="1397000" y="1651000"/>
            <a:ext cx="13462000" cy="838200"/>
          </a:xfrm>
          <a:prstGeom prst="rect">
            <a:avLst/>
          </a:prstGeom>
          <a:noFill/>
        </p:spPr>
        <p:txBody>
          <a:bodyPr wrap="square" lIns="0" tIns="0" rIns="0" bIns="0" rtlCol="0" anchor="ctr"/>
          <a:lstStyle/>
          <a:p>
            <a:pPr marL="0" indent="0" algn="ctr">
              <a:buNone/>
            </a:pPr>
            <a:r>
              <a:rPr lang="en-US" altLang="en-US" sz="1700" dirty="0">
                <a:solidFill>
                  <a:srgbClr val="1E2761"/>
                </a:solidFill>
                <a:latin typeface="Corbel" panose="020B0503020204020204" pitchFamily="34" charset="0"/>
                <a:ea typeface="Corbel" panose="020B0503020204020204" pitchFamily="34" charset="-122"/>
                <a:cs typeface="Corbel" panose="020B0503020204020204" pitchFamily="34" charset="-120"/>
                <a:sym typeface="+mn-ea"/>
              </a:rPr>
              <a:t> </a:t>
            </a:r>
            <a:r>
              <a:rPr lang="en-US" altLang="en-US" sz="1700" b="1" dirty="0">
                <a:solidFill>
                  <a:srgbClr val="1E2761"/>
                </a:solidFill>
                <a:latin typeface="Cambria" panose="02040503050406030204" charset="0"/>
                <a:ea typeface="Corbel" panose="020B0503020204020204" pitchFamily="34" charset="-122"/>
                <a:cs typeface="Cambria" panose="02040503050406030204" charset="0"/>
                <a:sym typeface="+mn-ea"/>
              </a:rPr>
              <a:t>The Cyber Threat Analytics Platform </a:t>
            </a:r>
            <a:r>
              <a:rPr lang="en-US" altLang="en-US" sz="1700" b="1" dirty="0">
                <a:solidFill>
                  <a:srgbClr val="1E2761"/>
                </a:solidFill>
                <a:latin typeface="Cambria" panose="02040503050406030204" charset="0"/>
                <a:ea typeface="Outfit" pitchFamily="34" charset="-122"/>
                <a:cs typeface="Cambria" panose="02040503050406030204" charset="0"/>
              </a:rPr>
              <a:t>successfully transformed raw cybersecurity incident data into a clean, structured, analysis-ready dataset and an interactive Power BI analytics system for decision support.</a:t>
            </a:r>
            <a:endParaRPr lang="en-US" sz="1700" b="1" dirty="0">
              <a:latin typeface="Cambria" panose="02040503050406030204" charset="0"/>
              <a:cs typeface="Cambria" panose="02040503050406030204" charset="0"/>
            </a:endParaRPr>
          </a:p>
        </p:txBody>
      </p:sp>
      <p:sp>
        <p:nvSpPr>
          <p:cNvPr id="6" name="pill-bg"/>
          <p:cNvSpPr/>
          <p:nvPr/>
        </p:nvSpPr>
        <p:spPr>
          <a:xfrm>
            <a:off x="457200" y="2895600"/>
            <a:ext cx="684000" cy="342900"/>
          </a:xfrm>
          <a:prstGeom prst="roundRect">
            <a:avLst>
              <a:gd name="adj" fmla="val 50000"/>
            </a:avLst>
          </a:prstGeom>
          <a:solidFill>
            <a:srgbClr val="EAF1FB"/>
          </a:solidFill>
        </p:spPr>
      </p:sp>
      <p:sp>
        <p:nvSpPr>
          <p:cNvPr id="7" name="pill-text"/>
          <p:cNvSpPr/>
          <p:nvPr/>
        </p:nvSpPr>
        <p:spPr>
          <a:xfrm>
            <a:off x="677200" y="2971800"/>
            <a:ext cx="244000" cy="190500"/>
          </a:xfrm>
          <a:prstGeom prst="rect">
            <a:avLst/>
          </a:prstGeom>
          <a:noFill/>
        </p:spPr>
        <p:txBody>
          <a:bodyPr wrap="none" lIns="0" tIns="0" rIns="0" bIns="0" rtlCol="0" anchor="ctr"/>
          <a:lstStyle/>
          <a:p>
            <a:pPr marL="0" indent="0" algn="l">
              <a:buNone/>
            </a:pPr>
            <a:r>
              <a:rPr lang="en-US" altLang="en-US" sz="1200" b="1" dirty="0">
                <a:solidFill>
                  <a:srgbClr val="2F6FED"/>
                </a:solidFill>
                <a:latin typeface="Outfit" pitchFamily="34" charset="0"/>
                <a:ea typeface="Outfit" pitchFamily="34" charset="-122"/>
                <a:cs typeface="Outfit" pitchFamily="34" charset="-120"/>
              </a:rPr>
              <a:t>KEY PROJECT OUTCOMES</a:t>
            </a:r>
            <a:endParaRPr lang="en-US" sz="1200" dirty="0"/>
          </a:p>
        </p:txBody>
      </p:sp>
      <p:sp>
        <p:nvSpPr>
          <p:cNvPr id="8" name="outcome-card-0"/>
          <p:cNvSpPr/>
          <p:nvPr/>
        </p:nvSpPr>
        <p:spPr>
          <a:xfrm>
            <a:off x="457200" y="3390900"/>
            <a:ext cx="3595400" cy="2461260"/>
          </a:xfrm>
          <a:prstGeom prst="roundRect">
            <a:avLst>
              <a:gd name="adj" fmla="val 14000"/>
            </a:avLst>
          </a:prstGeom>
          <a:solidFill>
            <a:srgbClr val="FFFFFF"/>
          </a:solidFill>
          <a:ln w="12700">
            <a:solidFill>
              <a:srgbClr val="E2E8F0"/>
            </a:solidFill>
            <a:prstDash val="solid"/>
          </a:ln>
        </p:spPr>
      </p:sp>
      <p:sp>
        <p:nvSpPr>
          <p:cNvPr id="9" name="outcome-badge-0"/>
          <p:cNvSpPr/>
          <p:nvPr/>
        </p:nvSpPr>
        <p:spPr>
          <a:xfrm>
            <a:off x="647700" y="3581400"/>
            <a:ext cx="292100" cy="292100"/>
          </a:xfrm>
          <a:prstGeom prst="ellipse">
            <a:avLst/>
          </a:prstGeom>
          <a:solidFill>
            <a:srgbClr val="2F6FED"/>
          </a:solidFill>
        </p:spPr>
      </p:sp>
      <p:sp>
        <p:nvSpPr>
          <p:cNvPr id="10" name="outcome-badge-num-0"/>
          <p:cNvSpPr/>
          <p:nvPr/>
        </p:nvSpPr>
        <p:spPr>
          <a:xfrm>
            <a:off x="6477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1</a:t>
            </a:r>
            <a:endParaRPr lang="en-US" sz="1200" dirty="0"/>
          </a:p>
        </p:txBody>
      </p:sp>
      <p:sp>
        <p:nvSpPr>
          <p:cNvPr id="11" name="outcome-label-0"/>
          <p:cNvSpPr/>
          <p:nvPr/>
        </p:nvSpPr>
        <p:spPr>
          <a:xfrm>
            <a:off x="6477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Improved Data Quality</a:t>
            </a:r>
            <a:endParaRPr lang="en-US" sz="1400" dirty="0"/>
          </a:p>
        </p:txBody>
      </p:sp>
      <p:sp>
        <p:nvSpPr>
          <p:cNvPr id="12" name="outcome-desc-0"/>
          <p:cNvSpPr/>
          <p:nvPr/>
        </p:nvSpPr>
        <p:spPr>
          <a:xfrm>
            <a:off x="6477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Missing values handled and 10,228 records standardized.</a:t>
            </a:r>
            <a:endParaRPr lang="en-US" sz="1300" dirty="0"/>
          </a:p>
        </p:txBody>
      </p:sp>
      <p:sp>
        <p:nvSpPr>
          <p:cNvPr id="13" name="outcome-card-1"/>
          <p:cNvSpPr/>
          <p:nvPr/>
        </p:nvSpPr>
        <p:spPr>
          <a:xfrm>
            <a:off x="4372600" y="3390900"/>
            <a:ext cx="3595400" cy="2461260"/>
          </a:xfrm>
          <a:prstGeom prst="roundRect">
            <a:avLst>
              <a:gd name="adj" fmla="val 14000"/>
            </a:avLst>
          </a:prstGeom>
          <a:solidFill>
            <a:srgbClr val="FFFFFF"/>
          </a:solidFill>
          <a:ln w="12700">
            <a:solidFill>
              <a:srgbClr val="E2E8F0"/>
            </a:solidFill>
            <a:prstDash val="solid"/>
          </a:ln>
        </p:spPr>
      </p:sp>
      <p:sp>
        <p:nvSpPr>
          <p:cNvPr id="14" name="outcome-badge-1"/>
          <p:cNvSpPr/>
          <p:nvPr/>
        </p:nvSpPr>
        <p:spPr>
          <a:xfrm>
            <a:off x="4563100" y="3581400"/>
            <a:ext cx="292100" cy="292100"/>
          </a:xfrm>
          <a:prstGeom prst="ellipse">
            <a:avLst/>
          </a:prstGeom>
          <a:solidFill>
            <a:srgbClr val="0E8F63"/>
          </a:solidFill>
        </p:spPr>
      </p:sp>
      <p:sp>
        <p:nvSpPr>
          <p:cNvPr id="15" name="outcome-badge-num-1"/>
          <p:cNvSpPr/>
          <p:nvPr/>
        </p:nvSpPr>
        <p:spPr>
          <a:xfrm>
            <a:off x="45631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2</a:t>
            </a:r>
            <a:endParaRPr lang="en-US" sz="1200" dirty="0"/>
          </a:p>
        </p:txBody>
      </p:sp>
      <p:sp>
        <p:nvSpPr>
          <p:cNvPr id="16" name="outcome-label-1"/>
          <p:cNvSpPr/>
          <p:nvPr/>
        </p:nvSpPr>
        <p:spPr>
          <a:xfrm>
            <a:off x="45631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Efficient Data Modelling</a:t>
            </a:r>
            <a:endParaRPr lang="en-US" sz="1400" dirty="0"/>
          </a:p>
        </p:txBody>
      </p:sp>
      <p:sp>
        <p:nvSpPr>
          <p:cNvPr id="17" name="outcome-desc-1"/>
          <p:cNvSpPr/>
          <p:nvPr/>
        </p:nvSpPr>
        <p:spPr>
          <a:xfrm>
            <a:off x="45631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Power BI model + DAX measures built for analysis.</a:t>
            </a:r>
            <a:endParaRPr lang="en-US" sz="1300" dirty="0"/>
          </a:p>
        </p:txBody>
      </p:sp>
      <p:sp>
        <p:nvSpPr>
          <p:cNvPr id="18" name="outcome-card-2"/>
          <p:cNvSpPr/>
          <p:nvPr/>
        </p:nvSpPr>
        <p:spPr>
          <a:xfrm>
            <a:off x="8288000" y="3390900"/>
            <a:ext cx="3595400" cy="2461260"/>
          </a:xfrm>
          <a:prstGeom prst="roundRect">
            <a:avLst>
              <a:gd name="adj" fmla="val 14000"/>
            </a:avLst>
          </a:prstGeom>
          <a:solidFill>
            <a:srgbClr val="FFFFFF"/>
          </a:solidFill>
          <a:ln w="12700">
            <a:solidFill>
              <a:srgbClr val="E2E8F0"/>
            </a:solidFill>
            <a:prstDash val="solid"/>
          </a:ln>
        </p:spPr>
      </p:sp>
      <p:sp>
        <p:nvSpPr>
          <p:cNvPr id="19" name="outcome-badge-2"/>
          <p:cNvSpPr/>
          <p:nvPr/>
        </p:nvSpPr>
        <p:spPr>
          <a:xfrm>
            <a:off x="8478500" y="3581400"/>
            <a:ext cx="292100" cy="292100"/>
          </a:xfrm>
          <a:prstGeom prst="ellipse">
            <a:avLst/>
          </a:prstGeom>
          <a:solidFill>
            <a:srgbClr val="2F6FED"/>
          </a:solidFill>
        </p:spPr>
      </p:sp>
      <p:sp>
        <p:nvSpPr>
          <p:cNvPr id="20" name="outcome-badge-num-2"/>
          <p:cNvSpPr/>
          <p:nvPr/>
        </p:nvSpPr>
        <p:spPr>
          <a:xfrm>
            <a:off x="84785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3</a:t>
            </a:r>
            <a:endParaRPr lang="en-US" sz="1200" dirty="0"/>
          </a:p>
        </p:txBody>
      </p:sp>
      <p:sp>
        <p:nvSpPr>
          <p:cNvPr id="21" name="outcome-label-2"/>
          <p:cNvSpPr/>
          <p:nvPr/>
        </p:nvSpPr>
        <p:spPr>
          <a:xfrm>
            <a:off x="84785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Comprehensive Dashboards</a:t>
            </a:r>
            <a:endParaRPr lang="en-US" sz="1400" dirty="0"/>
          </a:p>
        </p:txBody>
      </p:sp>
      <p:sp>
        <p:nvSpPr>
          <p:cNvPr id="22" name="outcome-desc-2"/>
          <p:cNvSpPr/>
          <p:nvPr/>
        </p:nvSpPr>
        <p:spPr>
          <a:xfrm>
            <a:off x="84785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Seven interactive dashboards built for threat analysis</a:t>
            </a:r>
            <a:r>
              <a:rPr lang="en-US" altLang="en-US" sz="1200" dirty="0">
                <a:solidFill>
                  <a:srgbClr val="5A6B85"/>
                </a:solidFill>
                <a:latin typeface="Outfit" pitchFamily="34" charset="0"/>
                <a:ea typeface="Outfit" pitchFamily="34" charset="-122"/>
                <a:cs typeface="Outfit" pitchFamily="34" charset="-120"/>
              </a:rPr>
              <a:t>.</a:t>
            </a:r>
            <a:endParaRPr lang="en-US" sz="1200" dirty="0"/>
          </a:p>
        </p:txBody>
      </p:sp>
      <p:sp>
        <p:nvSpPr>
          <p:cNvPr id="23" name="outcome-card-3"/>
          <p:cNvSpPr/>
          <p:nvPr/>
        </p:nvSpPr>
        <p:spPr>
          <a:xfrm>
            <a:off x="12203400" y="3390900"/>
            <a:ext cx="3595400" cy="2461260"/>
          </a:xfrm>
          <a:prstGeom prst="roundRect">
            <a:avLst>
              <a:gd name="adj" fmla="val 14000"/>
            </a:avLst>
          </a:prstGeom>
          <a:solidFill>
            <a:srgbClr val="FFFFFF"/>
          </a:solidFill>
          <a:ln w="12700">
            <a:solidFill>
              <a:srgbClr val="E2E8F0"/>
            </a:solidFill>
            <a:prstDash val="solid"/>
          </a:ln>
        </p:spPr>
      </p:sp>
      <p:sp>
        <p:nvSpPr>
          <p:cNvPr id="24" name="outcome-badge-3"/>
          <p:cNvSpPr/>
          <p:nvPr/>
        </p:nvSpPr>
        <p:spPr>
          <a:xfrm>
            <a:off x="12393900" y="3581400"/>
            <a:ext cx="292100" cy="292100"/>
          </a:xfrm>
          <a:prstGeom prst="ellipse">
            <a:avLst/>
          </a:prstGeom>
          <a:solidFill>
            <a:srgbClr val="0E8F63"/>
          </a:solidFill>
        </p:spPr>
      </p:sp>
      <p:sp>
        <p:nvSpPr>
          <p:cNvPr id="25" name="outcome-badge-num-3"/>
          <p:cNvSpPr/>
          <p:nvPr/>
        </p:nvSpPr>
        <p:spPr>
          <a:xfrm>
            <a:off x="123939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4</a:t>
            </a:r>
            <a:endParaRPr lang="en-US" sz="1200" dirty="0"/>
          </a:p>
        </p:txBody>
      </p:sp>
      <p:sp>
        <p:nvSpPr>
          <p:cNvPr id="26" name="outcome-label-3"/>
          <p:cNvSpPr/>
          <p:nvPr/>
        </p:nvSpPr>
        <p:spPr>
          <a:xfrm>
            <a:off x="123939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Actionable Insights</a:t>
            </a:r>
            <a:endParaRPr lang="en-US" sz="1400" dirty="0"/>
          </a:p>
        </p:txBody>
      </p:sp>
      <p:sp>
        <p:nvSpPr>
          <p:cNvPr id="27" name="outcome-desc-3"/>
          <p:cNvSpPr/>
          <p:nvPr/>
        </p:nvSpPr>
        <p:spPr>
          <a:xfrm>
            <a:off x="123939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Insights surfaced on attack patterns, assets, regions, and threats.</a:t>
            </a:r>
            <a:endParaRPr lang="en-US" sz="1300" dirty="0"/>
          </a:p>
        </p:txBody>
      </p:sp>
      <p:sp>
        <p:nvSpPr>
          <p:cNvPr id="28" name="tech-skills-header"/>
          <p:cNvSpPr/>
          <p:nvPr/>
        </p:nvSpPr>
        <p:spPr>
          <a:xfrm>
            <a:off x="457200" y="6210300"/>
            <a:ext cx="5000000" cy="300000"/>
          </a:xfrm>
          <a:prstGeom prst="rect">
            <a:avLst/>
          </a:prstGeom>
          <a:noFill/>
        </p:spPr>
        <p:txBody>
          <a:bodyPr wrap="none" lIns="0" tIns="0" rIns="0" bIns="0" rtlCol="0" anchor="t"/>
          <a:lstStyle/>
          <a:p>
            <a:pPr marL="0" indent="0" algn="l">
              <a:buNone/>
            </a:pPr>
            <a:r>
              <a:rPr lang="en-US" altLang="en-US" sz="1500" b="1" dirty="0">
                <a:solidFill>
                  <a:srgbClr val="2F6FED"/>
                </a:solidFill>
                <a:latin typeface="Outfit" pitchFamily="34" charset="0"/>
                <a:ea typeface="Outfit" pitchFamily="34" charset="-122"/>
                <a:cs typeface="Outfit" pitchFamily="34" charset="-120"/>
              </a:rPr>
              <a:t>TECHNICAL SKILLS</a:t>
            </a:r>
            <a:endParaRPr lang="en-US" sz="1500" dirty="0"/>
          </a:p>
        </p:txBody>
      </p:sp>
      <p:sp>
        <p:nvSpPr>
          <p:cNvPr id="29" name="soft-skills-header"/>
          <p:cNvSpPr/>
          <p:nvPr/>
        </p:nvSpPr>
        <p:spPr>
          <a:xfrm>
            <a:off x="8382000" y="6210300"/>
            <a:ext cx="5000000" cy="300000"/>
          </a:xfrm>
          <a:prstGeom prst="rect">
            <a:avLst/>
          </a:prstGeom>
          <a:noFill/>
        </p:spPr>
        <p:txBody>
          <a:bodyPr wrap="none" lIns="0" tIns="0" rIns="0" bIns="0" rtlCol="0" anchor="t"/>
          <a:lstStyle/>
          <a:p>
            <a:pPr marL="0" indent="0" algn="l">
              <a:buNone/>
            </a:pPr>
            <a:r>
              <a:rPr lang="en-US" altLang="en-US" sz="1500" b="1" dirty="0">
                <a:solidFill>
                  <a:srgbClr val="0E8F63"/>
                </a:solidFill>
                <a:latin typeface="Outfit" pitchFamily="34" charset="0"/>
                <a:ea typeface="Outfit" pitchFamily="34" charset="-122"/>
                <a:cs typeface="Outfit" pitchFamily="34" charset="-120"/>
              </a:rPr>
              <a:t>SOFT SKILLS</a:t>
            </a:r>
            <a:endParaRPr lang="en-US" sz="1500" dirty="0"/>
          </a:p>
        </p:txBody>
      </p:sp>
      <p:sp>
        <p:nvSpPr>
          <p:cNvPr id="30" name="tech-dot-0"/>
          <p:cNvSpPr/>
          <p:nvPr/>
        </p:nvSpPr>
        <p:spPr>
          <a:xfrm>
            <a:off x="477200" y="6800300"/>
            <a:ext cx="114300" cy="114300"/>
          </a:xfrm>
          <a:prstGeom prst="ellipse">
            <a:avLst/>
          </a:prstGeom>
          <a:solidFill>
            <a:srgbClr val="2F6FED"/>
          </a:solidFill>
        </p:spPr>
      </p:sp>
      <p:sp>
        <p:nvSpPr>
          <p:cNvPr id="31" name="tech-text-0"/>
          <p:cNvSpPr/>
          <p:nvPr/>
        </p:nvSpPr>
        <p:spPr>
          <a:xfrm>
            <a:off x="707200" y="6710300"/>
            <a:ext cx="4500000" cy="300000"/>
          </a:xfrm>
          <a:prstGeom prst="rect">
            <a:avLst/>
          </a:prstGeom>
          <a:noFill/>
        </p:spPr>
        <p:txBody>
          <a:bodyPr wrap="none" lIns="0" tIns="0" rIns="0" bIns="0" rtlCol="0" anchor="t"/>
          <a:lstStyle/>
          <a:p>
            <a:pPr marL="0" indent="0" algn="l">
              <a:buNone/>
            </a:pPr>
            <a:r>
              <a:rPr lang="en-US" altLang="en-US" sz="1500" dirty="0">
                <a:solidFill>
                  <a:srgbClr val="1E2761"/>
                </a:solidFill>
                <a:latin typeface="Outfit" pitchFamily="34" charset="0"/>
                <a:ea typeface="Outfit" pitchFamily="34" charset="-122"/>
                <a:cs typeface="Outfit" pitchFamily="34" charset="-120"/>
              </a:rPr>
              <a:t>Power Query :-</a:t>
            </a:r>
            <a:endParaRPr lang="en-US" sz="1500" dirty="0"/>
          </a:p>
        </p:txBody>
      </p:sp>
      <p:sp>
        <p:nvSpPr>
          <p:cNvPr id="32" name="tech-dot-1"/>
          <p:cNvSpPr/>
          <p:nvPr/>
        </p:nvSpPr>
        <p:spPr>
          <a:xfrm>
            <a:off x="477200" y="7260300"/>
            <a:ext cx="114300" cy="114300"/>
          </a:xfrm>
          <a:prstGeom prst="ellipse">
            <a:avLst/>
          </a:prstGeom>
          <a:solidFill>
            <a:srgbClr val="2F6FED"/>
          </a:solidFill>
        </p:spPr>
      </p:sp>
      <p:sp>
        <p:nvSpPr>
          <p:cNvPr id="33" name="tech-text-1"/>
          <p:cNvSpPr/>
          <p:nvPr/>
        </p:nvSpPr>
        <p:spPr>
          <a:xfrm>
            <a:off x="707200" y="717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Data Modelling :-  </a:t>
            </a:r>
            <a:r>
              <a:rPr lang="en-US" altLang="en-US" sz="1400" dirty="0">
                <a:solidFill>
                  <a:srgbClr val="5A6B85"/>
                </a:solidFill>
                <a:latin typeface="Outfit" pitchFamily="34" charset="0"/>
                <a:ea typeface="Outfit" pitchFamily="34" charset="-122"/>
                <a:cs typeface="Outfit" pitchFamily="34" charset="-120"/>
                <a:sym typeface="+mn-ea"/>
              </a:rPr>
              <a:t>Feature preparation and analytical relationships.</a:t>
            </a:r>
            <a:endParaRPr lang="en-US" sz="1400" dirty="0"/>
          </a:p>
        </p:txBody>
      </p:sp>
      <p:sp>
        <p:nvSpPr>
          <p:cNvPr id="34" name="tech-dot-2"/>
          <p:cNvSpPr/>
          <p:nvPr/>
        </p:nvSpPr>
        <p:spPr>
          <a:xfrm>
            <a:off x="477200" y="7720300"/>
            <a:ext cx="114300" cy="114300"/>
          </a:xfrm>
          <a:prstGeom prst="ellipse">
            <a:avLst/>
          </a:prstGeom>
          <a:solidFill>
            <a:srgbClr val="2F6FED"/>
          </a:solidFill>
        </p:spPr>
      </p:sp>
      <p:sp>
        <p:nvSpPr>
          <p:cNvPr id="35" name="tech-text-2"/>
          <p:cNvSpPr/>
          <p:nvPr/>
        </p:nvSpPr>
        <p:spPr>
          <a:xfrm>
            <a:off x="707200" y="763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Visual Analytics :-  </a:t>
            </a:r>
            <a:r>
              <a:rPr lang="en-US" altLang="en-US" sz="1400" dirty="0">
                <a:solidFill>
                  <a:srgbClr val="5A6B85"/>
                </a:solidFill>
                <a:latin typeface="Outfit" pitchFamily="34" charset="0"/>
                <a:ea typeface="Outfit" pitchFamily="34" charset="-122"/>
                <a:cs typeface="Outfit" pitchFamily="34" charset="-120"/>
                <a:sym typeface="+mn-ea"/>
              </a:rPr>
              <a:t>Dashboard design, KPI summaries, and storytelling.</a:t>
            </a:r>
            <a:endParaRPr lang="en-US" sz="1400" dirty="0"/>
          </a:p>
          <a:p>
            <a:pPr marL="0" indent="0" algn="l">
              <a:buNone/>
            </a:pPr>
            <a:endParaRPr lang="en-US" sz="1400" dirty="0"/>
          </a:p>
        </p:txBody>
      </p:sp>
      <p:sp>
        <p:nvSpPr>
          <p:cNvPr id="36" name="soft-dot-0"/>
          <p:cNvSpPr/>
          <p:nvPr/>
        </p:nvSpPr>
        <p:spPr>
          <a:xfrm>
            <a:off x="8402000" y="6800300"/>
            <a:ext cx="114300" cy="114300"/>
          </a:xfrm>
          <a:prstGeom prst="ellipse">
            <a:avLst/>
          </a:prstGeom>
          <a:solidFill>
            <a:srgbClr val="0E8F63"/>
          </a:solidFill>
        </p:spPr>
      </p:sp>
      <p:sp>
        <p:nvSpPr>
          <p:cNvPr id="37" name="soft-text-0"/>
          <p:cNvSpPr/>
          <p:nvPr/>
        </p:nvSpPr>
        <p:spPr>
          <a:xfrm>
            <a:off x="8632000" y="671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Problem Solving</a:t>
            </a:r>
            <a:endParaRPr lang="en-US" sz="1400" dirty="0"/>
          </a:p>
        </p:txBody>
      </p:sp>
      <p:sp>
        <p:nvSpPr>
          <p:cNvPr id="38" name="soft-dot-1"/>
          <p:cNvSpPr/>
          <p:nvPr/>
        </p:nvSpPr>
        <p:spPr>
          <a:xfrm>
            <a:off x="8402000" y="7260300"/>
            <a:ext cx="114300" cy="114300"/>
          </a:xfrm>
          <a:prstGeom prst="ellipse">
            <a:avLst/>
          </a:prstGeom>
          <a:solidFill>
            <a:srgbClr val="0E8F63"/>
          </a:solidFill>
        </p:spPr>
      </p:sp>
      <p:sp>
        <p:nvSpPr>
          <p:cNvPr id="39" name="soft-text-1"/>
          <p:cNvSpPr/>
          <p:nvPr/>
        </p:nvSpPr>
        <p:spPr>
          <a:xfrm>
            <a:off x="8632000" y="717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Communication</a:t>
            </a:r>
            <a:endParaRPr lang="en-US" sz="1400" dirty="0"/>
          </a:p>
        </p:txBody>
      </p:sp>
      <p:sp>
        <p:nvSpPr>
          <p:cNvPr id="40" name="soft-dot-2"/>
          <p:cNvSpPr/>
          <p:nvPr/>
        </p:nvSpPr>
        <p:spPr>
          <a:xfrm>
            <a:off x="8402000" y="7720300"/>
            <a:ext cx="114300" cy="114300"/>
          </a:xfrm>
          <a:prstGeom prst="ellipse">
            <a:avLst/>
          </a:prstGeom>
          <a:solidFill>
            <a:srgbClr val="0E8F63"/>
          </a:solidFill>
        </p:spPr>
      </p:sp>
      <p:sp>
        <p:nvSpPr>
          <p:cNvPr id="41" name="soft-text-2"/>
          <p:cNvSpPr/>
          <p:nvPr/>
        </p:nvSpPr>
        <p:spPr>
          <a:xfrm>
            <a:off x="8632000" y="763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Teamwork</a:t>
            </a:r>
            <a:endParaRPr lang="en-US" sz="1400" dirty="0"/>
          </a:p>
        </p:txBody>
      </p:sp>
      <p:sp>
        <p:nvSpPr>
          <p:cNvPr id="42" name="soft-dot-3"/>
          <p:cNvSpPr/>
          <p:nvPr/>
        </p:nvSpPr>
        <p:spPr>
          <a:xfrm>
            <a:off x="8402000" y="8180300"/>
            <a:ext cx="114300" cy="114300"/>
          </a:xfrm>
          <a:prstGeom prst="ellipse">
            <a:avLst/>
          </a:prstGeom>
          <a:solidFill>
            <a:srgbClr val="0E8F63"/>
          </a:solidFill>
        </p:spPr>
      </p:sp>
      <p:sp>
        <p:nvSpPr>
          <p:cNvPr id="43" name="soft-text-3"/>
          <p:cNvSpPr/>
          <p:nvPr/>
        </p:nvSpPr>
        <p:spPr>
          <a:xfrm>
            <a:off x="8632000" y="809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Presentation</a:t>
            </a:r>
            <a:endParaRPr lang="en-US" sz="1400" dirty="0"/>
          </a:p>
        </p:txBody>
      </p:sp>
      <p:sp>
        <p:nvSpPr>
          <p:cNvPr id="4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06</a:t>
            </a:r>
            <a:endParaRPr lang="en-US" sz="1400" dirty="0"/>
          </a:p>
        </p:txBody>
      </p:sp>
      <p:sp>
        <p:nvSpPr>
          <p:cNvPr id="45" name="Shape 8"/>
          <p:cNvSpPr/>
          <p:nvPr/>
        </p:nvSpPr>
        <p:spPr>
          <a:xfrm>
            <a:off x="15161895" y="8593455"/>
            <a:ext cx="834390" cy="428625"/>
          </a:xfrm>
          <a:prstGeom prst="ellipse">
            <a:avLst/>
          </a:prstGeom>
          <a:solidFill>
            <a:schemeClr val="accent5"/>
          </a:solidFill>
          <a:ln w="15875">
            <a:noFill/>
            <a:prstDash val="solid"/>
          </a:ln>
        </p:spPr>
        <p:txBody>
          <a:bodyPr anchor="ctr"/>
          <a:p>
            <a:pPr marL="0" indent="0" algn="ctr">
              <a:buNone/>
            </a:pPr>
            <a:r>
              <a:rPr lang="en-US" b="1" dirty="0">
                <a:solidFill>
                  <a:srgbClr val="FFFFFF"/>
                </a:solidFill>
                <a:latin typeface="Calibri" panose="020F0502020204030204" charset="0"/>
              </a:rPr>
              <a:t>14</a:t>
            </a:r>
            <a:endParaRPr lang="en-US"/>
          </a:p>
        </p:txBody>
      </p:sp>
      <p:pic>
        <p:nvPicPr>
          <p:cNvPr id="46" name="Header Banner"/>
          <p:cNvPicPr>
            <a:picLocks noChangeAspect="1"/>
          </p:cNvPicPr>
          <p:nvPr/>
        </p:nvPicPr>
        <p:blipFill>
          <a:blip r:embed="rId1"/>
          <a:srcRect t="27119" b="14044"/>
          <a:stretch>
            <a:fillRect/>
          </a:stretch>
        </p:blipFill>
        <p:spPr>
          <a:xfrm>
            <a:off x="0" y="0"/>
            <a:ext cx="16256000" cy="745490"/>
          </a:xfrm>
          <a:prstGeom prst="rect">
            <a:avLst/>
          </a:prstGeom>
        </p:spPr>
      </p:pic>
      <p:sp>
        <p:nvSpPr>
          <p:cNvPr id="47" name="Text Box 46"/>
          <p:cNvSpPr txBox="1"/>
          <p:nvPr/>
        </p:nvSpPr>
        <p:spPr>
          <a:xfrm>
            <a:off x="2006600" y="6710045"/>
            <a:ext cx="8128000" cy="306705"/>
          </a:xfrm>
          <a:prstGeom prst="rect">
            <a:avLst/>
          </a:prstGeom>
          <a:noFill/>
        </p:spPr>
        <p:txBody>
          <a:bodyPr wrap="square" rtlCol="0" anchor="t">
            <a:spAutoFit/>
          </a:bodyPr>
          <a:p>
            <a:r>
              <a:rPr lang="en-US" altLang="en-US" sz="1400" dirty="0">
                <a:solidFill>
                  <a:srgbClr val="5A6B85"/>
                </a:solidFill>
                <a:latin typeface="Outfit" pitchFamily="34" charset="0"/>
                <a:ea typeface="Outfit" pitchFamily="34" charset="-122"/>
                <a:cs typeface="Outfit" pitchFamily="34" charset="-120"/>
                <a:sym typeface="+mn-ea"/>
              </a:rPr>
              <a:t>Repeatable data transformation and standardization.</a:t>
            </a:r>
            <a:endParaRPr lang="en-US" altLang="en-US" sz="1400" dirty="0">
              <a:solidFill>
                <a:srgbClr val="5A6B85"/>
              </a:solidFill>
              <a:latin typeface="Outfit" pitchFamily="34" charset="0"/>
              <a:ea typeface="Outfit" pitchFamily="34" charset="-122"/>
              <a:cs typeface="Outfit" pitchFamily="34" charset="-120"/>
              <a:sym typeface="+mn-e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762000"/>
            <a:ext cx="50800" cy="368300"/>
          </a:xfrm>
          <a:prstGeom prst="rect">
            <a:avLst/>
          </a:prstGeom>
          <a:solidFill>
            <a:srgbClr val="0E8F63"/>
          </a:solidFill>
        </p:spPr>
      </p:sp>
      <p:sp>
        <p:nvSpPr>
          <p:cNvPr id="3" name="slide-title"/>
          <p:cNvSpPr/>
          <p:nvPr/>
        </p:nvSpPr>
        <p:spPr>
          <a:xfrm>
            <a:off x="762000" y="736600"/>
            <a:ext cx="127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Acknowledgements &amp; References</a:t>
            </a:r>
            <a:endParaRPr lang="en-US" sz="3000" dirty="0"/>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07</a:t>
            </a:r>
            <a:endParaRPr lang="en-US" sz="1400" dirty="0"/>
          </a:p>
        </p:txBody>
      </p:sp>
      <p:sp>
        <p:nvSpPr>
          <p:cNvPr id="5" name="ack-tag"/>
          <p:cNvSpPr/>
          <p:nvPr/>
        </p:nvSpPr>
        <p:spPr>
          <a:xfrm>
            <a:off x="939800" y="1424305"/>
            <a:ext cx="3030220" cy="314325"/>
          </a:xfrm>
          <a:prstGeom prst="roundRect">
            <a:avLst>
              <a:gd name="adj" fmla="val 50000"/>
            </a:avLst>
          </a:prstGeom>
          <a:solidFill>
            <a:srgbClr val="EAF1FB"/>
          </a:solidFill>
        </p:spPr>
      </p:sp>
      <p:sp>
        <p:nvSpPr>
          <p:cNvPr id="6" name="ack-tag-text"/>
          <p:cNvSpPr/>
          <p:nvPr/>
        </p:nvSpPr>
        <p:spPr>
          <a:xfrm>
            <a:off x="1629410" y="1483360"/>
            <a:ext cx="1866900" cy="157480"/>
          </a:xfrm>
          <a:prstGeom prst="rect">
            <a:avLst/>
          </a:prstGeom>
          <a:noFill/>
        </p:spPr>
        <p:txBody>
          <a:bodyPr wrap="none" lIns="0" tIns="0" rIns="0" bIns="0" rtlCol="0" anchor="t"/>
          <a:lstStyle/>
          <a:p>
            <a:pPr marL="0" indent="0" algn="ctr">
              <a:buNone/>
            </a:pPr>
            <a:r>
              <a:rPr lang="en-US" altLang="en-US" sz="1700" b="1" dirty="0">
                <a:solidFill>
                  <a:srgbClr val="2F6FED"/>
                </a:solidFill>
                <a:latin typeface="Outfit" pitchFamily="34" charset="0"/>
                <a:ea typeface="Outfit" pitchFamily="34" charset="-122"/>
                <a:cs typeface="Outfit" pitchFamily="34" charset="-120"/>
              </a:rPr>
              <a:t>ACKNOWLEDGEMENTS</a:t>
            </a:r>
            <a:endParaRPr lang="en-US" sz="1700" dirty="0"/>
          </a:p>
        </p:txBody>
      </p:sp>
      <p:sp>
        <p:nvSpPr>
          <p:cNvPr id="7" name="ref-tag"/>
          <p:cNvSpPr/>
          <p:nvPr/>
        </p:nvSpPr>
        <p:spPr>
          <a:xfrm>
            <a:off x="939800" y="7105650"/>
            <a:ext cx="2038350" cy="231775"/>
          </a:xfrm>
          <a:prstGeom prst="roundRect">
            <a:avLst>
              <a:gd name="adj" fmla="val 50000"/>
            </a:avLst>
          </a:prstGeom>
          <a:solidFill>
            <a:srgbClr val="E9F6F0"/>
          </a:solidFill>
        </p:spPr>
      </p:sp>
      <p:sp>
        <p:nvSpPr>
          <p:cNvPr id="8" name="ref-tag-text"/>
          <p:cNvSpPr/>
          <p:nvPr/>
        </p:nvSpPr>
        <p:spPr>
          <a:xfrm>
            <a:off x="1193800" y="7105650"/>
            <a:ext cx="1244600" cy="215900"/>
          </a:xfrm>
          <a:prstGeom prst="rect">
            <a:avLst/>
          </a:prstGeom>
          <a:noFill/>
        </p:spPr>
        <p:txBody>
          <a:bodyPr wrap="none" lIns="0" tIns="0" rIns="0" bIns="0" rtlCol="0" anchor="t"/>
          <a:lstStyle/>
          <a:p>
            <a:pPr marL="0" indent="0" algn="ctr">
              <a:buNone/>
            </a:pPr>
            <a:r>
              <a:rPr lang="en-US" altLang="en-US" sz="1700" b="1" dirty="0">
                <a:solidFill>
                  <a:srgbClr val="0E8F63"/>
                </a:solidFill>
                <a:latin typeface="Outfit" pitchFamily="34" charset="0"/>
                <a:ea typeface="Outfit" pitchFamily="34" charset="-122"/>
                <a:cs typeface="Outfit" pitchFamily="34" charset="-120"/>
              </a:rPr>
              <a:t>REFERENCES</a:t>
            </a:r>
            <a:endParaRPr lang="en-US" sz="1700" dirty="0"/>
          </a:p>
        </p:txBody>
      </p:sp>
      <p:sp>
        <p:nvSpPr>
          <p:cNvPr id="9" name="ack-card"/>
          <p:cNvSpPr/>
          <p:nvPr/>
        </p:nvSpPr>
        <p:spPr>
          <a:xfrm>
            <a:off x="762000" y="1905000"/>
            <a:ext cx="14986000" cy="5034280"/>
          </a:xfrm>
          <a:prstGeom prst="roundRect">
            <a:avLst>
              <a:gd name="adj" fmla="val 3784"/>
            </a:avLst>
          </a:prstGeom>
          <a:solidFill>
            <a:srgbClr val="FFFFFF"/>
          </a:solidFill>
          <a:ln w="12700">
            <a:solidFill>
              <a:srgbClr val="E2E8F0"/>
            </a:solidFill>
            <a:prstDash val="solid"/>
          </a:ln>
        </p:spPr>
        <p:txBody>
          <a:bodyPr/>
          <a:p>
            <a:r>
              <a:rPr lang="en-US" altLang="en-US">
                <a:solidFill>
                  <a:schemeClr val="bg2">
                    <a:lumMod val="50000"/>
                  </a:schemeClr>
                </a:solidFill>
                <a:latin typeface="Cambria" panose="02040503050406030204" charset="0"/>
                <a:cs typeface="Cambria" panose="02040503050406030204" charset="0"/>
              </a:rPr>
              <a:t>We would like to express our sincere gratitude to the Infosys Springboard Team for organizing this highly enriching virtual internship program and for</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providing a structured, industry-aligned learning platform. The well- designed modules, milestone-based framework, and practical orientation of the internship enabled us to gain meaningful exposure to real-world business intelligence applications.</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We extend our heartfelt appreciation to our mentor, Mrs. Nithyasree, for her consistent guidance, valuable feedback, and continuous encouragement</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throughout the project lifecycle. Her insights and structured direction played a significant role in shaping the analytical depth and professional quality of this project.</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We would also like to acknowledge our team members for their strong collaboration, accountability, and shared commitment toward achieving project objectives. The coordinated distribution of responsibilities, open communication, and collective problem-solving approach significantly contributed to the successful execution of this project.</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In addition, we extend our appreciation to the creators and maintainers of Microsoft Power BI documentation and community resources, which served</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as essential references during dashboard development and KPI implementation. We are also grateful to Kaggle for providing access to publicly available datasets that facilitated practical, hands-on analytical experience. </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The structured learning resources and practical exposure provided through this internship have significantly strengthened our analytical thinking, technical proficiency, and business interpretation skills. This experience has enhanced our ability to approach data with a strategic mindset, collaborate effectively within a team environment, and execute projects with professional discipline. </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Overall, this internship has been a meaningful milestone in our academic and professional journey, reinforcing the value of data-driven decision-making and structured analytical execution in modern business environments.</a:t>
            </a:r>
            <a:endParaRPr lang="en-US" altLang="en-US">
              <a:solidFill>
                <a:schemeClr val="bg2">
                  <a:lumMod val="50000"/>
                </a:schemeClr>
              </a:solidFill>
              <a:latin typeface="Cambria" panose="02040503050406030204" charset="0"/>
              <a:cs typeface="Cambria" panose="02040503050406030204" charset="0"/>
            </a:endParaRPr>
          </a:p>
          <a:p>
            <a:endParaRPr lang="en-US" altLang="en-US">
              <a:solidFill>
                <a:schemeClr val="bg2">
                  <a:lumMod val="50000"/>
                </a:schemeClr>
              </a:solidFill>
              <a:latin typeface="Cambria" panose="02040503050406030204" charset="0"/>
              <a:cs typeface="Cambria" panose="02040503050406030204" charset="0"/>
            </a:endParaRPr>
          </a:p>
        </p:txBody>
      </p:sp>
      <p:sp>
        <p:nvSpPr>
          <p:cNvPr id="10" name="ack-list"/>
          <p:cNvSpPr/>
          <p:nvPr/>
        </p:nvSpPr>
        <p:spPr>
          <a:xfrm>
            <a:off x="1193800" y="2413000"/>
            <a:ext cx="6223000" cy="3429000"/>
          </a:xfrm>
          <a:prstGeom prst="rect">
            <a:avLst/>
          </a:prstGeom>
          <a:noFill/>
        </p:spPr>
        <p:txBody>
          <a:bodyPr wrap="square" lIns="0" tIns="0" rIns="0" bIns="0" rtlCol="0" anchor="t"/>
          <a:lstStyle/>
          <a:p>
            <a:pPr indent="0" algn="l">
              <a:lnSpc>
                <a:spcPts val="2295"/>
              </a:lnSpc>
              <a:spcBef>
                <a:spcPts val="10"/>
              </a:spcBef>
              <a:buSzPct val="100000"/>
              <a:buNone/>
            </a:pPr>
            <a:endParaRPr lang="en-US" sz="1700" dirty="0"/>
          </a:p>
        </p:txBody>
      </p:sp>
      <p:sp>
        <p:nvSpPr>
          <p:cNvPr id="12" name="ref-list"/>
          <p:cNvSpPr/>
          <p:nvPr/>
        </p:nvSpPr>
        <p:spPr>
          <a:xfrm>
            <a:off x="8813800" y="2413000"/>
            <a:ext cx="6223000" cy="3048000"/>
          </a:xfrm>
          <a:prstGeom prst="rect">
            <a:avLst/>
          </a:prstGeom>
          <a:noFill/>
        </p:spPr>
        <p:txBody>
          <a:bodyPr wrap="square" lIns="0" tIns="0" rIns="0" bIns="0" rtlCol="0" anchor="t"/>
          <a:lstStyle/>
          <a:p>
            <a:pPr indent="0" algn="l">
              <a:lnSpc>
                <a:spcPts val="2295"/>
              </a:lnSpc>
              <a:spcBef>
                <a:spcPts val="10"/>
              </a:spcBef>
              <a:buSzPct val="100000"/>
              <a:buNone/>
            </a:pPr>
            <a:endParaRPr lang="en-US" sz="2000" dirty="0"/>
          </a:p>
        </p:txBody>
      </p:sp>
      <p:pic>
        <p:nvPicPr>
          <p:cNvPr id="49" name="Picture 48"/>
          <p:cNvPicPr>
            <a:picLocks noChangeAspect="1"/>
          </p:cNvPicPr>
          <p:nvPr/>
        </p:nvPicPr>
        <p:blipFill>
          <a:blip r:embed="rId1"/>
          <a:srcRect t="27119" b="14044"/>
          <a:stretch>
            <a:fillRect/>
          </a:stretch>
        </p:blipFill>
        <p:spPr>
          <a:xfrm>
            <a:off x="0" y="0"/>
            <a:ext cx="16256000" cy="660400"/>
          </a:xfrm>
          <a:prstGeom prst="rect">
            <a:avLst/>
          </a:prstGeom>
        </p:spPr>
      </p:pic>
      <p:sp>
        <p:nvSpPr>
          <p:cNvPr id="16" name="ref-card"/>
          <p:cNvSpPr/>
          <p:nvPr/>
        </p:nvSpPr>
        <p:spPr>
          <a:xfrm>
            <a:off x="762000" y="7487920"/>
            <a:ext cx="8482330" cy="1286510"/>
          </a:xfrm>
          <a:prstGeom prst="roundRect">
            <a:avLst>
              <a:gd name="adj" fmla="val 3784"/>
            </a:avLst>
          </a:prstGeom>
          <a:solidFill>
            <a:srgbClr val="FFFFFF"/>
          </a:solidFill>
          <a:ln w="12700">
            <a:solidFill>
              <a:srgbClr val="C8E8D9"/>
            </a:solidFill>
            <a:prstDash val="solid"/>
          </a:ln>
        </p:spPr>
        <p:txBody>
          <a:bodyPr/>
          <a:p>
            <a:pPr marL="269875" indent="-269875" algn="l">
              <a:lnSpc>
                <a:spcPts val="2295"/>
              </a:lnSpc>
              <a:spcBef>
                <a:spcPts val="10"/>
              </a:spcBef>
              <a:buSzPct val="100000"/>
              <a:buChar char="•"/>
            </a:pPr>
            <a:r>
              <a:rPr lang="en-US" altLang="en-US" dirty="0">
                <a:solidFill>
                  <a:srgbClr val="5A6B85"/>
                </a:solidFill>
                <a:latin typeface="Outfit" pitchFamily="34" charset="0"/>
                <a:ea typeface="Outfit" pitchFamily="34" charset="-122"/>
                <a:cs typeface="Outfit" pitchFamily="34" charset="-120"/>
                <a:sym typeface="+mn-ea"/>
              </a:rPr>
              <a:t>VERIS Community Database (VCDB), accessed through Kaggle</a:t>
            </a:r>
            <a:endParaRPr lang="en-US" dirty="0"/>
          </a:p>
          <a:p>
            <a:pPr marL="269875" indent="-269875" algn="l">
              <a:lnSpc>
                <a:spcPts val="2295"/>
              </a:lnSpc>
              <a:spcBef>
                <a:spcPts val="10"/>
              </a:spcBef>
              <a:buSzPct val="100000"/>
              <a:buChar char="•"/>
            </a:pPr>
            <a:r>
              <a:rPr lang="en-US" altLang="en-US" dirty="0">
                <a:solidFill>
                  <a:srgbClr val="5A6B85"/>
                </a:solidFill>
                <a:latin typeface="Outfit" pitchFamily="34" charset="0"/>
                <a:ea typeface="Outfit" pitchFamily="34" charset="-122"/>
                <a:cs typeface="Outfit" pitchFamily="34" charset="-120"/>
                <a:sym typeface="+mn-ea"/>
              </a:rPr>
              <a:t>Microsoft Learn — Power Query documentation</a:t>
            </a:r>
            <a:endParaRPr lang="en-US" dirty="0"/>
          </a:p>
          <a:p>
            <a:pPr marL="269875" indent="-269875" algn="l">
              <a:lnSpc>
                <a:spcPts val="2295"/>
              </a:lnSpc>
              <a:spcBef>
                <a:spcPts val="10"/>
              </a:spcBef>
              <a:buSzPct val="100000"/>
              <a:buChar char="•"/>
            </a:pPr>
            <a:r>
              <a:rPr lang="en-US" altLang="en-US" dirty="0">
                <a:solidFill>
                  <a:srgbClr val="5A6B85"/>
                </a:solidFill>
                <a:latin typeface="Outfit" pitchFamily="34" charset="0"/>
                <a:ea typeface="Outfit" pitchFamily="34" charset="-122"/>
                <a:cs typeface="Outfit" pitchFamily="34" charset="-120"/>
                <a:sym typeface="+mn-ea"/>
              </a:rPr>
              <a:t>Internship course and training materials</a:t>
            </a:r>
            <a:endParaRPr lang="en-US"/>
          </a:p>
        </p:txBody>
      </p:sp>
      <p:sp>
        <p:nvSpPr>
          <p:cNvPr id="11" name="Shape 8"/>
          <p:cNvSpPr/>
          <p:nvPr/>
        </p:nvSpPr>
        <p:spPr>
          <a:xfrm>
            <a:off x="15200630" y="8593455"/>
            <a:ext cx="795655" cy="415290"/>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hanks-title"/>
          <p:cNvSpPr/>
          <p:nvPr/>
        </p:nvSpPr>
        <p:spPr>
          <a:xfrm>
            <a:off x="2631440" y="3511550"/>
            <a:ext cx="11430000" cy="889000"/>
          </a:xfrm>
          <a:prstGeom prst="rect">
            <a:avLst/>
          </a:prstGeom>
          <a:noFill/>
        </p:spPr>
        <p:txBody>
          <a:bodyPr wrap="none" lIns="0" tIns="0" rIns="0" bIns="0" rtlCol="0" anchor="ctr"/>
          <a:lstStyle/>
          <a:p>
            <a:pPr marL="0" indent="0" algn="ctr">
              <a:buNone/>
            </a:pPr>
            <a:r>
              <a:rPr lang="en-US" altLang="en-US" sz="4000" b="1" dirty="0">
                <a:solidFill>
                  <a:srgbClr val="1E2761"/>
                </a:solidFill>
                <a:latin typeface="Corbel" panose="020B0503020204020204" pitchFamily="34" charset="0"/>
                <a:ea typeface="Corbel" panose="020B0503020204020204" pitchFamily="34" charset="-122"/>
                <a:cs typeface="Corbel" panose="020B0503020204020204" pitchFamily="34" charset="-120"/>
              </a:rPr>
              <a:t>Thank You</a:t>
            </a:r>
            <a:endParaRPr lang="en-US" sz="4000" dirty="0"/>
          </a:p>
        </p:txBody>
      </p:sp>
      <p:sp>
        <p:nvSpPr>
          <p:cNvPr id="3" name="thanks-accent"/>
          <p:cNvSpPr/>
          <p:nvPr/>
        </p:nvSpPr>
        <p:spPr>
          <a:xfrm>
            <a:off x="7074535" y="4889500"/>
            <a:ext cx="2794000" cy="63500"/>
          </a:xfrm>
          <a:prstGeom prst="rect">
            <a:avLst/>
          </a:prstGeom>
          <a:solidFill>
            <a:srgbClr val="0E8F63"/>
          </a:solidFill>
        </p:spPr>
      </p:sp>
      <p:sp>
        <p:nvSpPr>
          <p:cNvPr id="4" name="discussion-text"/>
          <p:cNvSpPr/>
          <p:nvPr/>
        </p:nvSpPr>
        <p:spPr>
          <a:xfrm>
            <a:off x="4572000" y="4889500"/>
            <a:ext cx="7112000" cy="355600"/>
          </a:xfrm>
          <a:prstGeom prst="rect">
            <a:avLst/>
          </a:prstGeom>
          <a:noFill/>
        </p:spPr>
        <p:txBody>
          <a:bodyPr wrap="none" lIns="0" tIns="0" rIns="0" bIns="0" rtlCol="0" anchor="ctr"/>
          <a:lstStyle/>
          <a:p>
            <a:pPr marL="0" indent="0" algn="ctr">
              <a:buNone/>
            </a:pPr>
            <a:endParaRPr lang="en-US" sz="1700" dirty="0"/>
          </a:p>
        </p:txBody>
      </p:sp>
      <p:sp>
        <p:nvSpPr>
          <p:cNvPr id="5" name="project-signature"/>
          <p:cNvSpPr/>
          <p:nvPr/>
        </p:nvSpPr>
        <p:spPr>
          <a:xfrm>
            <a:off x="2286000" y="7239000"/>
            <a:ext cx="11684000" cy="304800"/>
          </a:xfrm>
          <a:prstGeom prst="rect">
            <a:avLst/>
          </a:prstGeom>
          <a:noFill/>
        </p:spPr>
        <p:txBody>
          <a:bodyPr wrap="none" lIns="0" tIns="0" rIns="0" bIns="0" rtlCol="0" anchor="ctr"/>
          <a:lstStyle/>
          <a:p>
            <a:pPr marL="0" indent="0" algn="ctr">
              <a:buNone/>
            </a:pPr>
            <a:endParaRPr lang="en-US" sz="1400" dirty="0"/>
          </a:p>
        </p:txBody>
      </p:sp>
      <p:pic>
        <p:nvPicPr>
          <p:cNvPr id="49" name="Picture 48"/>
          <p:cNvPicPr>
            <a:picLocks noChangeAspect="1"/>
          </p:cNvPicPr>
          <p:nvPr/>
        </p:nvPicPr>
        <p:blipFill>
          <a:blip r:embed="rId1"/>
          <a:srcRect t="27119" b="14044"/>
          <a:stretch>
            <a:fillRect/>
          </a:stretch>
        </p:blipFill>
        <p:spPr>
          <a:xfrm>
            <a:off x="0" y="0"/>
            <a:ext cx="16256000" cy="828040"/>
          </a:xfrm>
          <a:prstGeom prst="rect">
            <a:avLst/>
          </a:prstGeom>
        </p:spPr>
      </p:pic>
      <p:sp>
        <p:nvSpPr>
          <p:cNvPr id="6" name="Shape 3"/>
          <p:cNvSpPr/>
          <p:nvPr/>
        </p:nvSpPr>
        <p:spPr>
          <a:xfrm>
            <a:off x="7670800" y="2062480"/>
            <a:ext cx="882650" cy="960120"/>
          </a:xfrm>
          <a:prstGeom prst="ellipse">
            <a:avLst/>
          </a:prstGeom>
          <a:solidFill>
            <a:srgbClr val="92D050"/>
          </a:solidFill>
        </p:spPr>
        <p:txBody>
          <a:bodyPr/>
          <a:p>
            <a:endParaRPr lang="en-US"/>
          </a:p>
        </p:txBody>
      </p:sp>
      <p:pic>
        <p:nvPicPr>
          <p:cNvPr id="18" name="Picture 17"/>
          <p:cNvPicPr>
            <a:picLocks noChangeAspect="1"/>
          </p:cNvPicPr>
          <p:nvPr/>
        </p:nvPicPr>
        <p:blipFill>
          <a:blip r:embed="rId2"/>
          <a:stretch>
            <a:fillRect/>
          </a:stretch>
        </p:blipFill>
        <p:spPr>
          <a:xfrm>
            <a:off x="7849235" y="2279650"/>
            <a:ext cx="525780" cy="525780"/>
          </a:xfrm>
          <a:prstGeom prst="rect">
            <a:avLst/>
          </a:prstGeom>
        </p:spPr>
      </p:pic>
      <p:sp>
        <p:nvSpPr>
          <p:cNvPr id="7" name="Shape 8"/>
          <p:cNvSpPr/>
          <p:nvPr/>
        </p:nvSpPr>
        <p:spPr>
          <a:xfrm>
            <a:off x="15200630" y="8593455"/>
            <a:ext cx="795655" cy="415290"/>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16</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13097</Words>
  <Application>WPS Presentation</Application>
  <PresentationFormat>On-screen Show (16:9)</PresentationFormat>
  <Paragraphs>671</Paragraphs>
  <Slides>16</Slides>
  <Notes>8</Notes>
  <HiddenSlides>0</HiddenSlides>
  <MMClips>0</MMClips>
  <ScaleCrop>false</ScaleCrop>
  <HeadingPairs>
    <vt:vector size="6" baseType="variant">
      <vt:variant>
        <vt:lpstr>已用的字体</vt:lpstr>
      </vt:variant>
      <vt:variant>
        <vt:i4>23</vt:i4>
      </vt:variant>
      <vt:variant>
        <vt:lpstr>主题</vt:lpstr>
      </vt:variant>
      <vt:variant>
        <vt:i4>1</vt:i4>
      </vt:variant>
      <vt:variant>
        <vt:lpstr>幻灯片标题</vt:lpstr>
      </vt:variant>
      <vt:variant>
        <vt:i4>16</vt:i4>
      </vt:variant>
    </vt:vector>
  </HeadingPairs>
  <TitlesOfParts>
    <vt:vector size="40" baseType="lpstr">
      <vt:lpstr>Arial</vt:lpstr>
      <vt:lpstr>SimSun</vt:lpstr>
      <vt:lpstr>Wingdings</vt:lpstr>
      <vt:lpstr>Space Grotesk Medium</vt:lpstr>
      <vt:lpstr>Outfit Light</vt:lpstr>
      <vt:lpstr>Outfit</vt:lpstr>
      <vt:lpstr>Outfit</vt:lpstr>
      <vt:lpstr>Outfit</vt:lpstr>
      <vt:lpstr>Times New Roman</vt:lpstr>
      <vt:lpstr>Aptos</vt:lpstr>
      <vt:lpstr>Calibri</vt:lpstr>
      <vt:lpstr>Calibri</vt:lpstr>
      <vt:lpstr>Calibri</vt:lpstr>
      <vt:lpstr>Britannic Bold</vt:lpstr>
      <vt:lpstr>Corbel</vt:lpstr>
      <vt:lpstr>Corbel</vt:lpstr>
      <vt:lpstr>Corbel</vt:lpstr>
      <vt:lpstr>Cambria</vt:lpstr>
      <vt:lpstr>AMGDT</vt:lpstr>
      <vt:lpstr>Microsoft YaHei</vt:lpstr>
      <vt:lpstr>Arial Unicode MS</vt:lpstr>
      <vt:lpstr>Segoe UI</vt:lpstr>
      <vt:lpstr>Arial Black</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Manus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 Threat Analytics Platform with Incident Visualization System</dc:title>
  <dc:creator>Manus</dc:creator>
  <dc:subject>Cyber Threat Analytics Platform with Incident Visualization System</dc:subject>
  <cp:lastModifiedBy>twinklemohanty42</cp:lastModifiedBy>
  <cp:revision>9</cp:revision>
  <dcterms:created xsi:type="dcterms:W3CDTF">2026-08-16T14:43:00Z</dcterms:created>
  <dcterms:modified xsi:type="dcterms:W3CDTF">2026-08-20T23:30:01Z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1033-12.1.0.28032</vt:lpwstr>
  </property>
  <property fmtid="{D5CDD505-2E9C-101B-9397-08002B2CF9AE}" pid="3" name="ICV">
    <vt:lpwstr>5A5D8A83E6114B0DBF124BAC6BAF947E_13</vt:lpwstr>
  </property>
</Properties>
</file>