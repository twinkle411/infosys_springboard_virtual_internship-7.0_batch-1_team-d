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20.fntdata" ContentType="application/x-fontdata"/>
  <Override PartName="/ppt/fonts/font21.fntdata" ContentType="application/x-fontdata"/>
  <Override PartName="/ppt/fonts/font22.fntdata" ContentType="application/x-fontdata"/>
  <Override PartName="/ppt/fonts/font23.fntdata" ContentType="application/x-fontdata"/>
  <Override PartName="/ppt/fonts/font24.fntdata" ContentType="application/x-fontdata"/>
  <Override PartName="/ppt/fonts/font25.fntdata" ContentType="application/x-fontdata"/>
  <Override PartName="/ppt/fonts/font26.fntdata" ContentType="application/x-fontdata"/>
  <Override PartName="/ppt/fonts/font27.fntdata" ContentType="application/x-fontdata"/>
  <Override PartName="/ppt/fonts/font28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64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6256000" cy="9144000"/>
  <p:notesSz cx="9144000" cy="16256000"/>
  <p:embeddedFontLst>
    <p:embeddedFont>
      <p:font typeface="Outfit" pitchFamily="34" charset="0"/>
      <p:regular r:id="rId15"/>
    </p:embeddedFont>
    <p:embeddedFont>
      <p:font typeface="Outfit" pitchFamily="34" charset="-122"/>
      <p:regular r:id="rId16"/>
    </p:embeddedFont>
    <p:embeddedFont>
      <p:font typeface="Outfit" pitchFamily="34" charset="-120"/>
      <p:regular r:id="rId17"/>
    </p:embeddedFont>
    <p:embeddedFont>
      <p:font typeface="Corbel" panose="020B0503020204020204" pitchFamily="34" charset="0"/>
      <p:regular r:id="rId18"/>
      <p:bold r:id="rId19"/>
      <p:italic r:id="rId20"/>
      <p:boldItalic r:id="rId21"/>
    </p:embeddedFont>
    <p:embeddedFont>
      <p:font typeface="Corbel" panose="020B0503020204020204" pitchFamily="34" charset="-122"/>
      <p:regular r:id="rId22"/>
      <p:bold r:id="rId23"/>
      <p:italic r:id="rId24"/>
      <p:boldItalic r:id="rId25"/>
    </p:embeddedFont>
    <p:embeddedFont>
      <p:font typeface="Corbel" panose="020B0503020204020204" pitchFamily="34" charset="-120"/>
      <p:regular r:id="rId26"/>
      <p:bold r:id="rId27"/>
      <p:italic r:id="rId28"/>
      <p:boldItalic r:id="rId29"/>
    </p:embeddedFont>
    <p:embeddedFont>
      <p:font typeface="Calibri" panose="020F0502020204030204" charset="0"/>
      <p:regular r:id="rId30"/>
      <p:bold r:id="rId31"/>
      <p:italic r:id="rId32"/>
      <p:boldItalic r:id="rId33"/>
    </p:embeddedFont>
    <p:embeddedFont>
      <p:font typeface="Britannic Bold" panose="020B0903060703020204" charset="0"/>
      <p:regular r:id="rId34"/>
    </p:embeddedFont>
    <p:embeddedFont>
      <p:font typeface="Calibri" panose="020F0502020204030204" pitchFamily="34" charset="-122"/>
      <p:regular r:id="rId35"/>
      <p:bold r:id="rId36"/>
      <p:italic r:id="rId37"/>
      <p:boldItalic r:id="rId38"/>
    </p:embeddedFont>
    <p:embeddedFont>
      <p:font typeface="Calibri" panose="020F0502020204030204" pitchFamily="34" charset="-120"/>
      <p:regular r:id="rId39"/>
      <p:bold r:id="rId40"/>
      <p:italic r:id="rId41"/>
      <p:boldItalic r:id="rId4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2" Type="http://schemas.openxmlformats.org/officeDocument/2006/relationships/font" Target="fonts/font28.fntdata"/><Relationship Id="rId41" Type="http://schemas.openxmlformats.org/officeDocument/2006/relationships/font" Target="fonts/font27.fntdata"/><Relationship Id="rId40" Type="http://schemas.openxmlformats.org/officeDocument/2006/relationships/font" Target="fonts/font26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25.fntdata"/><Relationship Id="rId38" Type="http://schemas.openxmlformats.org/officeDocument/2006/relationships/font" Target="fonts/font24.fntdata"/><Relationship Id="rId37" Type="http://schemas.openxmlformats.org/officeDocument/2006/relationships/font" Target="fonts/font23.fntdata"/><Relationship Id="rId36" Type="http://schemas.openxmlformats.org/officeDocument/2006/relationships/font" Target="fonts/font22.fntdata"/><Relationship Id="rId35" Type="http://schemas.openxmlformats.org/officeDocument/2006/relationships/font" Target="fonts/font21.fntdata"/><Relationship Id="rId34" Type="http://schemas.openxmlformats.org/officeDocument/2006/relationships/font" Target="fonts/font20.fntdata"/><Relationship Id="rId33" Type="http://schemas.openxmlformats.org/officeDocument/2006/relationships/font" Target="fonts/font19.fntdata"/><Relationship Id="rId32" Type="http://schemas.openxmlformats.org/officeDocument/2006/relationships/font" Target="fonts/font18.fntdata"/><Relationship Id="rId31" Type="http://schemas.openxmlformats.org/officeDocument/2006/relationships/font" Target="fonts/font17.fntdata"/><Relationship Id="rId30" Type="http://schemas.openxmlformats.org/officeDocument/2006/relationships/font" Target="fonts/font16.fntdata"/><Relationship Id="rId3" Type="http://schemas.openxmlformats.org/officeDocument/2006/relationships/slide" Target="slides/slide1.xml"/><Relationship Id="rId29" Type="http://schemas.openxmlformats.org/officeDocument/2006/relationships/font" Target="fonts/font15.fntdata"/><Relationship Id="rId28" Type="http://schemas.openxmlformats.org/officeDocument/2006/relationships/font" Target="fonts/font14.fntdata"/><Relationship Id="rId27" Type="http://schemas.openxmlformats.org/officeDocument/2006/relationships/font" Target="fonts/font13.fntdata"/><Relationship Id="rId26" Type="http://schemas.openxmlformats.org/officeDocument/2006/relationships/font" Target="fonts/font12.fntdata"/><Relationship Id="rId25" Type="http://schemas.openxmlformats.org/officeDocument/2006/relationships/font" Target="fonts/font11.fntdata"/><Relationship Id="rId24" Type="http://schemas.openxmlformats.org/officeDocument/2006/relationships/font" Target="fonts/font10.fntdata"/><Relationship Id="rId23" Type="http://schemas.openxmlformats.org/officeDocument/2006/relationships/font" Target="fonts/font9.fntdata"/><Relationship Id="rId22" Type="http://schemas.openxmlformats.org/officeDocument/2006/relationships/font" Target="fonts/font8.fntdata"/><Relationship Id="rId21" Type="http://schemas.openxmlformats.org/officeDocument/2006/relationships/font" Target="fonts/font7.fntdata"/><Relationship Id="rId20" Type="http://schemas.openxmlformats.org/officeDocument/2006/relationships/font" Target="fonts/font6.fntdata"/><Relationship Id="rId2" Type="http://schemas.openxmlformats.org/officeDocument/2006/relationships/theme" Target="theme/theme1.xml"/><Relationship Id="rId19" Type="http://schemas.openxmlformats.org/officeDocument/2006/relationships/font" Target="fonts/font5.fntdata"/><Relationship Id="rId18" Type="http://schemas.openxmlformats.org/officeDocument/2006/relationships/font" Target="fonts/font4.fntdata"/><Relationship Id="rId17" Type="http://schemas.openxmlformats.org/officeDocument/2006/relationships/font" Target="fonts/font3.fntdata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02336" y="280152"/>
            <a:ext cx="2345717" cy="48768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163313" y="280152"/>
            <a:ext cx="3345712" cy="4876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5067097" y="280152"/>
            <a:ext cx="807300" cy="48768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jpe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-123613"/>
            <a:ext cx="16256000" cy="9267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366000" y="4969271"/>
            <a:ext cx="15240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518400" y="5883671"/>
            <a:ext cx="1219200" cy="4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948690" y="1545590"/>
            <a:ext cx="14864715" cy="6915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l">
              <a:buNone/>
            </a:pPr>
            <a:endParaRPr lang="en-US" sz="1600" b="1" dirty="0">
              <a:solidFill>
                <a:srgbClr val="2F6FED"/>
              </a:solidFill>
              <a:latin typeface="Space Grotesk Medium"/>
              <a:cs typeface="Space Grotesk Medium"/>
              <a:sym typeface="Space Grotesk Medium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6362276" y="5257984"/>
            <a:ext cx="3187700" cy="625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b="0" i="0" u="none" strike="noStrike" cap="none" dirty="0">
              <a:solidFill>
                <a:srgbClr val="5A6B85"/>
              </a:solidFill>
              <a:latin typeface="Outfit Light"/>
              <a:ea typeface="Outfit Light"/>
              <a:cs typeface="Outfit Light"/>
              <a:sym typeface="Outfit Ligh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65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09220"/>
            <a:ext cx="16256000" cy="142049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3730625" y="6990080"/>
            <a:ext cx="11271250" cy="594360"/>
          </a:xfrm>
          <a:prstGeom prst="rect">
            <a:avLst/>
          </a:prstGeom>
        </p:spPr>
        <p:txBody>
          <a:bodyPr wrap="square">
            <a:noAutofit/>
          </a:bodyPr>
          <a:p>
            <a:pPr defTabSz="266700"/>
            <a:r>
              <a:rPr lang="en-US" altLang="en-US" sz="2135" dirty="0">
                <a:solidFill>
                  <a:srgbClr val="1E2761"/>
                </a:solidFill>
                <a:latin typeface="Outfit" pitchFamily="34" charset="0"/>
                <a:ea typeface="Outfit" pitchFamily="34" charset="-122"/>
                <a:cs typeface="Outfit" pitchFamily="34" charset="-120"/>
                <a:sym typeface="+mn-ea"/>
              </a:rPr>
              <a:t>Tejasri Lakshmi Maddula |  Twinkle Mohanty | </a:t>
            </a:r>
            <a:r>
              <a:rPr lang="en-US" altLang="en-US" sz="2135" dirty="0">
                <a:solidFill>
                  <a:srgbClr val="1E2761"/>
                </a:solidFill>
                <a:latin typeface="Outfit" pitchFamily="34" charset="0"/>
                <a:ea typeface="Outfit" pitchFamily="34" charset="-122"/>
                <a:cs typeface="Outfit" pitchFamily="34" charset="-120"/>
                <a:sym typeface="+mn-ea"/>
              </a:rPr>
              <a:t>Subhasri Subhasmitha  | Vennela Pathipaka</a:t>
            </a:r>
            <a:endParaRPr lang="en-US" sz="2135" dirty="0"/>
          </a:p>
          <a:p>
            <a:pPr defTabSz="266700"/>
            <a:endParaRPr sz="2135" b="1">
              <a:solidFill>
                <a:srgbClr val="000000"/>
              </a:solidFill>
              <a:latin typeface="Times New Roman" panose="02020603050405020304"/>
              <a:ea typeface="Aptos" panose="02110004020202020204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5499689" y="8461248"/>
            <a:ext cx="414528" cy="4145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449955" y="1995805"/>
            <a:ext cx="906907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ctr">
              <a:buNone/>
            </a:pPr>
            <a:r>
              <a:rPr lang="en-US" altLang="en-US" sz="4000" b="1" dirty="0">
                <a:solidFill>
                  <a:srgbClr val="1E2761"/>
                </a:solidFill>
                <a:latin typeface="Britannic Bold" panose="020B0903060703020204" charset="0"/>
                <a:ea typeface="Corbel" panose="020B0503020204020204" pitchFamily="34" charset="-122"/>
                <a:cs typeface="Britannic Bold" panose="020B0903060703020204" charset="0"/>
                <a:sym typeface="+mn-ea"/>
              </a:rPr>
              <a:t>CYBER THREAT ANALYTICS PLATFORM</a:t>
            </a:r>
            <a:endParaRPr lang="en-US" altLang="en-US" sz="4000" b="1" dirty="0">
              <a:solidFill>
                <a:srgbClr val="1E2761"/>
              </a:solidFill>
              <a:latin typeface="Britannic Bold" panose="020B0903060703020204" charset="0"/>
              <a:ea typeface="Corbel" panose="020B0503020204020204" pitchFamily="34" charset="-122"/>
              <a:cs typeface="Britannic Bold" panose="020B0903060703020204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191000" y="3007995"/>
            <a:ext cx="8128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ctr">
              <a:buNone/>
            </a:pPr>
            <a:r>
              <a:rPr lang="en-US" altLang="en-US" sz="4000" dirty="0">
                <a:solidFill>
                  <a:srgbClr val="2F6FED"/>
                </a:solidFill>
                <a:latin typeface="Britannic Bold" panose="020B0903060703020204" charset="0"/>
                <a:ea typeface="Corbel" panose="020B0503020204020204" pitchFamily="34" charset="-122"/>
                <a:cs typeface="Britannic Bold" panose="020B0903060703020204" charset="0"/>
                <a:sym typeface="+mn-ea"/>
              </a:rPr>
              <a:t>with Incident Visualization System</a:t>
            </a:r>
            <a:endParaRPr lang="en-US" altLang="en-US" sz="4000" dirty="0">
              <a:solidFill>
                <a:srgbClr val="2F6FED"/>
              </a:solidFill>
              <a:latin typeface="Britannic Bold" panose="020B0903060703020204" charset="0"/>
              <a:ea typeface="Corbel" panose="020B0503020204020204" pitchFamily="34" charset="-122"/>
              <a:cs typeface="Britannic Bold" panose="020B0903060703020204" charset="0"/>
              <a:sym typeface="+mn-ea"/>
            </a:endParaRPr>
          </a:p>
        </p:txBody>
      </p:sp>
      <p:sp>
        <p:nvSpPr>
          <p:cNvPr id="8" name="group-badge-text"/>
          <p:cNvSpPr/>
          <p:nvPr/>
        </p:nvSpPr>
        <p:spPr>
          <a:xfrm>
            <a:off x="6667500" y="3530600"/>
            <a:ext cx="2921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7" name="group-badge"/>
          <p:cNvSpPr/>
          <p:nvPr/>
        </p:nvSpPr>
        <p:spPr>
          <a:xfrm>
            <a:off x="6667500" y="5883275"/>
            <a:ext cx="3175000" cy="5080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</p:spPr>
        <p:txBody>
          <a:bodyPr/>
          <a:p>
            <a:pPr marL="0" indent="0" algn="ctr">
              <a:buNone/>
            </a:pPr>
            <a:r>
              <a:rPr lang="en-US" altLang="en-US" b="1" dirty="0">
                <a:solidFill>
                  <a:srgbClr val="F59E0B"/>
                </a:solidFill>
                <a:latin typeface="Outfit" pitchFamily="34" charset="0"/>
                <a:ea typeface="Outfit" pitchFamily="34" charset="-122"/>
                <a:cs typeface="Outfit" pitchFamily="34" charset="-120"/>
                <a:sym typeface="+mn-ea"/>
              </a:rPr>
              <a:t>GROUP 1  |  TEAM D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4191000" y="4020185"/>
            <a:ext cx="8890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dirty="0">
                <a:solidFill>
                  <a:srgbClr val="5A6B85"/>
                </a:solidFill>
                <a:latin typeface="Outfit" pitchFamily="34" charset="0"/>
                <a:ea typeface="Outfit" pitchFamily="34" charset="-122"/>
                <a:cs typeface="Outfit" pitchFamily="34" charset="-120"/>
                <a:sym typeface="+mn-ea"/>
              </a:rPr>
              <a:t>A data-driven solution for detecting cyber threats, cleaning incident records, and         communicating risk through interactive dashboards.</a:t>
            </a:r>
            <a:endParaRPr lang="en-US" dirty="0"/>
          </a:p>
          <a:p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4191000" y="6621780"/>
            <a:ext cx="8128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ctr">
              <a:buNone/>
            </a:pPr>
            <a:r>
              <a:rPr lang="en-US" altLang="en-US" b="1" dirty="0">
                <a:solidFill>
                  <a:srgbClr val="0E8F63"/>
                </a:solidFill>
                <a:latin typeface="Outfit" pitchFamily="34" charset="0"/>
                <a:ea typeface="Outfit" pitchFamily="34" charset="-122"/>
                <a:cs typeface="Outfit" pitchFamily="34" charset="-120"/>
                <a:sym typeface="+mn-ea"/>
              </a:rPr>
              <a:t>PRESENTED BY</a:t>
            </a:r>
            <a:endParaRPr lang="en-US" altLang="en-US" b="1" dirty="0">
              <a:solidFill>
                <a:srgbClr val="0E8F63"/>
              </a:solidFill>
              <a:latin typeface="Outfit" pitchFamily="34" charset="0"/>
              <a:ea typeface="Outfit" pitchFamily="34" charset="-122"/>
              <a:cs typeface="Outfit" pitchFamily="34" charset="-120"/>
              <a:sym typeface="+mn-ea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7100570" y="8101330"/>
            <a:ext cx="54184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tx1"/>
                </a:solidFill>
              </a:rPr>
              <a:t>Mentor :</a:t>
            </a:r>
            <a:r>
              <a:rPr lang="en-US"/>
              <a:t>  </a:t>
            </a:r>
            <a:r>
              <a:rPr lang="en-US" altLang="en-US" b="1" dirty="0">
                <a:solidFill>
                  <a:schemeClr val="tx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Mrs. Nithyasree</a:t>
            </a:r>
            <a:endParaRPr lang="en-US" altLang="en-US" b="1" dirty="0">
              <a:solidFill>
                <a:schemeClr val="tx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endParaRPr lang="en-US" altLang="en-US" b="1" dirty="0">
              <a:solidFill>
                <a:schemeClr val="tx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6362065" y="7584440"/>
            <a:ext cx="8128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Infosys Springboard — Virtual Internship 7.0</a:t>
            </a:r>
            <a:endParaRPr lang="en-US" sz="2000" b="1" dirty="0">
              <a:solidFill>
                <a:schemeClr val="accent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50" name="Shape 8"/>
          <p:cNvSpPr/>
          <p:nvPr/>
        </p:nvSpPr>
        <p:spPr>
          <a:xfrm>
            <a:off x="15494000" y="8593455"/>
            <a:ext cx="502285" cy="440055"/>
          </a:xfrm>
          <a:prstGeom prst="ellipse">
            <a:avLst/>
          </a:prstGeom>
          <a:solidFill>
            <a:schemeClr val="accent5"/>
          </a:solidFill>
          <a:ln w="15875">
            <a:noFill/>
            <a:prstDash val="solid"/>
          </a:ln>
        </p:spPr>
        <p:txBody>
          <a:bodyPr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rule"/>
          <p:cNvSpPr/>
          <p:nvPr/>
        </p:nvSpPr>
        <p:spPr>
          <a:xfrm>
            <a:off x="406400" y="941705"/>
            <a:ext cx="50800" cy="368300"/>
          </a:xfrm>
          <a:prstGeom prst="rect">
            <a:avLst/>
          </a:prstGeom>
          <a:solidFill>
            <a:srgbClr val="0E8F63"/>
          </a:solidFill>
        </p:spPr>
      </p:sp>
      <p:sp>
        <p:nvSpPr>
          <p:cNvPr id="3" name="slide-title"/>
          <p:cNvSpPr/>
          <p:nvPr/>
        </p:nvSpPr>
        <p:spPr>
          <a:xfrm>
            <a:off x="635000" y="827405"/>
            <a:ext cx="11430000" cy="482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000" b="1" dirty="0">
                <a:solidFill>
                  <a:srgbClr val="1E2761"/>
                </a:solidFill>
                <a:latin typeface="Corbel" panose="020B0503020204020204" pitchFamily="34" charset="0"/>
                <a:ea typeface="Corbel" panose="020B0503020204020204" pitchFamily="34" charset="-122"/>
                <a:cs typeface="Corbel" panose="020B0503020204020204" pitchFamily="34" charset="-120"/>
              </a:rPr>
              <a:t>Project Objective</a:t>
            </a:r>
            <a:endParaRPr lang="en-US" sz="3000" dirty="0"/>
          </a:p>
        </p:txBody>
      </p:sp>
      <p:sp>
        <p:nvSpPr>
          <p:cNvPr id="4" name="slide-number"/>
          <p:cNvSpPr/>
          <p:nvPr/>
        </p:nvSpPr>
        <p:spPr>
          <a:xfrm>
            <a:off x="15113000" y="3556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5A6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1400" dirty="0"/>
          </a:p>
        </p:txBody>
      </p:sp>
      <p:sp>
        <p:nvSpPr>
          <p:cNvPr id="5" name="objectives-tag"/>
          <p:cNvSpPr/>
          <p:nvPr/>
        </p:nvSpPr>
        <p:spPr>
          <a:xfrm>
            <a:off x="768985" y="1498600"/>
            <a:ext cx="1676400" cy="3810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</p:spPr>
      </p:sp>
      <p:sp>
        <p:nvSpPr>
          <p:cNvPr id="6" name="objectives-tag-text"/>
          <p:cNvSpPr/>
          <p:nvPr/>
        </p:nvSpPr>
        <p:spPr>
          <a:xfrm>
            <a:off x="927100" y="1511300"/>
            <a:ext cx="1333500" cy="2159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2F6FE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7" name="objective-card-1"/>
          <p:cNvSpPr/>
          <p:nvPr/>
        </p:nvSpPr>
        <p:spPr>
          <a:xfrm>
            <a:off x="762000" y="2032000"/>
            <a:ext cx="7112000" cy="109220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objective-badge-1"/>
          <p:cNvSpPr/>
          <p:nvPr/>
        </p:nvSpPr>
        <p:spPr>
          <a:xfrm>
            <a:off x="990600" y="2120900"/>
            <a:ext cx="355600" cy="355600"/>
          </a:xfrm>
          <a:prstGeom prst="ellipse">
            <a:avLst/>
          </a:prstGeom>
          <a:solidFill>
            <a:srgbClr val="2F6FED"/>
          </a:solidFill>
        </p:spPr>
      </p:sp>
      <p:sp>
        <p:nvSpPr>
          <p:cNvPr id="9" name="objective-badge-text-1"/>
          <p:cNvSpPr/>
          <p:nvPr/>
        </p:nvSpPr>
        <p:spPr>
          <a:xfrm>
            <a:off x="990600" y="2184400"/>
            <a:ext cx="35560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objective-title-1"/>
          <p:cNvSpPr/>
          <p:nvPr/>
        </p:nvSpPr>
        <p:spPr>
          <a:xfrm>
            <a:off x="1549400" y="2032000"/>
            <a:ext cx="577850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1E276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Detect malicious activity</a:t>
            </a:r>
            <a:endParaRPr lang="en-US" sz="1600" dirty="0"/>
          </a:p>
        </p:txBody>
      </p:sp>
      <p:sp>
        <p:nvSpPr>
          <p:cNvPr id="11" name="objective-body-1"/>
          <p:cNvSpPr/>
          <p:nvPr/>
        </p:nvSpPr>
        <p:spPr>
          <a:xfrm>
            <a:off x="1549400" y="2400300"/>
            <a:ext cx="5816600" cy="317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5A6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Identify attack patterns and suspicious network behavior.</a:t>
            </a:r>
            <a:endParaRPr lang="en-US" sz="1400" dirty="0"/>
          </a:p>
        </p:txBody>
      </p:sp>
      <p:sp>
        <p:nvSpPr>
          <p:cNvPr id="12" name="objective-card-2"/>
          <p:cNvSpPr/>
          <p:nvPr/>
        </p:nvSpPr>
        <p:spPr>
          <a:xfrm>
            <a:off x="8382000" y="1879600"/>
            <a:ext cx="7112000" cy="109220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objective-badge-2"/>
          <p:cNvSpPr/>
          <p:nvPr/>
        </p:nvSpPr>
        <p:spPr>
          <a:xfrm>
            <a:off x="8610600" y="2120900"/>
            <a:ext cx="355600" cy="355600"/>
          </a:xfrm>
          <a:prstGeom prst="ellipse">
            <a:avLst/>
          </a:prstGeom>
          <a:solidFill>
            <a:srgbClr val="0E8F63"/>
          </a:solidFill>
        </p:spPr>
      </p:sp>
      <p:sp>
        <p:nvSpPr>
          <p:cNvPr id="14" name="objective-badge-text-2"/>
          <p:cNvSpPr/>
          <p:nvPr/>
        </p:nvSpPr>
        <p:spPr>
          <a:xfrm>
            <a:off x="8610600" y="2184400"/>
            <a:ext cx="35560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objective-title-2"/>
          <p:cNvSpPr/>
          <p:nvPr/>
        </p:nvSpPr>
        <p:spPr>
          <a:xfrm>
            <a:off x="9169400" y="2032000"/>
            <a:ext cx="577850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1E276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Clean incident records</a:t>
            </a:r>
            <a:endParaRPr lang="en-US" sz="1600" dirty="0"/>
          </a:p>
        </p:txBody>
      </p:sp>
      <p:sp>
        <p:nvSpPr>
          <p:cNvPr id="16" name="objective-body-2"/>
          <p:cNvSpPr/>
          <p:nvPr/>
        </p:nvSpPr>
        <p:spPr>
          <a:xfrm>
            <a:off x="9169400" y="2400300"/>
            <a:ext cx="5816600" cy="317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5A6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Standardize incomplete or ambiguous fields for trustworthy analysis.</a:t>
            </a:r>
            <a:endParaRPr lang="en-US" sz="1400" dirty="0"/>
          </a:p>
        </p:txBody>
      </p:sp>
      <p:sp>
        <p:nvSpPr>
          <p:cNvPr id="17" name="objective-card-3"/>
          <p:cNvSpPr/>
          <p:nvPr/>
        </p:nvSpPr>
        <p:spPr>
          <a:xfrm>
            <a:off x="762000" y="3429000"/>
            <a:ext cx="7112000" cy="109220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objective-badge-3"/>
          <p:cNvSpPr/>
          <p:nvPr/>
        </p:nvSpPr>
        <p:spPr>
          <a:xfrm>
            <a:off x="990600" y="3517900"/>
            <a:ext cx="355600" cy="355600"/>
          </a:xfrm>
          <a:prstGeom prst="ellipse">
            <a:avLst/>
          </a:prstGeom>
          <a:solidFill>
            <a:srgbClr val="2F6FED"/>
          </a:solidFill>
        </p:spPr>
      </p:sp>
      <p:sp>
        <p:nvSpPr>
          <p:cNvPr id="19" name="objective-badge-text-3"/>
          <p:cNvSpPr/>
          <p:nvPr/>
        </p:nvSpPr>
        <p:spPr>
          <a:xfrm>
            <a:off x="990600" y="3581400"/>
            <a:ext cx="35560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objective-title-3"/>
          <p:cNvSpPr/>
          <p:nvPr/>
        </p:nvSpPr>
        <p:spPr>
          <a:xfrm>
            <a:off x="1549400" y="3429000"/>
            <a:ext cx="577850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1E276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Visualize security data</a:t>
            </a:r>
            <a:endParaRPr lang="en-US" sz="1600" dirty="0"/>
          </a:p>
        </p:txBody>
      </p:sp>
      <p:sp>
        <p:nvSpPr>
          <p:cNvPr id="21" name="objective-body-3"/>
          <p:cNvSpPr/>
          <p:nvPr/>
        </p:nvSpPr>
        <p:spPr>
          <a:xfrm>
            <a:off x="1549400" y="3797300"/>
            <a:ext cx="5816600" cy="317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5A6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Translate complex incidents into dashboards, charts, and timelines.</a:t>
            </a:r>
            <a:endParaRPr lang="en-US" sz="1400" dirty="0"/>
          </a:p>
        </p:txBody>
      </p:sp>
      <p:sp>
        <p:nvSpPr>
          <p:cNvPr id="22" name="objective-card-4"/>
          <p:cNvSpPr/>
          <p:nvPr/>
        </p:nvSpPr>
        <p:spPr>
          <a:xfrm>
            <a:off x="8382000" y="3276600"/>
            <a:ext cx="7112000" cy="109220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objective-badge-4"/>
          <p:cNvSpPr/>
          <p:nvPr/>
        </p:nvSpPr>
        <p:spPr>
          <a:xfrm>
            <a:off x="8610600" y="3517900"/>
            <a:ext cx="355600" cy="355600"/>
          </a:xfrm>
          <a:prstGeom prst="ellipse">
            <a:avLst/>
          </a:prstGeom>
          <a:solidFill>
            <a:srgbClr val="0E8F63"/>
          </a:solidFill>
        </p:spPr>
      </p:sp>
      <p:sp>
        <p:nvSpPr>
          <p:cNvPr id="24" name="objective-badge-text-4"/>
          <p:cNvSpPr/>
          <p:nvPr/>
        </p:nvSpPr>
        <p:spPr>
          <a:xfrm>
            <a:off x="8610600" y="3581400"/>
            <a:ext cx="35560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objective-title-4"/>
          <p:cNvSpPr/>
          <p:nvPr/>
        </p:nvSpPr>
        <p:spPr>
          <a:xfrm>
            <a:off x="9169400" y="3429000"/>
            <a:ext cx="577850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1E276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Improve response readiness</a:t>
            </a:r>
            <a:endParaRPr lang="en-US" sz="1600" dirty="0"/>
          </a:p>
        </p:txBody>
      </p:sp>
      <p:sp>
        <p:nvSpPr>
          <p:cNvPr id="26" name="objective-body-4"/>
          <p:cNvSpPr/>
          <p:nvPr/>
        </p:nvSpPr>
        <p:spPr>
          <a:xfrm>
            <a:off x="9169400" y="3797300"/>
            <a:ext cx="5816600" cy="317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5A6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Help analysts prioritize critical threats and act faster.</a:t>
            </a:r>
            <a:endParaRPr lang="en-US" sz="1400" dirty="0"/>
          </a:p>
        </p:txBody>
      </p:sp>
      <p:sp>
        <p:nvSpPr>
          <p:cNvPr id="27" name="modules-tag"/>
          <p:cNvSpPr/>
          <p:nvPr/>
        </p:nvSpPr>
        <p:spPr>
          <a:xfrm>
            <a:off x="762000" y="4826000"/>
            <a:ext cx="2159000" cy="381000"/>
          </a:xfrm>
          <a:prstGeom prst="roundRect">
            <a:avLst>
              <a:gd name="adj" fmla="val 50000"/>
            </a:avLst>
          </a:prstGeom>
          <a:solidFill>
            <a:srgbClr val="E9F6F0"/>
          </a:solidFill>
        </p:spPr>
      </p:sp>
      <p:sp>
        <p:nvSpPr>
          <p:cNvPr id="28" name="modules-tag-text"/>
          <p:cNvSpPr/>
          <p:nvPr/>
        </p:nvSpPr>
        <p:spPr>
          <a:xfrm>
            <a:off x="939800" y="4902200"/>
            <a:ext cx="1816100" cy="2159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0E8F6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PROJECT MODULES</a:t>
            </a:r>
            <a:endParaRPr lang="en-US" sz="1400" dirty="0"/>
          </a:p>
        </p:txBody>
      </p:sp>
      <p:sp>
        <p:nvSpPr>
          <p:cNvPr id="29" name="module-card-1"/>
          <p:cNvSpPr/>
          <p:nvPr/>
        </p:nvSpPr>
        <p:spPr>
          <a:xfrm>
            <a:off x="762000" y="5461000"/>
            <a:ext cx="4572000" cy="73660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module-badge-1"/>
          <p:cNvSpPr/>
          <p:nvPr/>
        </p:nvSpPr>
        <p:spPr>
          <a:xfrm>
            <a:off x="990600" y="5651500"/>
            <a:ext cx="330200" cy="330200"/>
          </a:xfrm>
          <a:prstGeom prst="ellipse">
            <a:avLst/>
          </a:prstGeom>
          <a:solidFill>
            <a:srgbClr val="0E8F63"/>
          </a:solidFill>
        </p:spPr>
      </p:sp>
      <p:sp>
        <p:nvSpPr>
          <p:cNvPr id="31" name="module-badge-text-1"/>
          <p:cNvSpPr/>
          <p:nvPr/>
        </p:nvSpPr>
        <p:spPr>
          <a:xfrm>
            <a:off x="990600" y="5702300"/>
            <a:ext cx="33020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400" dirty="0"/>
          </a:p>
        </p:txBody>
      </p:sp>
      <p:sp>
        <p:nvSpPr>
          <p:cNvPr id="32" name="module-text-1"/>
          <p:cNvSpPr/>
          <p:nvPr/>
        </p:nvSpPr>
        <p:spPr>
          <a:xfrm>
            <a:off x="1498600" y="5651500"/>
            <a:ext cx="3556000" cy="279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b="1" dirty="0">
                <a:solidFill>
                  <a:srgbClr val="1E276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Data acquisition &amp; understanding</a:t>
            </a:r>
            <a:endParaRPr lang="en-US" sz="1400" dirty="0"/>
          </a:p>
        </p:txBody>
      </p:sp>
      <p:sp>
        <p:nvSpPr>
          <p:cNvPr id="33" name="module-card-2"/>
          <p:cNvSpPr/>
          <p:nvPr/>
        </p:nvSpPr>
        <p:spPr>
          <a:xfrm>
            <a:off x="5842000" y="5461000"/>
            <a:ext cx="4572000" cy="73660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module-badge-2"/>
          <p:cNvSpPr/>
          <p:nvPr/>
        </p:nvSpPr>
        <p:spPr>
          <a:xfrm>
            <a:off x="6070600" y="5651500"/>
            <a:ext cx="330200" cy="330200"/>
          </a:xfrm>
          <a:prstGeom prst="ellipse">
            <a:avLst/>
          </a:prstGeom>
          <a:solidFill>
            <a:srgbClr val="0E8F63"/>
          </a:solidFill>
        </p:spPr>
      </p:sp>
      <p:sp>
        <p:nvSpPr>
          <p:cNvPr id="35" name="module-badge-text-2"/>
          <p:cNvSpPr/>
          <p:nvPr/>
        </p:nvSpPr>
        <p:spPr>
          <a:xfrm>
            <a:off x="6070600" y="5702300"/>
            <a:ext cx="33020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400" dirty="0"/>
          </a:p>
        </p:txBody>
      </p:sp>
      <p:sp>
        <p:nvSpPr>
          <p:cNvPr id="36" name="module-text-2"/>
          <p:cNvSpPr/>
          <p:nvPr/>
        </p:nvSpPr>
        <p:spPr>
          <a:xfrm>
            <a:off x="6578600" y="5651500"/>
            <a:ext cx="3556000" cy="279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b="1" dirty="0">
                <a:solidFill>
                  <a:srgbClr val="1E276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Preprocessing &amp; feature engineering</a:t>
            </a:r>
            <a:endParaRPr lang="en-US" sz="1400" dirty="0"/>
          </a:p>
        </p:txBody>
      </p:sp>
      <p:sp>
        <p:nvSpPr>
          <p:cNvPr id="37" name="module-card-3"/>
          <p:cNvSpPr/>
          <p:nvPr/>
        </p:nvSpPr>
        <p:spPr>
          <a:xfrm>
            <a:off x="10922000" y="5461000"/>
            <a:ext cx="4572000" cy="73660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module-badge-3"/>
          <p:cNvSpPr/>
          <p:nvPr/>
        </p:nvSpPr>
        <p:spPr>
          <a:xfrm>
            <a:off x="11150600" y="5651500"/>
            <a:ext cx="330200" cy="330200"/>
          </a:xfrm>
          <a:prstGeom prst="ellipse">
            <a:avLst/>
          </a:prstGeom>
          <a:solidFill>
            <a:srgbClr val="0E8F63"/>
          </a:solidFill>
        </p:spPr>
      </p:sp>
      <p:sp>
        <p:nvSpPr>
          <p:cNvPr id="39" name="module-badge-text-3"/>
          <p:cNvSpPr/>
          <p:nvPr/>
        </p:nvSpPr>
        <p:spPr>
          <a:xfrm>
            <a:off x="11150600" y="5702300"/>
            <a:ext cx="33020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400" dirty="0"/>
          </a:p>
        </p:txBody>
      </p:sp>
      <p:sp>
        <p:nvSpPr>
          <p:cNvPr id="40" name="module-text-3"/>
          <p:cNvSpPr/>
          <p:nvPr/>
        </p:nvSpPr>
        <p:spPr>
          <a:xfrm>
            <a:off x="11658600" y="5651500"/>
            <a:ext cx="3556000" cy="279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b="1" dirty="0">
                <a:solidFill>
                  <a:srgbClr val="1E276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Threat modeling &amp; classification</a:t>
            </a:r>
            <a:endParaRPr lang="en-US" sz="1400" dirty="0"/>
          </a:p>
        </p:txBody>
      </p:sp>
      <p:sp>
        <p:nvSpPr>
          <p:cNvPr id="41" name="module-card-4"/>
          <p:cNvSpPr/>
          <p:nvPr/>
        </p:nvSpPr>
        <p:spPr>
          <a:xfrm>
            <a:off x="762000" y="6553200"/>
            <a:ext cx="7112000" cy="73660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module-badge-4"/>
          <p:cNvSpPr/>
          <p:nvPr/>
        </p:nvSpPr>
        <p:spPr>
          <a:xfrm>
            <a:off x="990600" y="6743700"/>
            <a:ext cx="330200" cy="330200"/>
          </a:xfrm>
          <a:prstGeom prst="ellipse">
            <a:avLst/>
          </a:prstGeom>
          <a:solidFill>
            <a:srgbClr val="0E8F63"/>
          </a:solidFill>
        </p:spPr>
      </p:sp>
      <p:sp>
        <p:nvSpPr>
          <p:cNvPr id="43" name="module-badge-text-4"/>
          <p:cNvSpPr/>
          <p:nvPr/>
        </p:nvSpPr>
        <p:spPr>
          <a:xfrm>
            <a:off x="990600" y="6794500"/>
            <a:ext cx="33020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1400" dirty="0"/>
          </a:p>
        </p:txBody>
      </p:sp>
      <p:sp>
        <p:nvSpPr>
          <p:cNvPr id="44" name="module-text-4"/>
          <p:cNvSpPr/>
          <p:nvPr/>
        </p:nvSpPr>
        <p:spPr>
          <a:xfrm>
            <a:off x="1498600" y="6794500"/>
            <a:ext cx="5969000" cy="279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b="1" dirty="0">
                <a:solidFill>
                  <a:srgbClr val="1E276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Dashboard &amp; incident visualization</a:t>
            </a:r>
            <a:endParaRPr lang="en-US" sz="1400" dirty="0"/>
          </a:p>
        </p:txBody>
      </p:sp>
      <p:sp>
        <p:nvSpPr>
          <p:cNvPr id="45" name="module-card-5"/>
          <p:cNvSpPr/>
          <p:nvPr/>
        </p:nvSpPr>
        <p:spPr>
          <a:xfrm>
            <a:off x="8382000" y="6553200"/>
            <a:ext cx="7112000" cy="73660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module-badge-5"/>
          <p:cNvSpPr/>
          <p:nvPr/>
        </p:nvSpPr>
        <p:spPr>
          <a:xfrm>
            <a:off x="8610600" y="6743700"/>
            <a:ext cx="330200" cy="330200"/>
          </a:xfrm>
          <a:prstGeom prst="ellipse">
            <a:avLst/>
          </a:prstGeom>
          <a:solidFill>
            <a:srgbClr val="0E8F63"/>
          </a:solidFill>
        </p:spPr>
      </p:sp>
      <p:sp>
        <p:nvSpPr>
          <p:cNvPr id="47" name="module-badge-text-5"/>
          <p:cNvSpPr/>
          <p:nvPr/>
        </p:nvSpPr>
        <p:spPr>
          <a:xfrm>
            <a:off x="8610600" y="6794500"/>
            <a:ext cx="33020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</a:t>
            </a:r>
            <a:endParaRPr lang="en-US" sz="1400" dirty="0"/>
          </a:p>
        </p:txBody>
      </p:sp>
      <p:sp>
        <p:nvSpPr>
          <p:cNvPr id="48" name="module-text-5"/>
          <p:cNvSpPr/>
          <p:nvPr/>
        </p:nvSpPr>
        <p:spPr>
          <a:xfrm>
            <a:off x="9118600" y="6743700"/>
            <a:ext cx="5969000" cy="279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b="1" dirty="0">
                <a:solidFill>
                  <a:srgbClr val="1E276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Reporting &amp; decision support</a:t>
            </a:r>
            <a:endParaRPr lang="en-US" sz="1400" dirty="0"/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1"/>
          <a:srcRect t="27119" b="14044"/>
          <a:stretch>
            <a:fillRect/>
          </a:stretch>
        </p:blipFill>
        <p:spPr>
          <a:xfrm>
            <a:off x="0" y="0"/>
            <a:ext cx="16256000" cy="745490"/>
          </a:xfrm>
          <a:prstGeom prst="rect">
            <a:avLst/>
          </a:prstGeom>
        </p:spPr>
      </p:pic>
      <p:sp>
        <p:nvSpPr>
          <p:cNvPr id="50" name="Shape 8"/>
          <p:cNvSpPr/>
          <p:nvPr/>
        </p:nvSpPr>
        <p:spPr>
          <a:xfrm>
            <a:off x="15494000" y="8593455"/>
            <a:ext cx="502285" cy="440055"/>
          </a:xfrm>
          <a:prstGeom prst="ellipse">
            <a:avLst/>
          </a:prstGeom>
          <a:solidFill>
            <a:schemeClr val="accent5"/>
          </a:solidFill>
          <a:ln w="15875">
            <a:noFill/>
            <a:prstDash val="solid"/>
          </a:ln>
        </p:spPr>
        <p:txBody>
          <a:bodyPr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2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rule"/>
          <p:cNvSpPr/>
          <p:nvPr/>
        </p:nvSpPr>
        <p:spPr>
          <a:xfrm>
            <a:off x="406400" y="850900"/>
            <a:ext cx="50800" cy="368300"/>
          </a:xfrm>
          <a:prstGeom prst="rect">
            <a:avLst/>
          </a:prstGeom>
          <a:solidFill>
            <a:srgbClr val="0E8F63"/>
          </a:solidFill>
        </p:spPr>
      </p:sp>
      <p:sp>
        <p:nvSpPr>
          <p:cNvPr id="3" name="slide-title"/>
          <p:cNvSpPr/>
          <p:nvPr/>
        </p:nvSpPr>
        <p:spPr>
          <a:xfrm>
            <a:off x="635000" y="736600"/>
            <a:ext cx="11430000" cy="482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000" b="1" dirty="0">
                <a:solidFill>
                  <a:srgbClr val="1E2761"/>
                </a:solidFill>
                <a:latin typeface="Corbel" panose="020B0503020204020204" pitchFamily="34" charset="0"/>
                <a:ea typeface="Corbel" panose="020B0503020204020204" pitchFamily="34" charset="-122"/>
                <a:cs typeface="Corbel" panose="020B0503020204020204" pitchFamily="34" charset="-120"/>
              </a:rPr>
              <a:t>Project Execution Milestones</a:t>
            </a:r>
            <a:endParaRPr lang="en-US" sz="3000" dirty="0"/>
          </a:p>
        </p:txBody>
      </p:sp>
      <p:sp>
        <p:nvSpPr>
          <p:cNvPr id="6" name="slide-number"/>
          <p:cNvSpPr/>
          <p:nvPr/>
        </p:nvSpPr>
        <p:spPr>
          <a:xfrm>
            <a:off x="15113000" y="3556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5A6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1400" dirty="0"/>
          </a:p>
        </p:txBody>
      </p:sp>
      <p:sp>
        <p:nvSpPr>
          <p:cNvPr id="7" name="milestone-card-1"/>
          <p:cNvSpPr/>
          <p:nvPr/>
        </p:nvSpPr>
        <p:spPr>
          <a:xfrm>
            <a:off x="762000" y="1447800"/>
            <a:ext cx="7112000" cy="9906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milestone-badge-1"/>
          <p:cNvSpPr/>
          <p:nvPr/>
        </p:nvSpPr>
        <p:spPr>
          <a:xfrm>
            <a:off x="990600" y="1498600"/>
            <a:ext cx="342900" cy="342900"/>
          </a:xfrm>
          <a:prstGeom prst="ellipse">
            <a:avLst/>
          </a:prstGeom>
          <a:solidFill>
            <a:srgbClr val="2F6FED"/>
          </a:solidFill>
        </p:spPr>
      </p:sp>
      <p:sp>
        <p:nvSpPr>
          <p:cNvPr id="9" name="milestone-badge-text-1"/>
          <p:cNvSpPr/>
          <p:nvPr/>
        </p:nvSpPr>
        <p:spPr>
          <a:xfrm>
            <a:off x="990600" y="1549400"/>
            <a:ext cx="34290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milestone-title-1"/>
          <p:cNvSpPr/>
          <p:nvPr/>
        </p:nvSpPr>
        <p:spPr>
          <a:xfrm>
            <a:off x="1536700" y="1485900"/>
            <a:ext cx="584200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500" b="1" dirty="0">
                <a:solidFill>
                  <a:srgbClr val="1E276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Data Acquisition &amp; Cleaning</a:t>
            </a:r>
            <a:endParaRPr lang="en-US" sz="1500" dirty="0"/>
          </a:p>
        </p:txBody>
      </p:sp>
      <p:sp>
        <p:nvSpPr>
          <p:cNvPr id="11" name="milestone-body-1"/>
          <p:cNvSpPr/>
          <p:nvPr/>
        </p:nvSpPr>
        <p:spPr>
          <a:xfrm>
            <a:off x="1536700" y="1841500"/>
            <a:ext cx="5842000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5A6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Ingest the VCDB and resolve missing or ambiguous values.</a:t>
            </a:r>
            <a:endParaRPr lang="en-US" sz="1400" dirty="0"/>
          </a:p>
        </p:txBody>
      </p:sp>
      <p:sp>
        <p:nvSpPr>
          <p:cNvPr id="12" name="milestone-card-2"/>
          <p:cNvSpPr/>
          <p:nvPr/>
        </p:nvSpPr>
        <p:spPr>
          <a:xfrm>
            <a:off x="8382000" y="1219200"/>
            <a:ext cx="7112000" cy="9906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milestone-badge-2"/>
          <p:cNvSpPr/>
          <p:nvPr/>
        </p:nvSpPr>
        <p:spPr>
          <a:xfrm>
            <a:off x="8610600" y="1498600"/>
            <a:ext cx="342900" cy="342900"/>
          </a:xfrm>
          <a:prstGeom prst="ellipse">
            <a:avLst/>
          </a:prstGeom>
          <a:solidFill>
            <a:srgbClr val="0E8F63"/>
          </a:solidFill>
        </p:spPr>
      </p:sp>
      <p:sp>
        <p:nvSpPr>
          <p:cNvPr id="14" name="milestone-badge-text-2"/>
          <p:cNvSpPr/>
          <p:nvPr/>
        </p:nvSpPr>
        <p:spPr>
          <a:xfrm>
            <a:off x="8610600" y="1549400"/>
            <a:ext cx="34290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milestone-title-2"/>
          <p:cNvSpPr/>
          <p:nvPr/>
        </p:nvSpPr>
        <p:spPr>
          <a:xfrm>
            <a:off x="9156700" y="1384300"/>
            <a:ext cx="584200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500" b="1" dirty="0">
                <a:solidFill>
                  <a:srgbClr val="1E276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Data Modeling</a:t>
            </a:r>
            <a:endParaRPr lang="en-US" sz="1500" dirty="0"/>
          </a:p>
        </p:txBody>
      </p:sp>
      <p:sp>
        <p:nvSpPr>
          <p:cNvPr id="16" name="milestone-body-2"/>
          <p:cNvSpPr/>
          <p:nvPr/>
        </p:nvSpPr>
        <p:spPr>
          <a:xfrm>
            <a:off x="9156700" y="1739900"/>
            <a:ext cx="5842000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5A6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Prepare relationships and analysis-ready threat features.</a:t>
            </a:r>
            <a:endParaRPr lang="en-US" sz="1400" dirty="0"/>
          </a:p>
        </p:txBody>
      </p:sp>
      <p:sp>
        <p:nvSpPr>
          <p:cNvPr id="17" name="milestone-card-3"/>
          <p:cNvSpPr/>
          <p:nvPr/>
        </p:nvSpPr>
        <p:spPr>
          <a:xfrm>
            <a:off x="762000" y="2717800"/>
            <a:ext cx="7112000" cy="9906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milestone-badge-3"/>
          <p:cNvSpPr/>
          <p:nvPr/>
        </p:nvSpPr>
        <p:spPr>
          <a:xfrm>
            <a:off x="990600" y="2717800"/>
            <a:ext cx="342900" cy="342900"/>
          </a:xfrm>
          <a:prstGeom prst="ellipse">
            <a:avLst/>
          </a:prstGeom>
          <a:solidFill>
            <a:srgbClr val="2F6FED"/>
          </a:solidFill>
        </p:spPr>
      </p:sp>
      <p:sp>
        <p:nvSpPr>
          <p:cNvPr id="19" name="milestone-badge-text-3"/>
          <p:cNvSpPr/>
          <p:nvPr/>
        </p:nvSpPr>
        <p:spPr>
          <a:xfrm>
            <a:off x="990600" y="2768600"/>
            <a:ext cx="34290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milestone-title-3"/>
          <p:cNvSpPr/>
          <p:nvPr/>
        </p:nvSpPr>
        <p:spPr>
          <a:xfrm>
            <a:off x="1536700" y="2705100"/>
            <a:ext cx="584200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500" b="1" dirty="0">
                <a:solidFill>
                  <a:srgbClr val="1E276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Development</a:t>
            </a:r>
            <a:endParaRPr lang="en-US" sz="1500" dirty="0"/>
          </a:p>
        </p:txBody>
      </p:sp>
      <p:sp>
        <p:nvSpPr>
          <p:cNvPr id="21" name="milestone-body-3"/>
          <p:cNvSpPr/>
          <p:nvPr/>
        </p:nvSpPr>
        <p:spPr>
          <a:xfrm>
            <a:off x="1536700" y="3162300"/>
            <a:ext cx="5842000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5A6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Build repeatable transformations and interactive dashboards.</a:t>
            </a:r>
            <a:endParaRPr lang="en-US" sz="1400" dirty="0"/>
          </a:p>
        </p:txBody>
      </p:sp>
      <p:sp>
        <p:nvSpPr>
          <p:cNvPr id="22" name="milestone-card-4"/>
          <p:cNvSpPr/>
          <p:nvPr/>
        </p:nvSpPr>
        <p:spPr>
          <a:xfrm>
            <a:off x="8382000" y="2438400"/>
            <a:ext cx="7112000" cy="9906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milestone-badge-4"/>
          <p:cNvSpPr/>
          <p:nvPr/>
        </p:nvSpPr>
        <p:spPr>
          <a:xfrm>
            <a:off x="8610600" y="2717800"/>
            <a:ext cx="342900" cy="342900"/>
          </a:xfrm>
          <a:prstGeom prst="ellipse">
            <a:avLst/>
          </a:prstGeom>
          <a:solidFill>
            <a:srgbClr val="0E8F63"/>
          </a:solidFill>
        </p:spPr>
      </p:sp>
      <p:sp>
        <p:nvSpPr>
          <p:cNvPr id="24" name="milestone-badge-text-4"/>
          <p:cNvSpPr/>
          <p:nvPr/>
        </p:nvSpPr>
        <p:spPr>
          <a:xfrm>
            <a:off x="8610600" y="2768600"/>
            <a:ext cx="34290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milestone-title-4"/>
          <p:cNvSpPr/>
          <p:nvPr/>
        </p:nvSpPr>
        <p:spPr>
          <a:xfrm>
            <a:off x="9156700" y="2603500"/>
            <a:ext cx="584200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500" b="1" dirty="0">
                <a:solidFill>
                  <a:srgbClr val="1E276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Review &amp; Optimization</a:t>
            </a:r>
            <a:endParaRPr lang="en-US" sz="1500" dirty="0"/>
          </a:p>
        </p:txBody>
      </p:sp>
      <p:sp>
        <p:nvSpPr>
          <p:cNvPr id="26" name="milestone-body-4"/>
          <p:cNvSpPr/>
          <p:nvPr/>
        </p:nvSpPr>
        <p:spPr>
          <a:xfrm>
            <a:off x="9156700" y="2959100"/>
            <a:ext cx="5842000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5A6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Validate totals, refine visuals, and package insights.</a:t>
            </a:r>
            <a:endParaRPr lang="en-US" sz="1400" dirty="0"/>
          </a:p>
        </p:txBody>
      </p:sp>
      <p:sp>
        <p:nvSpPr>
          <p:cNvPr id="27" name="workflow-label"/>
          <p:cNvSpPr/>
          <p:nvPr/>
        </p:nvSpPr>
        <p:spPr>
          <a:xfrm>
            <a:off x="762000" y="3937000"/>
            <a:ext cx="2349500" cy="3810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</p:spPr>
      </p:sp>
      <p:sp>
        <p:nvSpPr>
          <p:cNvPr id="28" name="workflow-label-text"/>
          <p:cNvSpPr/>
          <p:nvPr/>
        </p:nvSpPr>
        <p:spPr>
          <a:xfrm>
            <a:off x="965200" y="4013200"/>
            <a:ext cx="195580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F59E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END-TO-END WORKFLOW</a:t>
            </a:r>
            <a:endParaRPr lang="en-US" sz="1400" dirty="0"/>
          </a:p>
        </p:txBody>
      </p:sp>
      <p:sp>
        <p:nvSpPr>
          <p:cNvPr id="53" name="workflow-text-5"/>
          <p:cNvSpPr/>
          <p:nvPr/>
        </p:nvSpPr>
        <p:spPr>
          <a:xfrm>
            <a:off x="11506200" y="5041900"/>
            <a:ext cx="1371600" cy="55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58" name="workflow-takeaway"/>
          <p:cNvSpPr/>
          <p:nvPr/>
        </p:nvSpPr>
        <p:spPr>
          <a:xfrm>
            <a:off x="2286000" y="7623810"/>
            <a:ext cx="11684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altLang="en-US" sz="1800" b="1" dirty="0">
                <a:solidFill>
                  <a:srgbClr val="1E2761"/>
                </a:solidFill>
                <a:latin typeface="Corbel" panose="020B0503020204020204" pitchFamily="34" charset="0"/>
                <a:ea typeface="Corbel" panose="020B0503020204020204" pitchFamily="34" charset="-122"/>
                <a:cs typeface="Corbel" panose="020B0503020204020204" pitchFamily="34" charset="-120"/>
              </a:rPr>
              <a:t>From raw incident records to decision-ready security insight</a:t>
            </a:r>
            <a:endParaRPr lang="en-US" sz="1800" dirty="0"/>
          </a:p>
        </p:txBody>
      </p:sp>
      <p:sp>
        <p:nvSpPr>
          <p:cNvPr id="59" name="workflow-note"/>
          <p:cNvSpPr/>
          <p:nvPr/>
        </p:nvSpPr>
        <p:spPr>
          <a:xfrm>
            <a:off x="2921000" y="8007350"/>
            <a:ext cx="10414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altLang="en-US" sz="1400" dirty="0">
                <a:solidFill>
                  <a:srgbClr val="5A6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workflow preserves record counts while turning noisy event data into structured, explainable outputs.</a:t>
            </a:r>
            <a:endParaRPr lang="en-US" sz="1400" dirty="0"/>
          </a:p>
        </p:txBody>
      </p:sp>
      <p:sp>
        <p:nvSpPr>
          <p:cNvPr id="60" name="Shape 8"/>
          <p:cNvSpPr/>
          <p:nvPr/>
        </p:nvSpPr>
        <p:spPr>
          <a:xfrm>
            <a:off x="15494000" y="8593455"/>
            <a:ext cx="502285" cy="440055"/>
          </a:xfrm>
          <a:prstGeom prst="ellipse">
            <a:avLst/>
          </a:prstGeom>
          <a:solidFill>
            <a:schemeClr val="accent5"/>
          </a:solidFill>
          <a:ln w="15875">
            <a:noFill/>
            <a:prstDash val="solid"/>
          </a:ln>
        </p:spPr>
        <p:txBody>
          <a:bodyPr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3</a:t>
            </a:r>
            <a:endParaRPr lang="en-US"/>
          </a:p>
        </p:txBody>
      </p:sp>
      <p:pic>
        <p:nvPicPr>
          <p:cNvPr id="61" name="Picture 60"/>
          <p:cNvPicPr>
            <a:picLocks noChangeAspect="1"/>
          </p:cNvPicPr>
          <p:nvPr/>
        </p:nvPicPr>
        <p:blipFill>
          <a:blip r:embed="rId1"/>
          <a:srcRect t="27119" b="14044"/>
          <a:stretch>
            <a:fillRect/>
          </a:stretch>
        </p:blipFill>
        <p:spPr>
          <a:xfrm>
            <a:off x="0" y="0"/>
            <a:ext cx="16256000" cy="745490"/>
          </a:xfrm>
          <a:prstGeom prst="rect">
            <a:avLst/>
          </a:prstGeom>
        </p:spPr>
      </p:pic>
      <p:pic>
        <p:nvPicPr>
          <p:cNvPr id="62" name="Picture 61" descr="ChatGPT Image Aug 17, 2026, 10_49_40 AM"/>
          <p:cNvPicPr>
            <a:picLocks noChangeAspect="1"/>
          </p:cNvPicPr>
          <p:nvPr/>
        </p:nvPicPr>
        <p:blipFill>
          <a:blip r:embed="rId2"/>
          <a:srcRect t="21608" b="14053"/>
          <a:stretch>
            <a:fillRect/>
          </a:stretch>
        </p:blipFill>
        <p:spPr>
          <a:xfrm>
            <a:off x="1120775" y="4483100"/>
            <a:ext cx="13288645" cy="30740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rule"/>
          <p:cNvSpPr/>
          <p:nvPr/>
        </p:nvSpPr>
        <p:spPr>
          <a:xfrm>
            <a:off x="406400" y="850900"/>
            <a:ext cx="50800" cy="368300"/>
          </a:xfrm>
          <a:prstGeom prst="rect">
            <a:avLst/>
          </a:prstGeom>
          <a:solidFill>
            <a:srgbClr val="0E8F63"/>
          </a:solidFill>
        </p:spPr>
      </p:sp>
      <p:sp>
        <p:nvSpPr>
          <p:cNvPr id="3" name="slide-title"/>
          <p:cNvSpPr/>
          <p:nvPr/>
        </p:nvSpPr>
        <p:spPr>
          <a:xfrm>
            <a:off x="635000" y="798195"/>
            <a:ext cx="11430000" cy="482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000" b="1" dirty="0">
                <a:solidFill>
                  <a:srgbClr val="1E2761"/>
                </a:solidFill>
                <a:latin typeface="Corbel" panose="020B0503020204020204" pitchFamily="34" charset="0"/>
                <a:ea typeface="Corbel" panose="020B0503020204020204" pitchFamily="34" charset="-122"/>
                <a:cs typeface="Corbel" panose="020B0503020204020204" pitchFamily="34" charset="-120"/>
              </a:rPr>
              <a:t>Challenges &amp; Resolutions</a:t>
            </a:r>
            <a:endParaRPr lang="en-US" altLang="en-US" sz="3000" b="1" dirty="0">
              <a:solidFill>
                <a:srgbClr val="1E2761"/>
              </a:solidFill>
              <a:latin typeface="Corbel" panose="020B0503020204020204" pitchFamily="34" charset="0"/>
              <a:ea typeface="Corbel" panose="020B0503020204020204" pitchFamily="34" charset="-122"/>
              <a:cs typeface="Corbel" panose="020B0503020204020204" pitchFamily="34" charset="-120"/>
            </a:endParaRPr>
          </a:p>
        </p:txBody>
      </p:sp>
      <p:sp>
        <p:nvSpPr>
          <p:cNvPr id="4" name="slide-number"/>
          <p:cNvSpPr/>
          <p:nvPr/>
        </p:nvSpPr>
        <p:spPr>
          <a:xfrm>
            <a:off x="15113000" y="3556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5A6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04</a:t>
            </a:r>
            <a:endParaRPr lang="en-US" sz="1400" dirty="0"/>
          </a:p>
        </p:txBody>
      </p:sp>
      <p:sp>
        <p:nvSpPr>
          <p:cNvPr id="5" name="challenge-tag"/>
          <p:cNvSpPr/>
          <p:nvPr/>
        </p:nvSpPr>
        <p:spPr>
          <a:xfrm>
            <a:off x="762000" y="1428750"/>
            <a:ext cx="1714500" cy="381000"/>
          </a:xfrm>
          <a:prstGeom prst="roundRect">
            <a:avLst>
              <a:gd name="adj" fmla="val 50000"/>
            </a:avLst>
          </a:prstGeom>
          <a:solidFill>
            <a:srgbClr val="FFF1F1"/>
          </a:solidFill>
        </p:spPr>
      </p:sp>
      <p:sp>
        <p:nvSpPr>
          <p:cNvPr id="6" name="challenge-tag-text"/>
          <p:cNvSpPr/>
          <p:nvPr/>
        </p:nvSpPr>
        <p:spPr>
          <a:xfrm>
            <a:off x="914400" y="1511300"/>
            <a:ext cx="1397000" cy="2159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C2414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CHALLENGES</a:t>
            </a:r>
            <a:endParaRPr lang="en-US" sz="1400" dirty="0"/>
          </a:p>
        </p:txBody>
      </p:sp>
      <p:sp>
        <p:nvSpPr>
          <p:cNvPr id="7" name="resolution-tag"/>
          <p:cNvSpPr/>
          <p:nvPr/>
        </p:nvSpPr>
        <p:spPr>
          <a:xfrm>
            <a:off x="8382000" y="1219200"/>
            <a:ext cx="1841500" cy="381000"/>
          </a:xfrm>
          <a:prstGeom prst="roundRect">
            <a:avLst>
              <a:gd name="adj" fmla="val 50000"/>
            </a:avLst>
          </a:prstGeom>
          <a:solidFill>
            <a:srgbClr val="E9F6F0"/>
          </a:solidFill>
        </p:spPr>
      </p:sp>
      <p:sp>
        <p:nvSpPr>
          <p:cNvPr id="8" name="resolution-tag-text"/>
          <p:cNvSpPr/>
          <p:nvPr/>
        </p:nvSpPr>
        <p:spPr>
          <a:xfrm>
            <a:off x="8547100" y="1295400"/>
            <a:ext cx="1524000" cy="2159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0E8F6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RESOLUTIONS</a:t>
            </a:r>
            <a:endParaRPr lang="en-US" sz="1400" dirty="0"/>
          </a:p>
        </p:txBody>
      </p:sp>
      <p:sp>
        <p:nvSpPr>
          <p:cNvPr id="9" name="challenge-card-1"/>
          <p:cNvSpPr/>
          <p:nvPr/>
        </p:nvSpPr>
        <p:spPr>
          <a:xfrm>
            <a:off x="762000" y="1905000"/>
            <a:ext cx="71120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0C7CC"/>
            </a:solidFill>
            <a:prstDash val="solid"/>
          </a:ln>
        </p:spPr>
      </p:sp>
      <p:sp>
        <p:nvSpPr>
          <p:cNvPr id="10" name="challenge-badge-1"/>
          <p:cNvSpPr/>
          <p:nvPr/>
        </p:nvSpPr>
        <p:spPr>
          <a:xfrm>
            <a:off x="1016000" y="2298700"/>
            <a:ext cx="330200" cy="330200"/>
          </a:xfrm>
          <a:prstGeom prst="ellipse">
            <a:avLst/>
          </a:prstGeom>
          <a:solidFill>
            <a:srgbClr val="C2414C"/>
          </a:solidFill>
        </p:spPr>
      </p:sp>
      <p:sp>
        <p:nvSpPr>
          <p:cNvPr id="11" name="challenge-badge-text-1"/>
          <p:cNvSpPr/>
          <p:nvPr/>
        </p:nvSpPr>
        <p:spPr>
          <a:xfrm>
            <a:off x="1016000" y="2349500"/>
            <a:ext cx="330200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challenge-title-1"/>
          <p:cNvSpPr/>
          <p:nvPr/>
        </p:nvSpPr>
        <p:spPr>
          <a:xfrm>
            <a:off x="1574800" y="2108200"/>
            <a:ext cx="558800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1E276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High-volume records</a:t>
            </a:r>
            <a:endParaRPr lang="en-US" sz="1600" dirty="0"/>
          </a:p>
        </p:txBody>
      </p:sp>
      <p:sp>
        <p:nvSpPr>
          <p:cNvPr id="13" name="challenge-body-1"/>
          <p:cNvSpPr/>
          <p:nvPr/>
        </p:nvSpPr>
        <p:spPr>
          <a:xfrm>
            <a:off x="1574800" y="2514600"/>
            <a:ext cx="57150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5A6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Large, inconsistent incident logs made manual review slow.</a:t>
            </a:r>
            <a:endParaRPr lang="en-US" sz="1400" dirty="0"/>
          </a:p>
        </p:txBody>
      </p:sp>
      <p:sp>
        <p:nvSpPr>
          <p:cNvPr id="14" name="resolution-card-1"/>
          <p:cNvSpPr/>
          <p:nvPr/>
        </p:nvSpPr>
        <p:spPr>
          <a:xfrm>
            <a:off x="8382000" y="1905000"/>
            <a:ext cx="71120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E8D9"/>
            </a:solidFill>
            <a:prstDash val="solid"/>
          </a:ln>
        </p:spPr>
      </p:sp>
      <p:sp>
        <p:nvSpPr>
          <p:cNvPr id="15" name="resolution-badge-1"/>
          <p:cNvSpPr/>
          <p:nvPr/>
        </p:nvSpPr>
        <p:spPr>
          <a:xfrm>
            <a:off x="8636000" y="2298700"/>
            <a:ext cx="330200" cy="330200"/>
          </a:xfrm>
          <a:prstGeom prst="ellipse">
            <a:avLst/>
          </a:prstGeom>
          <a:solidFill>
            <a:srgbClr val="0E8F63"/>
          </a:solidFill>
        </p:spPr>
      </p:sp>
      <p:sp>
        <p:nvSpPr>
          <p:cNvPr id="16" name="resolution-badge-text-1"/>
          <p:cNvSpPr/>
          <p:nvPr/>
        </p:nvSpPr>
        <p:spPr>
          <a:xfrm>
            <a:off x="8636000" y="2349500"/>
            <a:ext cx="330200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resolution-title-1"/>
          <p:cNvSpPr/>
          <p:nvPr/>
        </p:nvSpPr>
        <p:spPr>
          <a:xfrm>
            <a:off x="9194800" y="2108200"/>
            <a:ext cx="558800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1E276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Repeatable cleaning pipeline</a:t>
            </a:r>
            <a:endParaRPr lang="en-US" sz="1600" dirty="0"/>
          </a:p>
        </p:txBody>
      </p:sp>
      <p:sp>
        <p:nvSpPr>
          <p:cNvPr id="18" name="resolution-body-1"/>
          <p:cNvSpPr/>
          <p:nvPr/>
        </p:nvSpPr>
        <p:spPr>
          <a:xfrm>
            <a:off x="9194800" y="2514600"/>
            <a:ext cx="57150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5A6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Standardized records through Power Query transformation steps.</a:t>
            </a:r>
            <a:endParaRPr lang="en-US" sz="1400" dirty="0"/>
          </a:p>
        </p:txBody>
      </p:sp>
      <p:sp>
        <p:nvSpPr>
          <p:cNvPr id="19" name="challenge-card-2"/>
          <p:cNvSpPr/>
          <p:nvPr/>
        </p:nvSpPr>
        <p:spPr>
          <a:xfrm>
            <a:off x="762000" y="3403600"/>
            <a:ext cx="71120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0C7CC"/>
            </a:solidFill>
            <a:prstDash val="solid"/>
          </a:ln>
        </p:spPr>
      </p:sp>
      <p:sp>
        <p:nvSpPr>
          <p:cNvPr id="20" name="challenge-badge-2"/>
          <p:cNvSpPr/>
          <p:nvPr/>
        </p:nvSpPr>
        <p:spPr>
          <a:xfrm>
            <a:off x="1016000" y="3797300"/>
            <a:ext cx="330200" cy="330200"/>
          </a:xfrm>
          <a:prstGeom prst="ellipse">
            <a:avLst/>
          </a:prstGeom>
          <a:solidFill>
            <a:srgbClr val="C2414C"/>
          </a:solidFill>
        </p:spPr>
      </p:sp>
      <p:sp>
        <p:nvSpPr>
          <p:cNvPr id="21" name="challenge-badge-text-2"/>
          <p:cNvSpPr/>
          <p:nvPr/>
        </p:nvSpPr>
        <p:spPr>
          <a:xfrm>
            <a:off x="1016000" y="3848100"/>
            <a:ext cx="330200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challenge-title-2"/>
          <p:cNvSpPr/>
          <p:nvPr/>
        </p:nvSpPr>
        <p:spPr>
          <a:xfrm>
            <a:off x="1574800" y="3606800"/>
            <a:ext cx="558800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1E276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Missing or ambiguous fields</a:t>
            </a:r>
            <a:endParaRPr lang="en-US" sz="1600" dirty="0"/>
          </a:p>
        </p:txBody>
      </p:sp>
      <p:sp>
        <p:nvSpPr>
          <p:cNvPr id="23" name="challenge-body-2"/>
          <p:cNvSpPr/>
          <p:nvPr/>
        </p:nvSpPr>
        <p:spPr>
          <a:xfrm>
            <a:off x="1574800" y="4013200"/>
            <a:ext cx="57150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5A6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Blank months, motives, actor classes, and countries weakened completeness.</a:t>
            </a:r>
            <a:endParaRPr lang="en-US" sz="1400" dirty="0"/>
          </a:p>
        </p:txBody>
      </p:sp>
      <p:sp>
        <p:nvSpPr>
          <p:cNvPr id="24" name="resolution-card-2"/>
          <p:cNvSpPr/>
          <p:nvPr/>
        </p:nvSpPr>
        <p:spPr>
          <a:xfrm>
            <a:off x="8382000" y="3403600"/>
            <a:ext cx="71120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E8D9"/>
            </a:solidFill>
            <a:prstDash val="solid"/>
          </a:ln>
        </p:spPr>
      </p:sp>
      <p:sp>
        <p:nvSpPr>
          <p:cNvPr id="25" name="resolution-badge-2"/>
          <p:cNvSpPr/>
          <p:nvPr/>
        </p:nvSpPr>
        <p:spPr>
          <a:xfrm>
            <a:off x="8636000" y="3797300"/>
            <a:ext cx="330200" cy="330200"/>
          </a:xfrm>
          <a:prstGeom prst="ellipse">
            <a:avLst/>
          </a:prstGeom>
          <a:solidFill>
            <a:srgbClr val="0E8F63"/>
          </a:solidFill>
        </p:spPr>
      </p:sp>
      <p:sp>
        <p:nvSpPr>
          <p:cNvPr id="26" name="resolution-badge-text-2"/>
          <p:cNvSpPr/>
          <p:nvPr/>
        </p:nvSpPr>
        <p:spPr>
          <a:xfrm>
            <a:off x="8636000" y="3848100"/>
            <a:ext cx="330200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resolution-title-2"/>
          <p:cNvSpPr/>
          <p:nvPr/>
        </p:nvSpPr>
        <p:spPr>
          <a:xfrm>
            <a:off x="9194800" y="3606800"/>
            <a:ext cx="558800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1E276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Neutral classification rules</a:t>
            </a:r>
            <a:endParaRPr lang="en-US" sz="1600" dirty="0"/>
          </a:p>
        </p:txBody>
      </p:sp>
      <p:sp>
        <p:nvSpPr>
          <p:cNvPr id="28" name="resolution-body-2"/>
          <p:cNvSpPr/>
          <p:nvPr/>
        </p:nvSpPr>
        <p:spPr>
          <a:xfrm>
            <a:off x="9194800" y="4013200"/>
            <a:ext cx="57150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5A6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Applied consistent labels for missing or unknown values.</a:t>
            </a:r>
            <a:endParaRPr lang="en-US" sz="1400" dirty="0"/>
          </a:p>
        </p:txBody>
      </p:sp>
      <p:sp>
        <p:nvSpPr>
          <p:cNvPr id="29" name="challenge-card-3"/>
          <p:cNvSpPr/>
          <p:nvPr/>
        </p:nvSpPr>
        <p:spPr>
          <a:xfrm>
            <a:off x="762000" y="4902200"/>
            <a:ext cx="71120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0C7CC"/>
            </a:solidFill>
            <a:prstDash val="solid"/>
          </a:ln>
        </p:spPr>
      </p:sp>
      <p:sp>
        <p:nvSpPr>
          <p:cNvPr id="30" name="challenge-badge-3"/>
          <p:cNvSpPr/>
          <p:nvPr/>
        </p:nvSpPr>
        <p:spPr>
          <a:xfrm>
            <a:off x="1016000" y="5295900"/>
            <a:ext cx="330200" cy="330200"/>
          </a:xfrm>
          <a:prstGeom prst="ellipse">
            <a:avLst/>
          </a:prstGeom>
          <a:solidFill>
            <a:srgbClr val="C2414C"/>
          </a:solidFill>
        </p:spPr>
      </p:sp>
      <p:sp>
        <p:nvSpPr>
          <p:cNvPr id="31" name="challenge-badge-text-3"/>
          <p:cNvSpPr/>
          <p:nvPr/>
        </p:nvSpPr>
        <p:spPr>
          <a:xfrm>
            <a:off x="1016000" y="5346700"/>
            <a:ext cx="330200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challenge-title-3"/>
          <p:cNvSpPr/>
          <p:nvPr/>
        </p:nvSpPr>
        <p:spPr>
          <a:xfrm>
            <a:off x="1574800" y="5105400"/>
            <a:ext cx="558800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1E276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Complex categorical dimensions</a:t>
            </a:r>
            <a:endParaRPr lang="en-US" sz="1600" dirty="0"/>
          </a:p>
        </p:txBody>
      </p:sp>
      <p:sp>
        <p:nvSpPr>
          <p:cNvPr id="33" name="challenge-body-3"/>
          <p:cNvSpPr/>
          <p:nvPr/>
        </p:nvSpPr>
        <p:spPr>
          <a:xfrm>
            <a:off x="1574800" y="5511800"/>
            <a:ext cx="57150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5A6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Many variables made threat patterns hard to compare at a glance.</a:t>
            </a:r>
            <a:endParaRPr lang="en-US" sz="1400" dirty="0"/>
          </a:p>
        </p:txBody>
      </p:sp>
      <p:sp>
        <p:nvSpPr>
          <p:cNvPr id="34" name="resolution-card-3"/>
          <p:cNvSpPr/>
          <p:nvPr/>
        </p:nvSpPr>
        <p:spPr>
          <a:xfrm>
            <a:off x="8382000" y="4902200"/>
            <a:ext cx="71120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E8D9"/>
            </a:solidFill>
            <a:prstDash val="solid"/>
          </a:ln>
        </p:spPr>
      </p:sp>
      <p:sp>
        <p:nvSpPr>
          <p:cNvPr id="35" name="resolution-badge-3"/>
          <p:cNvSpPr/>
          <p:nvPr/>
        </p:nvSpPr>
        <p:spPr>
          <a:xfrm>
            <a:off x="8636000" y="5295900"/>
            <a:ext cx="330200" cy="330200"/>
          </a:xfrm>
          <a:prstGeom prst="ellipse">
            <a:avLst/>
          </a:prstGeom>
          <a:solidFill>
            <a:srgbClr val="0E8F63"/>
          </a:solidFill>
        </p:spPr>
      </p:sp>
      <p:sp>
        <p:nvSpPr>
          <p:cNvPr id="36" name="resolution-badge-text-3"/>
          <p:cNvSpPr/>
          <p:nvPr/>
        </p:nvSpPr>
        <p:spPr>
          <a:xfrm>
            <a:off x="8636000" y="5346700"/>
            <a:ext cx="330200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resolution-title-3"/>
          <p:cNvSpPr/>
          <p:nvPr/>
        </p:nvSpPr>
        <p:spPr>
          <a:xfrm>
            <a:off x="9194800" y="5105400"/>
            <a:ext cx="558800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1E276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Analyst-friendly dashboards</a:t>
            </a:r>
            <a:endParaRPr lang="en-US" sz="1600" dirty="0"/>
          </a:p>
        </p:txBody>
      </p:sp>
      <p:sp>
        <p:nvSpPr>
          <p:cNvPr id="38" name="resolution-body-3"/>
          <p:cNvSpPr/>
          <p:nvPr/>
        </p:nvSpPr>
        <p:spPr>
          <a:xfrm>
            <a:off x="9194800" y="5511800"/>
            <a:ext cx="57150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5A6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Used filters, KPIs, charts, and geographic views to surface trends.</a:t>
            </a:r>
            <a:endParaRPr lang="en-US" sz="1400" dirty="0"/>
          </a:p>
        </p:txBody>
      </p:sp>
      <p:sp>
        <p:nvSpPr>
          <p:cNvPr id="39" name="outcome-band"/>
          <p:cNvSpPr/>
          <p:nvPr/>
        </p:nvSpPr>
        <p:spPr>
          <a:xfrm>
            <a:off x="762000" y="6959600"/>
            <a:ext cx="14732000" cy="787400"/>
          </a:xfrm>
          <a:prstGeom prst="roundRect">
            <a:avLst>
              <a:gd name="adj" fmla="val 19355"/>
            </a:avLst>
          </a:prstGeom>
          <a:solidFill>
            <a:srgbClr val="EAF1FB"/>
          </a:solidFill>
        </p:spPr>
      </p:sp>
      <p:sp>
        <p:nvSpPr>
          <p:cNvPr id="40" name="outcome-text"/>
          <p:cNvSpPr/>
          <p:nvPr/>
        </p:nvSpPr>
        <p:spPr>
          <a:xfrm>
            <a:off x="1270000" y="7213600"/>
            <a:ext cx="13716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altLang="en-US" sz="1600" b="1" dirty="0">
                <a:solidFill>
                  <a:srgbClr val="1E276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Outcome: a cleaner, more comparable dataset with faster paths from incident evidence to analyst action.</a:t>
            </a:r>
            <a:endParaRPr lang="en-US" sz="1600" dirty="0"/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1"/>
          <a:srcRect t="27119" b="14044"/>
          <a:stretch>
            <a:fillRect/>
          </a:stretch>
        </p:blipFill>
        <p:spPr>
          <a:xfrm>
            <a:off x="0" y="0"/>
            <a:ext cx="16256000" cy="745490"/>
          </a:xfrm>
          <a:prstGeom prst="rect">
            <a:avLst/>
          </a:prstGeom>
        </p:spPr>
      </p:pic>
      <p:sp>
        <p:nvSpPr>
          <p:cNvPr id="60" name="Shape 8"/>
          <p:cNvSpPr/>
          <p:nvPr/>
        </p:nvSpPr>
        <p:spPr>
          <a:xfrm>
            <a:off x="15494000" y="8593455"/>
            <a:ext cx="502285" cy="440055"/>
          </a:xfrm>
          <a:prstGeom prst="ellipse">
            <a:avLst/>
          </a:prstGeom>
          <a:solidFill>
            <a:schemeClr val="accent5"/>
          </a:solidFill>
          <a:ln w="15875">
            <a:noFill/>
            <a:prstDash val="solid"/>
          </a:ln>
        </p:spPr>
        <p:txBody>
          <a:bodyPr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4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rule"/>
          <p:cNvSpPr/>
          <p:nvPr/>
        </p:nvSpPr>
        <p:spPr>
          <a:xfrm>
            <a:off x="457200" y="838200"/>
            <a:ext cx="50800" cy="368300"/>
          </a:xfrm>
          <a:prstGeom prst="rect">
            <a:avLst/>
          </a:prstGeom>
          <a:solidFill>
            <a:srgbClr val="0E8F63"/>
          </a:solidFill>
        </p:spPr>
      </p:sp>
      <p:sp>
        <p:nvSpPr>
          <p:cNvPr id="3" name="slide-title"/>
          <p:cNvSpPr/>
          <p:nvPr/>
        </p:nvSpPr>
        <p:spPr>
          <a:xfrm>
            <a:off x="635000" y="838200"/>
            <a:ext cx="12700000" cy="482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000" b="1" dirty="0">
                <a:solidFill>
                  <a:srgbClr val="1E2761"/>
                </a:solidFill>
                <a:latin typeface="Corbel" panose="020B0503020204020204" pitchFamily="34" charset="0"/>
                <a:ea typeface="Corbel" panose="020B0503020204020204" pitchFamily="34" charset="-122"/>
                <a:cs typeface="Corbel" panose="020B0503020204020204" pitchFamily="34" charset="-120"/>
              </a:rPr>
              <a:t>Future Enhancements &amp; Key Insights</a:t>
            </a:r>
            <a:endParaRPr lang="en-US" sz="3000" dirty="0"/>
          </a:p>
        </p:txBody>
      </p:sp>
      <p:sp>
        <p:nvSpPr>
          <p:cNvPr id="4" name="slide-number"/>
          <p:cNvSpPr/>
          <p:nvPr/>
        </p:nvSpPr>
        <p:spPr>
          <a:xfrm>
            <a:off x="15113000" y="3556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5A6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05</a:t>
            </a:r>
            <a:endParaRPr lang="en-US" sz="1400" dirty="0"/>
          </a:p>
        </p:txBody>
      </p:sp>
      <p:sp>
        <p:nvSpPr>
          <p:cNvPr id="5" name="enhancements-tag"/>
          <p:cNvSpPr/>
          <p:nvPr/>
        </p:nvSpPr>
        <p:spPr>
          <a:xfrm>
            <a:off x="762000" y="1397000"/>
            <a:ext cx="2476500" cy="3810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</p:spPr>
      </p:sp>
      <p:sp>
        <p:nvSpPr>
          <p:cNvPr id="6" name="enhancements-tag-text"/>
          <p:cNvSpPr/>
          <p:nvPr/>
        </p:nvSpPr>
        <p:spPr>
          <a:xfrm>
            <a:off x="939800" y="1562100"/>
            <a:ext cx="2120900" cy="2159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2F6FE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FUTURE ENHANCEMENTS</a:t>
            </a:r>
            <a:endParaRPr lang="en-US" sz="1400" dirty="0"/>
          </a:p>
        </p:txBody>
      </p:sp>
      <p:sp>
        <p:nvSpPr>
          <p:cNvPr id="7" name="insights-tag"/>
          <p:cNvSpPr/>
          <p:nvPr/>
        </p:nvSpPr>
        <p:spPr>
          <a:xfrm>
            <a:off x="8636000" y="1219200"/>
            <a:ext cx="1714500" cy="381000"/>
          </a:xfrm>
          <a:prstGeom prst="roundRect">
            <a:avLst>
              <a:gd name="adj" fmla="val 50000"/>
            </a:avLst>
          </a:prstGeom>
          <a:solidFill>
            <a:srgbClr val="E9F6F0"/>
          </a:solidFill>
        </p:spPr>
      </p:sp>
      <p:sp>
        <p:nvSpPr>
          <p:cNvPr id="8" name="insights-tag-text"/>
          <p:cNvSpPr/>
          <p:nvPr/>
        </p:nvSpPr>
        <p:spPr>
          <a:xfrm>
            <a:off x="8801100" y="1295400"/>
            <a:ext cx="1371600" cy="2159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0E8F6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9" name="enhancement-card-1"/>
          <p:cNvSpPr/>
          <p:nvPr/>
        </p:nvSpPr>
        <p:spPr>
          <a:xfrm>
            <a:off x="762000" y="1905000"/>
            <a:ext cx="6858000" cy="8890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enhancement-badge-1"/>
          <p:cNvSpPr/>
          <p:nvPr/>
        </p:nvSpPr>
        <p:spPr>
          <a:xfrm>
            <a:off x="1016000" y="2184400"/>
            <a:ext cx="330200" cy="330200"/>
          </a:xfrm>
          <a:prstGeom prst="ellipse">
            <a:avLst/>
          </a:prstGeom>
          <a:solidFill>
            <a:srgbClr val="2F6FED"/>
          </a:solidFill>
        </p:spPr>
      </p:sp>
      <p:sp>
        <p:nvSpPr>
          <p:cNvPr id="11" name="enhancement-badge-text-1"/>
          <p:cNvSpPr/>
          <p:nvPr/>
        </p:nvSpPr>
        <p:spPr>
          <a:xfrm>
            <a:off x="1016000" y="2235200"/>
            <a:ext cx="33020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enhancement-text-1"/>
          <p:cNvSpPr/>
          <p:nvPr/>
        </p:nvSpPr>
        <p:spPr>
          <a:xfrm>
            <a:off x="1574800" y="2197100"/>
            <a:ext cx="546100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1E276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Near-real-time data ingestion</a:t>
            </a:r>
            <a:endParaRPr lang="en-US" sz="1600" dirty="0"/>
          </a:p>
        </p:txBody>
      </p:sp>
      <p:sp>
        <p:nvSpPr>
          <p:cNvPr id="13" name="enhancement-card-2"/>
          <p:cNvSpPr/>
          <p:nvPr/>
        </p:nvSpPr>
        <p:spPr>
          <a:xfrm>
            <a:off x="762000" y="3022600"/>
            <a:ext cx="6858000" cy="8890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enhancement-badge-2"/>
          <p:cNvSpPr/>
          <p:nvPr/>
        </p:nvSpPr>
        <p:spPr>
          <a:xfrm>
            <a:off x="1016000" y="3302000"/>
            <a:ext cx="330200" cy="330200"/>
          </a:xfrm>
          <a:prstGeom prst="ellipse">
            <a:avLst/>
          </a:prstGeom>
          <a:solidFill>
            <a:srgbClr val="2F6FED"/>
          </a:solidFill>
        </p:spPr>
      </p:sp>
      <p:sp>
        <p:nvSpPr>
          <p:cNvPr id="15" name="enhancement-badge-text-2"/>
          <p:cNvSpPr/>
          <p:nvPr/>
        </p:nvSpPr>
        <p:spPr>
          <a:xfrm>
            <a:off x="1016000" y="3352800"/>
            <a:ext cx="33020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enhancement-text-2"/>
          <p:cNvSpPr/>
          <p:nvPr/>
        </p:nvSpPr>
        <p:spPr>
          <a:xfrm>
            <a:off x="1574800" y="3314700"/>
            <a:ext cx="546100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1E276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Advanced ML and anomaly detection</a:t>
            </a:r>
            <a:endParaRPr lang="en-US" sz="1600" dirty="0"/>
          </a:p>
        </p:txBody>
      </p:sp>
      <p:sp>
        <p:nvSpPr>
          <p:cNvPr id="17" name="enhancement-card-3"/>
          <p:cNvSpPr/>
          <p:nvPr/>
        </p:nvSpPr>
        <p:spPr>
          <a:xfrm>
            <a:off x="762000" y="4140200"/>
            <a:ext cx="6858000" cy="8890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enhancement-badge-3"/>
          <p:cNvSpPr/>
          <p:nvPr/>
        </p:nvSpPr>
        <p:spPr>
          <a:xfrm>
            <a:off x="1016000" y="4419600"/>
            <a:ext cx="330200" cy="330200"/>
          </a:xfrm>
          <a:prstGeom prst="ellipse">
            <a:avLst/>
          </a:prstGeom>
          <a:solidFill>
            <a:srgbClr val="2F6FED"/>
          </a:solidFill>
        </p:spPr>
      </p:sp>
      <p:sp>
        <p:nvSpPr>
          <p:cNvPr id="19" name="enhancement-badge-text-3"/>
          <p:cNvSpPr/>
          <p:nvPr/>
        </p:nvSpPr>
        <p:spPr>
          <a:xfrm>
            <a:off x="1016000" y="4470400"/>
            <a:ext cx="33020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enhancement-text-3"/>
          <p:cNvSpPr/>
          <p:nvPr/>
        </p:nvSpPr>
        <p:spPr>
          <a:xfrm>
            <a:off x="1574800" y="4432300"/>
            <a:ext cx="546100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1E276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Alerting and role-based dashboards</a:t>
            </a:r>
            <a:endParaRPr lang="en-US" sz="1600" dirty="0"/>
          </a:p>
        </p:txBody>
      </p:sp>
      <p:sp>
        <p:nvSpPr>
          <p:cNvPr id="21" name="enhancement-card-4"/>
          <p:cNvSpPr/>
          <p:nvPr/>
        </p:nvSpPr>
        <p:spPr>
          <a:xfrm>
            <a:off x="762000" y="5257800"/>
            <a:ext cx="6858000" cy="8890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enhancement-badge-4"/>
          <p:cNvSpPr/>
          <p:nvPr/>
        </p:nvSpPr>
        <p:spPr>
          <a:xfrm>
            <a:off x="1016000" y="5537200"/>
            <a:ext cx="330200" cy="330200"/>
          </a:xfrm>
          <a:prstGeom prst="ellipse">
            <a:avLst/>
          </a:prstGeom>
          <a:solidFill>
            <a:srgbClr val="2F6FED"/>
          </a:solidFill>
        </p:spPr>
      </p:sp>
      <p:sp>
        <p:nvSpPr>
          <p:cNvPr id="23" name="enhancement-badge-text-4"/>
          <p:cNvSpPr/>
          <p:nvPr/>
        </p:nvSpPr>
        <p:spPr>
          <a:xfrm>
            <a:off x="1016000" y="5588000"/>
            <a:ext cx="33020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enhancement-text-4"/>
          <p:cNvSpPr/>
          <p:nvPr/>
        </p:nvSpPr>
        <p:spPr>
          <a:xfrm>
            <a:off x="1574800" y="5549900"/>
            <a:ext cx="546100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1E276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SIEM and streaming-log integrations</a:t>
            </a:r>
            <a:endParaRPr lang="en-US" sz="1600" dirty="0"/>
          </a:p>
        </p:txBody>
      </p:sp>
      <p:sp>
        <p:nvSpPr>
          <p:cNvPr id="25" name="insight-card-1"/>
          <p:cNvSpPr/>
          <p:nvPr/>
        </p:nvSpPr>
        <p:spPr>
          <a:xfrm>
            <a:off x="8636000" y="1905000"/>
            <a:ext cx="6858000" cy="119380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2700">
            <a:solidFill>
              <a:srgbClr val="C8E8D9"/>
            </a:solidFill>
            <a:prstDash val="solid"/>
          </a:ln>
        </p:spPr>
      </p:sp>
      <p:sp>
        <p:nvSpPr>
          <p:cNvPr id="26" name="insight-badge-1"/>
          <p:cNvSpPr/>
          <p:nvPr/>
        </p:nvSpPr>
        <p:spPr>
          <a:xfrm>
            <a:off x="8890000" y="2311400"/>
            <a:ext cx="330200" cy="330200"/>
          </a:xfrm>
          <a:prstGeom prst="ellipse">
            <a:avLst/>
          </a:prstGeom>
          <a:solidFill>
            <a:srgbClr val="0E8F63"/>
          </a:solidFill>
        </p:spPr>
      </p:sp>
      <p:sp>
        <p:nvSpPr>
          <p:cNvPr id="27" name="insight-badge-text-1"/>
          <p:cNvSpPr/>
          <p:nvPr/>
        </p:nvSpPr>
        <p:spPr>
          <a:xfrm>
            <a:off x="8890000" y="2362200"/>
            <a:ext cx="33020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insight-text-1"/>
          <p:cNvSpPr/>
          <p:nvPr/>
        </p:nvSpPr>
        <p:spPr>
          <a:xfrm>
            <a:off x="9448800" y="2159000"/>
            <a:ext cx="54610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1700" b="1" dirty="0">
                <a:solidFill>
                  <a:srgbClr val="1E276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10,228 incidents across 141 countries.</a:t>
            </a:r>
            <a:endParaRPr lang="en-US" sz="1700" dirty="0"/>
          </a:p>
        </p:txBody>
      </p:sp>
      <p:sp>
        <p:nvSpPr>
          <p:cNvPr id="29" name="insight-card-2"/>
          <p:cNvSpPr/>
          <p:nvPr/>
        </p:nvSpPr>
        <p:spPr>
          <a:xfrm>
            <a:off x="8636000" y="3429000"/>
            <a:ext cx="6858000" cy="119380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2700">
            <a:solidFill>
              <a:srgbClr val="C8E8D9"/>
            </a:solidFill>
            <a:prstDash val="solid"/>
          </a:ln>
        </p:spPr>
      </p:sp>
      <p:sp>
        <p:nvSpPr>
          <p:cNvPr id="30" name="insight-badge-2"/>
          <p:cNvSpPr/>
          <p:nvPr/>
        </p:nvSpPr>
        <p:spPr>
          <a:xfrm>
            <a:off x="8890000" y="3835400"/>
            <a:ext cx="330200" cy="330200"/>
          </a:xfrm>
          <a:prstGeom prst="ellipse">
            <a:avLst/>
          </a:prstGeom>
          <a:solidFill>
            <a:srgbClr val="0E8F63"/>
          </a:solidFill>
        </p:spPr>
      </p:sp>
      <p:sp>
        <p:nvSpPr>
          <p:cNvPr id="31" name="insight-badge-text-2"/>
          <p:cNvSpPr/>
          <p:nvPr/>
        </p:nvSpPr>
        <p:spPr>
          <a:xfrm>
            <a:off x="8890000" y="3886200"/>
            <a:ext cx="33020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400" dirty="0"/>
          </a:p>
        </p:txBody>
      </p:sp>
      <p:sp>
        <p:nvSpPr>
          <p:cNvPr id="32" name="insight-text-2"/>
          <p:cNvSpPr/>
          <p:nvPr/>
        </p:nvSpPr>
        <p:spPr>
          <a:xfrm>
            <a:off x="9448800" y="3619500"/>
            <a:ext cx="5461000" cy="711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1E276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Hacking was dominant; the United States was most targeted.</a:t>
            </a:r>
            <a:endParaRPr lang="en-US" sz="1600" dirty="0"/>
          </a:p>
        </p:txBody>
      </p:sp>
      <p:sp>
        <p:nvSpPr>
          <p:cNvPr id="33" name="insight-card-3"/>
          <p:cNvSpPr/>
          <p:nvPr/>
        </p:nvSpPr>
        <p:spPr>
          <a:xfrm>
            <a:off x="8636000" y="4953000"/>
            <a:ext cx="6858000" cy="14224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8E8D9"/>
            </a:solidFill>
            <a:prstDash val="solid"/>
          </a:ln>
        </p:spPr>
      </p:sp>
      <p:sp>
        <p:nvSpPr>
          <p:cNvPr id="34" name="insight-badge-3"/>
          <p:cNvSpPr/>
          <p:nvPr/>
        </p:nvSpPr>
        <p:spPr>
          <a:xfrm>
            <a:off x="8890000" y="5499100"/>
            <a:ext cx="330200" cy="330200"/>
          </a:xfrm>
          <a:prstGeom prst="ellipse">
            <a:avLst/>
          </a:prstGeom>
          <a:solidFill>
            <a:srgbClr val="0E8F63"/>
          </a:solidFill>
        </p:spPr>
      </p:sp>
      <p:sp>
        <p:nvSpPr>
          <p:cNvPr id="35" name="insight-badge-text-3"/>
          <p:cNvSpPr/>
          <p:nvPr/>
        </p:nvSpPr>
        <p:spPr>
          <a:xfrm>
            <a:off x="8890000" y="5549900"/>
            <a:ext cx="33020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insight-text-3"/>
          <p:cNvSpPr/>
          <p:nvPr/>
        </p:nvSpPr>
        <p:spPr>
          <a:xfrm>
            <a:off x="9448800" y="5168900"/>
            <a:ext cx="54610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1E276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Financial motive, external actors, and authentication-related assets were recurring risk signals.</a:t>
            </a:r>
            <a:endParaRPr lang="en-US" sz="1600" dirty="0"/>
          </a:p>
        </p:txBody>
      </p:sp>
      <p:sp>
        <p:nvSpPr>
          <p:cNvPr id="37" name="direction-band"/>
          <p:cNvSpPr/>
          <p:nvPr/>
        </p:nvSpPr>
        <p:spPr>
          <a:xfrm>
            <a:off x="762000" y="7112000"/>
            <a:ext cx="14732000" cy="863600"/>
          </a:xfrm>
          <a:prstGeom prst="roundRect">
            <a:avLst>
              <a:gd name="adj" fmla="val 17647"/>
            </a:avLst>
          </a:prstGeom>
          <a:solidFill>
            <a:srgbClr val="E9F6F0"/>
          </a:solidFill>
        </p:spPr>
      </p:sp>
      <p:sp>
        <p:nvSpPr>
          <p:cNvPr id="38" name="direction-text"/>
          <p:cNvSpPr/>
          <p:nvPr/>
        </p:nvSpPr>
        <p:spPr>
          <a:xfrm>
            <a:off x="1524000" y="7391400"/>
            <a:ext cx="13208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altLang="en-US" sz="1600" b="1" dirty="0">
                <a:solidFill>
                  <a:srgbClr val="0E8F6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Strategic direction: move from retrospective dashboards toward proactive, explainable detection and response.</a:t>
            </a:r>
            <a:endParaRPr lang="en-US" sz="1600" dirty="0"/>
          </a:p>
        </p:txBody>
      </p:sp>
      <p:sp>
        <p:nvSpPr>
          <p:cNvPr id="60" name="Shape 8"/>
          <p:cNvSpPr/>
          <p:nvPr/>
        </p:nvSpPr>
        <p:spPr>
          <a:xfrm>
            <a:off x="15494000" y="8593455"/>
            <a:ext cx="502285" cy="440055"/>
          </a:xfrm>
          <a:prstGeom prst="ellipse">
            <a:avLst/>
          </a:prstGeom>
          <a:solidFill>
            <a:schemeClr val="accent5"/>
          </a:solidFill>
          <a:ln w="15875">
            <a:noFill/>
            <a:prstDash val="solid"/>
          </a:ln>
        </p:spPr>
        <p:txBody>
          <a:bodyPr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5</a:t>
            </a:r>
            <a:endParaRPr lang="en-US"/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1"/>
          <a:srcRect t="27119" b="14044"/>
          <a:stretch>
            <a:fillRect/>
          </a:stretch>
        </p:blipFill>
        <p:spPr>
          <a:xfrm>
            <a:off x="0" y="0"/>
            <a:ext cx="16256000" cy="7454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rule"/>
          <p:cNvSpPr/>
          <p:nvPr/>
        </p:nvSpPr>
        <p:spPr>
          <a:xfrm>
            <a:off x="542925" y="876300"/>
            <a:ext cx="50800" cy="368300"/>
          </a:xfrm>
          <a:prstGeom prst="rect">
            <a:avLst/>
          </a:prstGeom>
          <a:solidFill>
            <a:srgbClr val="0E8F63"/>
          </a:solidFill>
        </p:spPr>
      </p:sp>
      <p:sp>
        <p:nvSpPr>
          <p:cNvPr id="3" name="slide-title"/>
          <p:cNvSpPr/>
          <p:nvPr/>
        </p:nvSpPr>
        <p:spPr>
          <a:xfrm>
            <a:off x="762000" y="876300"/>
            <a:ext cx="11430000" cy="482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000" b="1" dirty="0">
                <a:solidFill>
                  <a:srgbClr val="1E2761"/>
                </a:solidFill>
                <a:latin typeface="Corbel" panose="020B0503020204020204" pitchFamily="34" charset="0"/>
                <a:ea typeface="Corbel" panose="020B0503020204020204" pitchFamily="34" charset="-122"/>
                <a:cs typeface="Corbel" panose="020B0503020204020204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lide-number"/>
          <p:cNvSpPr/>
          <p:nvPr/>
        </p:nvSpPr>
        <p:spPr>
          <a:xfrm>
            <a:off x="15113000" y="3556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5A6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06</a:t>
            </a:r>
            <a:endParaRPr lang="en-US" sz="1400" dirty="0"/>
          </a:p>
        </p:txBody>
      </p:sp>
      <p:sp>
        <p:nvSpPr>
          <p:cNvPr id="5" name="outcome-card"/>
          <p:cNvSpPr/>
          <p:nvPr/>
        </p:nvSpPr>
        <p:spPr>
          <a:xfrm>
            <a:off x="939800" y="1625600"/>
            <a:ext cx="14732000" cy="1371600"/>
          </a:xfrm>
          <a:prstGeom prst="roundRect">
            <a:avLst>
              <a:gd name="adj" fmla="val 11111"/>
            </a:avLst>
          </a:prstGeom>
          <a:solidFill>
            <a:srgbClr val="EAF1FB"/>
          </a:solidFill>
        </p:spPr>
      </p:sp>
      <p:sp>
        <p:nvSpPr>
          <p:cNvPr id="6" name="outcome-statement"/>
          <p:cNvSpPr/>
          <p:nvPr/>
        </p:nvSpPr>
        <p:spPr>
          <a:xfrm>
            <a:off x="1397000" y="1981200"/>
            <a:ext cx="134620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900" dirty="0">
                <a:solidFill>
                  <a:srgbClr val="1E2761"/>
                </a:solidFill>
                <a:latin typeface="Corbel" panose="020B0503020204020204" pitchFamily="34" charset="0"/>
                <a:ea typeface="Corbel" panose="020B0503020204020204" pitchFamily="34" charset="-122"/>
                <a:cs typeface="Corbel" panose="020B0503020204020204" pitchFamily="34" charset="-120"/>
              </a:rPr>
              <a:t>The Cyber Threat Analytics Platform successfully transformed raw VERIS incident data into a cleaned, analysis-ready dataset and an interactive visualization system for threat monitoring and decision support.</a:t>
            </a:r>
            <a:endParaRPr lang="en-US" sz="1900" dirty="0"/>
          </a:p>
        </p:txBody>
      </p:sp>
      <p:sp>
        <p:nvSpPr>
          <p:cNvPr id="7" name="technical-tag"/>
          <p:cNvSpPr/>
          <p:nvPr/>
        </p:nvSpPr>
        <p:spPr>
          <a:xfrm>
            <a:off x="762000" y="3276600"/>
            <a:ext cx="1968500" cy="3810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</p:spPr>
      </p:sp>
      <p:sp>
        <p:nvSpPr>
          <p:cNvPr id="8" name="technical-tag-text"/>
          <p:cNvSpPr/>
          <p:nvPr/>
        </p:nvSpPr>
        <p:spPr>
          <a:xfrm>
            <a:off x="939800" y="3352800"/>
            <a:ext cx="1625600" cy="2159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2F6FE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TECHNICAL SKILLS</a:t>
            </a:r>
            <a:endParaRPr lang="en-US" sz="1400" dirty="0"/>
          </a:p>
        </p:txBody>
      </p:sp>
      <p:sp>
        <p:nvSpPr>
          <p:cNvPr id="9" name="technical-card-1"/>
          <p:cNvSpPr/>
          <p:nvPr/>
        </p:nvSpPr>
        <p:spPr>
          <a:xfrm>
            <a:off x="762000" y="3962400"/>
            <a:ext cx="6858000" cy="8382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chnical-badge-1"/>
          <p:cNvSpPr/>
          <p:nvPr/>
        </p:nvSpPr>
        <p:spPr>
          <a:xfrm>
            <a:off x="1016000" y="4216400"/>
            <a:ext cx="330200" cy="330200"/>
          </a:xfrm>
          <a:prstGeom prst="ellipse">
            <a:avLst/>
          </a:prstGeom>
          <a:solidFill>
            <a:srgbClr val="2F6FED"/>
          </a:solidFill>
        </p:spPr>
      </p:sp>
      <p:sp>
        <p:nvSpPr>
          <p:cNvPr id="11" name="technical-badge-text-1"/>
          <p:cNvSpPr/>
          <p:nvPr/>
        </p:nvSpPr>
        <p:spPr>
          <a:xfrm>
            <a:off x="1016000" y="4267200"/>
            <a:ext cx="33020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chnical-title-1"/>
          <p:cNvSpPr/>
          <p:nvPr/>
        </p:nvSpPr>
        <p:spPr>
          <a:xfrm>
            <a:off x="1574800" y="4127500"/>
            <a:ext cx="190500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500" b="1" dirty="0">
                <a:solidFill>
                  <a:srgbClr val="1E276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Power Query</a:t>
            </a:r>
            <a:endParaRPr lang="en-US" sz="1500" dirty="0"/>
          </a:p>
        </p:txBody>
      </p:sp>
      <p:sp>
        <p:nvSpPr>
          <p:cNvPr id="13" name="technical-body-1"/>
          <p:cNvSpPr/>
          <p:nvPr/>
        </p:nvSpPr>
        <p:spPr>
          <a:xfrm>
            <a:off x="3556000" y="4127500"/>
            <a:ext cx="36195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5A6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Repeatable data transformation and standardization.</a:t>
            </a:r>
            <a:endParaRPr lang="en-US" sz="1400" dirty="0"/>
          </a:p>
        </p:txBody>
      </p:sp>
      <p:sp>
        <p:nvSpPr>
          <p:cNvPr id="14" name="technical-card-2"/>
          <p:cNvSpPr/>
          <p:nvPr/>
        </p:nvSpPr>
        <p:spPr>
          <a:xfrm>
            <a:off x="762000" y="5054600"/>
            <a:ext cx="6858000" cy="8382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chnical-badge-2"/>
          <p:cNvSpPr/>
          <p:nvPr/>
        </p:nvSpPr>
        <p:spPr>
          <a:xfrm>
            <a:off x="1016000" y="5308600"/>
            <a:ext cx="330200" cy="330200"/>
          </a:xfrm>
          <a:prstGeom prst="ellipse">
            <a:avLst/>
          </a:prstGeom>
          <a:solidFill>
            <a:srgbClr val="2F6FED"/>
          </a:solidFill>
        </p:spPr>
      </p:sp>
      <p:sp>
        <p:nvSpPr>
          <p:cNvPr id="16" name="technical-badge-text-2"/>
          <p:cNvSpPr/>
          <p:nvPr/>
        </p:nvSpPr>
        <p:spPr>
          <a:xfrm>
            <a:off x="1016000" y="5359400"/>
            <a:ext cx="33020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chnical-title-2"/>
          <p:cNvSpPr/>
          <p:nvPr/>
        </p:nvSpPr>
        <p:spPr>
          <a:xfrm>
            <a:off x="1574800" y="5219700"/>
            <a:ext cx="190500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500" b="1" dirty="0">
                <a:solidFill>
                  <a:srgbClr val="1E276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Data modeling</a:t>
            </a:r>
            <a:endParaRPr lang="en-US" sz="1500" dirty="0"/>
          </a:p>
        </p:txBody>
      </p:sp>
      <p:sp>
        <p:nvSpPr>
          <p:cNvPr id="18" name="technical-body-2"/>
          <p:cNvSpPr/>
          <p:nvPr/>
        </p:nvSpPr>
        <p:spPr>
          <a:xfrm>
            <a:off x="3556000" y="5219700"/>
            <a:ext cx="36195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5A6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Feature preparation and analytical relationships.</a:t>
            </a:r>
            <a:endParaRPr lang="en-US" sz="1400" dirty="0"/>
          </a:p>
        </p:txBody>
      </p:sp>
      <p:sp>
        <p:nvSpPr>
          <p:cNvPr id="19" name="technical-card-3"/>
          <p:cNvSpPr/>
          <p:nvPr/>
        </p:nvSpPr>
        <p:spPr>
          <a:xfrm>
            <a:off x="762000" y="6146800"/>
            <a:ext cx="6858000" cy="8382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chnical-badge-3"/>
          <p:cNvSpPr/>
          <p:nvPr/>
        </p:nvSpPr>
        <p:spPr>
          <a:xfrm>
            <a:off x="1016000" y="6400800"/>
            <a:ext cx="330200" cy="330200"/>
          </a:xfrm>
          <a:prstGeom prst="ellipse">
            <a:avLst/>
          </a:prstGeom>
          <a:solidFill>
            <a:srgbClr val="2F6FED"/>
          </a:solidFill>
        </p:spPr>
      </p:sp>
      <p:sp>
        <p:nvSpPr>
          <p:cNvPr id="21" name="technical-badge-text-3"/>
          <p:cNvSpPr/>
          <p:nvPr/>
        </p:nvSpPr>
        <p:spPr>
          <a:xfrm>
            <a:off x="1016000" y="6451600"/>
            <a:ext cx="33020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chnical-title-3"/>
          <p:cNvSpPr/>
          <p:nvPr/>
        </p:nvSpPr>
        <p:spPr>
          <a:xfrm>
            <a:off x="1574800" y="6311900"/>
            <a:ext cx="1905000" cy="25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500" b="1" dirty="0">
                <a:solidFill>
                  <a:srgbClr val="1E276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Visual analytics</a:t>
            </a:r>
            <a:endParaRPr lang="en-US" sz="1500" dirty="0"/>
          </a:p>
        </p:txBody>
      </p:sp>
      <p:sp>
        <p:nvSpPr>
          <p:cNvPr id="23" name="technical-body-3"/>
          <p:cNvSpPr/>
          <p:nvPr/>
        </p:nvSpPr>
        <p:spPr>
          <a:xfrm>
            <a:off x="3556000" y="6311900"/>
            <a:ext cx="36195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5A6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Dashboard design, KPI summaries, and storytelling.</a:t>
            </a:r>
            <a:endParaRPr lang="en-US" sz="1400" dirty="0"/>
          </a:p>
        </p:txBody>
      </p:sp>
      <p:sp>
        <p:nvSpPr>
          <p:cNvPr id="24" name="soft-tag"/>
          <p:cNvSpPr/>
          <p:nvPr/>
        </p:nvSpPr>
        <p:spPr>
          <a:xfrm>
            <a:off x="8382000" y="3276600"/>
            <a:ext cx="1587500" cy="381000"/>
          </a:xfrm>
          <a:prstGeom prst="roundRect">
            <a:avLst>
              <a:gd name="adj" fmla="val 50000"/>
            </a:avLst>
          </a:prstGeom>
          <a:solidFill>
            <a:srgbClr val="E9F6F0"/>
          </a:solidFill>
        </p:spPr>
      </p:sp>
      <p:sp>
        <p:nvSpPr>
          <p:cNvPr id="25" name="soft-tag-text"/>
          <p:cNvSpPr/>
          <p:nvPr/>
        </p:nvSpPr>
        <p:spPr>
          <a:xfrm>
            <a:off x="8547100" y="3352800"/>
            <a:ext cx="1244600" cy="2159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0E8F6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SOFT SKILLS</a:t>
            </a:r>
            <a:endParaRPr lang="en-US" sz="1400" dirty="0"/>
          </a:p>
        </p:txBody>
      </p:sp>
      <p:sp>
        <p:nvSpPr>
          <p:cNvPr id="26" name="soft-card-1"/>
          <p:cNvSpPr/>
          <p:nvPr/>
        </p:nvSpPr>
        <p:spPr>
          <a:xfrm>
            <a:off x="8382000" y="3962400"/>
            <a:ext cx="3175000" cy="8890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C8E8D9"/>
            </a:solidFill>
            <a:prstDash val="solid"/>
          </a:ln>
        </p:spPr>
      </p:sp>
      <p:sp>
        <p:nvSpPr>
          <p:cNvPr id="27" name="soft-badge-1"/>
          <p:cNvSpPr/>
          <p:nvPr/>
        </p:nvSpPr>
        <p:spPr>
          <a:xfrm>
            <a:off x="8636000" y="4241800"/>
            <a:ext cx="330200" cy="330200"/>
          </a:xfrm>
          <a:prstGeom prst="ellipse">
            <a:avLst/>
          </a:prstGeom>
          <a:solidFill>
            <a:srgbClr val="0E8F63"/>
          </a:solidFill>
        </p:spPr>
      </p:sp>
      <p:sp>
        <p:nvSpPr>
          <p:cNvPr id="28" name="soft-badge-text-1"/>
          <p:cNvSpPr/>
          <p:nvPr/>
        </p:nvSpPr>
        <p:spPr>
          <a:xfrm>
            <a:off x="8636000" y="4292600"/>
            <a:ext cx="33020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400" dirty="0"/>
          </a:p>
        </p:txBody>
      </p:sp>
      <p:sp>
        <p:nvSpPr>
          <p:cNvPr id="29" name="soft-text-1"/>
          <p:cNvSpPr/>
          <p:nvPr/>
        </p:nvSpPr>
        <p:spPr>
          <a:xfrm>
            <a:off x="9169400" y="4267200"/>
            <a:ext cx="210820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b="1" dirty="0">
                <a:solidFill>
                  <a:srgbClr val="1E276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Problem Solving</a:t>
            </a:r>
            <a:endParaRPr lang="en-US" sz="1400" dirty="0"/>
          </a:p>
        </p:txBody>
      </p:sp>
      <p:sp>
        <p:nvSpPr>
          <p:cNvPr id="30" name="soft-card-2"/>
          <p:cNvSpPr/>
          <p:nvPr/>
        </p:nvSpPr>
        <p:spPr>
          <a:xfrm>
            <a:off x="12065000" y="3962400"/>
            <a:ext cx="3429000" cy="8890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C8E8D9"/>
            </a:solidFill>
            <a:prstDash val="solid"/>
          </a:ln>
        </p:spPr>
      </p:sp>
      <p:sp>
        <p:nvSpPr>
          <p:cNvPr id="31" name="soft-badge-2"/>
          <p:cNvSpPr/>
          <p:nvPr/>
        </p:nvSpPr>
        <p:spPr>
          <a:xfrm>
            <a:off x="12319000" y="4241800"/>
            <a:ext cx="330200" cy="330200"/>
          </a:xfrm>
          <a:prstGeom prst="ellipse">
            <a:avLst/>
          </a:prstGeom>
          <a:solidFill>
            <a:srgbClr val="0E8F63"/>
          </a:solidFill>
        </p:spPr>
      </p:sp>
      <p:sp>
        <p:nvSpPr>
          <p:cNvPr id="32" name="soft-badge-text-2"/>
          <p:cNvSpPr/>
          <p:nvPr/>
        </p:nvSpPr>
        <p:spPr>
          <a:xfrm>
            <a:off x="12319000" y="4292600"/>
            <a:ext cx="33020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400" dirty="0"/>
          </a:p>
        </p:txBody>
      </p:sp>
      <p:sp>
        <p:nvSpPr>
          <p:cNvPr id="33" name="soft-text-2"/>
          <p:cNvSpPr/>
          <p:nvPr/>
        </p:nvSpPr>
        <p:spPr>
          <a:xfrm>
            <a:off x="12852400" y="4267200"/>
            <a:ext cx="222250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b="1" dirty="0">
                <a:solidFill>
                  <a:srgbClr val="1E276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Communication</a:t>
            </a:r>
            <a:endParaRPr lang="en-US" sz="1400" dirty="0"/>
          </a:p>
        </p:txBody>
      </p:sp>
      <p:sp>
        <p:nvSpPr>
          <p:cNvPr id="34" name="soft-card-3"/>
          <p:cNvSpPr/>
          <p:nvPr/>
        </p:nvSpPr>
        <p:spPr>
          <a:xfrm>
            <a:off x="8382000" y="5181600"/>
            <a:ext cx="3175000" cy="8890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C8E8D9"/>
            </a:solidFill>
            <a:prstDash val="solid"/>
          </a:ln>
        </p:spPr>
      </p:sp>
      <p:sp>
        <p:nvSpPr>
          <p:cNvPr id="35" name="soft-badge-3"/>
          <p:cNvSpPr/>
          <p:nvPr/>
        </p:nvSpPr>
        <p:spPr>
          <a:xfrm>
            <a:off x="8636000" y="5461000"/>
            <a:ext cx="330200" cy="330200"/>
          </a:xfrm>
          <a:prstGeom prst="ellipse">
            <a:avLst/>
          </a:prstGeom>
          <a:solidFill>
            <a:srgbClr val="0E8F63"/>
          </a:solidFill>
        </p:spPr>
      </p:sp>
      <p:sp>
        <p:nvSpPr>
          <p:cNvPr id="36" name="soft-badge-text-3"/>
          <p:cNvSpPr/>
          <p:nvPr/>
        </p:nvSpPr>
        <p:spPr>
          <a:xfrm>
            <a:off x="8636000" y="5511800"/>
            <a:ext cx="33020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soft-text-3"/>
          <p:cNvSpPr/>
          <p:nvPr/>
        </p:nvSpPr>
        <p:spPr>
          <a:xfrm>
            <a:off x="9169400" y="5486400"/>
            <a:ext cx="210820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b="1" dirty="0">
                <a:solidFill>
                  <a:srgbClr val="1E276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Teamwork</a:t>
            </a:r>
            <a:endParaRPr lang="en-US" sz="1400" dirty="0"/>
          </a:p>
        </p:txBody>
      </p:sp>
      <p:sp>
        <p:nvSpPr>
          <p:cNvPr id="38" name="soft-card-4"/>
          <p:cNvSpPr/>
          <p:nvPr/>
        </p:nvSpPr>
        <p:spPr>
          <a:xfrm>
            <a:off x="12065000" y="5181600"/>
            <a:ext cx="3429000" cy="8890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C8E8D9"/>
            </a:solidFill>
            <a:prstDash val="solid"/>
          </a:ln>
        </p:spPr>
      </p:sp>
      <p:sp>
        <p:nvSpPr>
          <p:cNvPr id="39" name="soft-badge-4"/>
          <p:cNvSpPr/>
          <p:nvPr/>
        </p:nvSpPr>
        <p:spPr>
          <a:xfrm>
            <a:off x="12319000" y="5461000"/>
            <a:ext cx="330200" cy="330200"/>
          </a:xfrm>
          <a:prstGeom prst="ellipse">
            <a:avLst/>
          </a:prstGeom>
          <a:solidFill>
            <a:srgbClr val="0E8F63"/>
          </a:solidFill>
        </p:spPr>
      </p:sp>
      <p:sp>
        <p:nvSpPr>
          <p:cNvPr id="40" name="soft-badge-text-4"/>
          <p:cNvSpPr/>
          <p:nvPr/>
        </p:nvSpPr>
        <p:spPr>
          <a:xfrm>
            <a:off x="12319000" y="5511800"/>
            <a:ext cx="33020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1400" dirty="0"/>
          </a:p>
        </p:txBody>
      </p:sp>
      <p:sp>
        <p:nvSpPr>
          <p:cNvPr id="41" name="soft-text-4"/>
          <p:cNvSpPr/>
          <p:nvPr/>
        </p:nvSpPr>
        <p:spPr>
          <a:xfrm>
            <a:off x="12852400" y="5486400"/>
            <a:ext cx="222250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b="1" dirty="0">
                <a:solidFill>
                  <a:srgbClr val="1E276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Presentation</a:t>
            </a:r>
            <a:endParaRPr lang="en-US" sz="1400" dirty="0"/>
          </a:p>
        </p:txBody>
      </p:sp>
      <p:sp>
        <p:nvSpPr>
          <p:cNvPr id="42" name="capability-card"/>
          <p:cNvSpPr/>
          <p:nvPr/>
        </p:nvSpPr>
        <p:spPr>
          <a:xfrm>
            <a:off x="8382000" y="6604000"/>
            <a:ext cx="7112000" cy="7112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C8E8D9"/>
            </a:solidFill>
            <a:prstDash val="solid"/>
          </a:ln>
        </p:spPr>
      </p:sp>
      <p:sp>
        <p:nvSpPr>
          <p:cNvPr id="43" name="capability-text"/>
          <p:cNvSpPr/>
          <p:nvPr/>
        </p:nvSpPr>
        <p:spPr>
          <a:xfrm>
            <a:off x="8763000" y="6858000"/>
            <a:ext cx="635000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500" b="1" dirty="0">
                <a:solidFill>
                  <a:srgbClr val="0E8F6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Team capability: turning complex data into clear decisions.</a:t>
            </a:r>
            <a:endParaRPr lang="en-US" sz="1500" dirty="0"/>
          </a:p>
        </p:txBody>
      </p:sp>
      <p:sp>
        <p:nvSpPr>
          <p:cNvPr id="60" name="Shape 8"/>
          <p:cNvSpPr/>
          <p:nvPr/>
        </p:nvSpPr>
        <p:spPr>
          <a:xfrm>
            <a:off x="15494000" y="8593455"/>
            <a:ext cx="502285" cy="440055"/>
          </a:xfrm>
          <a:prstGeom prst="ellipse">
            <a:avLst/>
          </a:prstGeom>
          <a:solidFill>
            <a:schemeClr val="accent5"/>
          </a:solidFill>
          <a:ln w="15875">
            <a:noFill/>
            <a:prstDash val="solid"/>
          </a:ln>
        </p:spPr>
        <p:txBody>
          <a:bodyPr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6</a:t>
            </a:r>
            <a:endParaRPr lang="en-US"/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1"/>
          <a:srcRect t="27119" b="14044"/>
          <a:stretch>
            <a:fillRect/>
          </a:stretch>
        </p:blipFill>
        <p:spPr>
          <a:xfrm>
            <a:off x="0" y="0"/>
            <a:ext cx="16256000" cy="6610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rule"/>
          <p:cNvSpPr/>
          <p:nvPr/>
        </p:nvSpPr>
        <p:spPr>
          <a:xfrm>
            <a:off x="457200" y="762000"/>
            <a:ext cx="50800" cy="368300"/>
          </a:xfrm>
          <a:prstGeom prst="rect">
            <a:avLst/>
          </a:prstGeom>
          <a:solidFill>
            <a:srgbClr val="0E8F63"/>
          </a:solidFill>
        </p:spPr>
      </p:sp>
      <p:sp>
        <p:nvSpPr>
          <p:cNvPr id="3" name="slide-title"/>
          <p:cNvSpPr/>
          <p:nvPr/>
        </p:nvSpPr>
        <p:spPr>
          <a:xfrm>
            <a:off x="762000" y="736600"/>
            <a:ext cx="12700000" cy="482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000" b="1" dirty="0">
                <a:solidFill>
                  <a:srgbClr val="1E2761"/>
                </a:solidFill>
                <a:latin typeface="Corbel" panose="020B0503020204020204" pitchFamily="34" charset="0"/>
                <a:ea typeface="Corbel" panose="020B0503020204020204" pitchFamily="34" charset="-122"/>
                <a:cs typeface="Corbel" panose="020B0503020204020204" pitchFamily="34" charset="-120"/>
              </a:rPr>
              <a:t>Acknowledgements &amp; References</a:t>
            </a:r>
            <a:endParaRPr lang="en-US" sz="3000" dirty="0"/>
          </a:p>
        </p:txBody>
      </p:sp>
      <p:sp>
        <p:nvSpPr>
          <p:cNvPr id="4" name="slide-number"/>
          <p:cNvSpPr/>
          <p:nvPr/>
        </p:nvSpPr>
        <p:spPr>
          <a:xfrm>
            <a:off x="15113000" y="3556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5A6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07</a:t>
            </a:r>
            <a:endParaRPr lang="en-US" sz="1400" dirty="0"/>
          </a:p>
        </p:txBody>
      </p:sp>
      <p:sp>
        <p:nvSpPr>
          <p:cNvPr id="5" name="ack-tag"/>
          <p:cNvSpPr/>
          <p:nvPr/>
        </p:nvSpPr>
        <p:spPr>
          <a:xfrm>
            <a:off x="939800" y="1424305"/>
            <a:ext cx="2222500" cy="3810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</p:spPr>
      </p:sp>
      <p:sp>
        <p:nvSpPr>
          <p:cNvPr id="6" name="ack-tag-text"/>
          <p:cNvSpPr/>
          <p:nvPr/>
        </p:nvSpPr>
        <p:spPr>
          <a:xfrm>
            <a:off x="1117600" y="1428750"/>
            <a:ext cx="1866900" cy="2159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2F6FE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ACKNOWLEDGEMENTS</a:t>
            </a:r>
            <a:endParaRPr lang="en-US" sz="1400" dirty="0"/>
          </a:p>
        </p:txBody>
      </p:sp>
      <p:sp>
        <p:nvSpPr>
          <p:cNvPr id="7" name="ref-tag"/>
          <p:cNvSpPr/>
          <p:nvPr/>
        </p:nvSpPr>
        <p:spPr>
          <a:xfrm>
            <a:off x="8382000" y="1219200"/>
            <a:ext cx="1587500" cy="381000"/>
          </a:xfrm>
          <a:prstGeom prst="roundRect">
            <a:avLst>
              <a:gd name="adj" fmla="val 50000"/>
            </a:avLst>
          </a:prstGeom>
          <a:solidFill>
            <a:srgbClr val="E9F6F0"/>
          </a:solidFill>
        </p:spPr>
      </p:sp>
      <p:sp>
        <p:nvSpPr>
          <p:cNvPr id="8" name="ref-tag-text"/>
          <p:cNvSpPr/>
          <p:nvPr/>
        </p:nvSpPr>
        <p:spPr>
          <a:xfrm>
            <a:off x="8547100" y="1295400"/>
            <a:ext cx="1244600" cy="2159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0E8F6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REFERENCES</a:t>
            </a:r>
            <a:endParaRPr lang="en-US" sz="1400" dirty="0"/>
          </a:p>
        </p:txBody>
      </p:sp>
      <p:sp>
        <p:nvSpPr>
          <p:cNvPr id="9" name="ack-card"/>
          <p:cNvSpPr/>
          <p:nvPr/>
        </p:nvSpPr>
        <p:spPr>
          <a:xfrm>
            <a:off x="762000" y="1905000"/>
            <a:ext cx="7112000" cy="469900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ack-list"/>
          <p:cNvSpPr/>
          <p:nvPr/>
        </p:nvSpPr>
        <p:spPr>
          <a:xfrm>
            <a:off x="1193800" y="2413000"/>
            <a:ext cx="6223000" cy="342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69875" indent="-269875" algn="l">
              <a:lnSpc>
                <a:spcPts val="2295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700" dirty="0">
                <a:solidFill>
                  <a:srgbClr val="5A6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Infosys Springboard Virtual Internship 7.0</a:t>
            </a:r>
            <a:endParaRPr lang="en-US" altLang="en-US" sz="1700" dirty="0">
              <a:solidFill>
                <a:srgbClr val="5A6B85"/>
              </a:solidFill>
              <a:latin typeface="Outfit" pitchFamily="34" charset="0"/>
              <a:ea typeface="Outfit" pitchFamily="34" charset="-122"/>
              <a:cs typeface="Outfit" pitchFamily="34" charset="-120"/>
            </a:endParaRPr>
          </a:p>
          <a:p>
            <a:pPr marL="269875" indent="-269875" algn="l">
              <a:lnSpc>
                <a:spcPts val="2295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700" dirty="0">
                <a:solidFill>
                  <a:srgbClr val="5A6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Group-1, Team- D</a:t>
            </a:r>
            <a:endParaRPr lang="en-US" sz="1700" dirty="0"/>
          </a:p>
          <a:p>
            <a:pPr marL="269875" indent="-269875" algn="l">
              <a:lnSpc>
                <a:spcPts val="2295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700" dirty="0">
                <a:solidFill>
                  <a:srgbClr val="5A6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Mentor  :- Mrs. Nithyasree</a:t>
            </a:r>
            <a:endParaRPr lang="en-US" sz="1700" dirty="0"/>
          </a:p>
          <a:p>
            <a:pPr marL="269875" indent="-269875" algn="l">
              <a:lnSpc>
                <a:spcPts val="2295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700" dirty="0">
                <a:solidFill>
                  <a:srgbClr val="5A6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Team Members:-</a:t>
            </a:r>
            <a:endParaRPr lang="en-US" altLang="en-US" sz="1700" dirty="0">
              <a:solidFill>
                <a:srgbClr val="5A6B85"/>
              </a:solidFill>
              <a:latin typeface="Outfit" pitchFamily="34" charset="0"/>
              <a:ea typeface="Outfit" pitchFamily="34" charset="-122"/>
              <a:cs typeface="Outfit" pitchFamily="34" charset="-120"/>
            </a:endParaRPr>
          </a:p>
          <a:p>
            <a:pPr indent="0" algn="l">
              <a:lnSpc>
                <a:spcPts val="2295"/>
              </a:lnSpc>
              <a:spcBef>
                <a:spcPts val="10"/>
              </a:spcBef>
              <a:buSzPct val="100000"/>
              <a:buNone/>
            </a:pPr>
            <a:r>
              <a:rPr lang="en-US" altLang="en-US" sz="1700" dirty="0">
                <a:solidFill>
                  <a:srgbClr val="5A6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     Subhasri Subhasmitha</a:t>
            </a:r>
            <a:endParaRPr lang="en-US" sz="1700" dirty="0"/>
          </a:p>
          <a:p>
            <a:pPr indent="0" algn="l">
              <a:lnSpc>
                <a:spcPts val="2295"/>
              </a:lnSpc>
              <a:spcBef>
                <a:spcPts val="10"/>
              </a:spcBef>
              <a:buSzPct val="100000"/>
              <a:buNone/>
            </a:pPr>
            <a:r>
              <a:rPr lang="en-US" altLang="en-US" sz="1700" dirty="0">
                <a:solidFill>
                  <a:srgbClr val="5A6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     Tejasri Lakshmi</a:t>
            </a:r>
            <a:endParaRPr lang="en-US" altLang="en-US" sz="1700" dirty="0">
              <a:solidFill>
                <a:srgbClr val="5A6B85"/>
              </a:solidFill>
              <a:latin typeface="Outfit" pitchFamily="34" charset="0"/>
              <a:ea typeface="Outfit" pitchFamily="34" charset="-122"/>
              <a:cs typeface="Outfit" pitchFamily="34" charset="-120"/>
            </a:endParaRPr>
          </a:p>
          <a:p>
            <a:pPr indent="0" algn="l">
              <a:lnSpc>
                <a:spcPts val="2295"/>
              </a:lnSpc>
              <a:spcBef>
                <a:spcPts val="10"/>
              </a:spcBef>
              <a:buSzPct val="100000"/>
              <a:buNone/>
            </a:pPr>
            <a:r>
              <a:rPr lang="en-US" altLang="en-US" sz="1700" dirty="0">
                <a:solidFill>
                  <a:srgbClr val="5A6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     Twinkle Mohanty</a:t>
            </a:r>
            <a:endParaRPr lang="en-US" sz="1700" dirty="0"/>
          </a:p>
          <a:p>
            <a:pPr indent="0" algn="l">
              <a:lnSpc>
                <a:spcPts val="2295"/>
              </a:lnSpc>
              <a:spcBef>
                <a:spcPts val="10"/>
              </a:spcBef>
              <a:buSzPct val="100000"/>
              <a:buNone/>
            </a:pPr>
            <a:r>
              <a:rPr lang="en-US" altLang="en-US" sz="1700" dirty="0">
                <a:solidFill>
                  <a:srgbClr val="5A6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     Vennela Pathipaka</a:t>
            </a:r>
            <a:endParaRPr lang="en-US" sz="1700" dirty="0"/>
          </a:p>
        </p:txBody>
      </p:sp>
      <p:sp>
        <p:nvSpPr>
          <p:cNvPr id="11" name="ref-card"/>
          <p:cNvSpPr/>
          <p:nvPr/>
        </p:nvSpPr>
        <p:spPr>
          <a:xfrm>
            <a:off x="8382000" y="1905000"/>
            <a:ext cx="7112000" cy="469900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C8E8D9"/>
            </a:solidFill>
            <a:prstDash val="solid"/>
          </a:ln>
        </p:spPr>
      </p:sp>
      <p:sp>
        <p:nvSpPr>
          <p:cNvPr id="12" name="ref-list"/>
          <p:cNvSpPr/>
          <p:nvPr/>
        </p:nvSpPr>
        <p:spPr>
          <a:xfrm>
            <a:off x="8813800" y="2413000"/>
            <a:ext cx="6223000" cy="304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69875" indent="-269875" algn="l">
              <a:lnSpc>
                <a:spcPts val="2295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700" dirty="0">
                <a:solidFill>
                  <a:srgbClr val="5A6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VERIS Community Database (VCDB), accessed through Kaggle</a:t>
            </a:r>
            <a:endParaRPr lang="en-US" sz="1700" dirty="0"/>
          </a:p>
          <a:p>
            <a:pPr marL="269875" indent="-269875" algn="l">
              <a:lnSpc>
                <a:spcPts val="2295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700" dirty="0">
                <a:solidFill>
                  <a:srgbClr val="5A6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Microsoft Learn — Power Query documentation</a:t>
            </a:r>
            <a:endParaRPr lang="en-US" sz="1700" dirty="0"/>
          </a:p>
          <a:p>
            <a:pPr marL="269875" indent="-269875" algn="l">
              <a:lnSpc>
                <a:spcPts val="2295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700" dirty="0">
                <a:solidFill>
                  <a:srgbClr val="5A6B8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Internship course and training materials</a:t>
            </a:r>
            <a:endParaRPr lang="en-US" sz="1700" dirty="0"/>
          </a:p>
        </p:txBody>
      </p:sp>
      <p:sp>
        <p:nvSpPr>
          <p:cNvPr id="13" name="thanks-band"/>
          <p:cNvSpPr/>
          <p:nvPr/>
        </p:nvSpPr>
        <p:spPr>
          <a:xfrm>
            <a:off x="762000" y="7239000"/>
            <a:ext cx="14732000" cy="660400"/>
          </a:xfrm>
          <a:prstGeom prst="roundRect">
            <a:avLst>
              <a:gd name="adj" fmla="val 23077"/>
            </a:avLst>
          </a:prstGeom>
          <a:solidFill>
            <a:srgbClr val="EAF1FB"/>
          </a:solidFill>
        </p:spPr>
      </p:sp>
      <p:sp>
        <p:nvSpPr>
          <p:cNvPr id="14" name="thanks-band-text"/>
          <p:cNvSpPr/>
          <p:nvPr/>
        </p:nvSpPr>
        <p:spPr>
          <a:xfrm>
            <a:off x="1270000" y="7467600"/>
            <a:ext cx="1371600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dirty="0">
                <a:solidFill>
                  <a:srgbClr val="1E276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Thank you to everyone who supported the project from data preparation through final presentation.</a:t>
            </a:r>
            <a:endParaRPr lang="en-US" sz="1400" dirty="0"/>
          </a:p>
        </p:txBody>
      </p:sp>
      <p:sp>
        <p:nvSpPr>
          <p:cNvPr id="60" name="Shape 8"/>
          <p:cNvSpPr/>
          <p:nvPr/>
        </p:nvSpPr>
        <p:spPr>
          <a:xfrm>
            <a:off x="15494000" y="8593455"/>
            <a:ext cx="502285" cy="440055"/>
          </a:xfrm>
          <a:prstGeom prst="ellipse">
            <a:avLst/>
          </a:prstGeom>
          <a:solidFill>
            <a:schemeClr val="accent5"/>
          </a:solidFill>
          <a:ln w="15875">
            <a:noFill/>
            <a:prstDash val="solid"/>
          </a:ln>
        </p:spPr>
        <p:txBody>
          <a:bodyPr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7</a:t>
            </a:r>
            <a:endParaRPr lang="en-US"/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1"/>
          <a:srcRect t="27119" b="14044"/>
          <a:stretch>
            <a:fillRect/>
          </a:stretch>
        </p:blipFill>
        <p:spPr>
          <a:xfrm>
            <a:off x="0" y="0"/>
            <a:ext cx="16256000" cy="66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s-title"/>
          <p:cNvSpPr/>
          <p:nvPr/>
        </p:nvSpPr>
        <p:spPr>
          <a:xfrm>
            <a:off x="2631440" y="3511550"/>
            <a:ext cx="11430000" cy="88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altLang="en-US" sz="4000" b="1" dirty="0">
                <a:solidFill>
                  <a:srgbClr val="1E2761"/>
                </a:solidFill>
                <a:latin typeface="Corbel" panose="020B0503020204020204" pitchFamily="34" charset="0"/>
                <a:ea typeface="Corbel" panose="020B0503020204020204" pitchFamily="34" charset="-122"/>
                <a:cs typeface="Corbel" panose="020B0503020204020204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hanks-accent"/>
          <p:cNvSpPr/>
          <p:nvPr/>
        </p:nvSpPr>
        <p:spPr>
          <a:xfrm>
            <a:off x="7074535" y="4889500"/>
            <a:ext cx="2794000" cy="63500"/>
          </a:xfrm>
          <a:prstGeom prst="rect">
            <a:avLst/>
          </a:prstGeom>
          <a:solidFill>
            <a:srgbClr val="0E8F63"/>
          </a:solidFill>
        </p:spPr>
      </p:sp>
      <p:sp>
        <p:nvSpPr>
          <p:cNvPr id="4" name="discussion-text"/>
          <p:cNvSpPr/>
          <p:nvPr/>
        </p:nvSpPr>
        <p:spPr>
          <a:xfrm>
            <a:off x="4572000" y="4889500"/>
            <a:ext cx="7112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5" name="project-signature"/>
          <p:cNvSpPr/>
          <p:nvPr/>
        </p:nvSpPr>
        <p:spPr>
          <a:xfrm>
            <a:off x="2286000" y="7239000"/>
            <a:ext cx="11684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60" name="Shape 8"/>
          <p:cNvSpPr/>
          <p:nvPr/>
        </p:nvSpPr>
        <p:spPr>
          <a:xfrm>
            <a:off x="15494000" y="8593455"/>
            <a:ext cx="502285" cy="440055"/>
          </a:xfrm>
          <a:prstGeom prst="ellipse">
            <a:avLst/>
          </a:prstGeom>
          <a:solidFill>
            <a:schemeClr val="accent5"/>
          </a:solidFill>
          <a:ln w="15875">
            <a:noFill/>
            <a:prstDash val="solid"/>
          </a:ln>
        </p:spPr>
        <p:txBody>
          <a:bodyPr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8</a:t>
            </a:r>
            <a:endParaRPr lang="en-US"/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1"/>
          <a:srcRect t="27119" b="14044"/>
          <a:stretch>
            <a:fillRect/>
          </a:stretch>
        </p:blipFill>
        <p:spPr>
          <a:xfrm>
            <a:off x="0" y="0"/>
            <a:ext cx="16256000" cy="828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70800" y="2062480"/>
            <a:ext cx="882650" cy="960120"/>
          </a:xfrm>
          <a:prstGeom prst="ellipse">
            <a:avLst/>
          </a:prstGeom>
          <a:solidFill>
            <a:srgbClr val="92D050"/>
          </a:solidFill>
        </p:spPr>
        <p:txBody>
          <a:bodyPr/>
          <a:p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235" y="2279650"/>
            <a:ext cx="525780" cy="5257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3726</Words>
  <Application>WPS Presentation</Application>
  <PresentationFormat>On-screen Show (16:9)</PresentationFormat>
  <Paragraphs>280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32" baseType="lpstr">
      <vt:lpstr>Arial</vt:lpstr>
      <vt:lpstr>SimSun</vt:lpstr>
      <vt:lpstr>Wingdings</vt:lpstr>
      <vt:lpstr>Outfit</vt:lpstr>
      <vt:lpstr>Outfit</vt:lpstr>
      <vt:lpstr>Outfit</vt:lpstr>
      <vt:lpstr>Corbel</vt:lpstr>
      <vt:lpstr>Corbel</vt:lpstr>
      <vt:lpstr>Corbel</vt:lpstr>
      <vt:lpstr>Calibri</vt:lpstr>
      <vt:lpstr>Microsoft YaHei</vt:lpstr>
      <vt:lpstr>Arial Unicode MS</vt:lpstr>
      <vt:lpstr>Britannic Bold</vt:lpstr>
      <vt:lpstr>Space Grotesk</vt:lpstr>
      <vt:lpstr>AMGDT</vt:lpstr>
      <vt:lpstr>Space Grotesk Medium</vt:lpstr>
      <vt:lpstr>Outfit Light</vt:lpstr>
      <vt:lpstr>Times New Roman</vt:lpstr>
      <vt:lpstr>Aptos</vt:lpstr>
      <vt:lpstr>Calibri</vt:lpstr>
      <vt:lpstr>Calibri</vt:lpstr>
      <vt:lpstr>Segoe UI</vt:lpstr>
      <vt:lpstr>Arial Nova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Manus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 Threat Analytics Platform with Incident Visualization System</dc:title>
  <dc:creator>Manus</dc:creator>
  <dc:subject>Cyber Threat Analytics Platform with Incident Visualization System</dc:subject>
  <cp:lastModifiedBy>KIIT0001</cp:lastModifiedBy>
  <cp:revision>4</cp:revision>
  <dcterms:created xsi:type="dcterms:W3CDTF">2026-08-16T14:43:00Z</dcterms:created>
  <dcterms:modified xsi:type="dcterms:W3CDTF">2026-08-17T05:27:46Z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8F1028F7699746D9A55466865656DC02_13</vt:lpwstr>
  </property>
</Properties>
</file>