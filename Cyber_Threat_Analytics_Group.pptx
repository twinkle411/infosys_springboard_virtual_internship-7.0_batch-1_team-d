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13.fntdata" ContentType="application/x-fontdata"/>
  <Override PartName="/ppt/fonts/font14.fntdata" ContentType="application/x-fontdata"/>
  <Override PartName="/ppt/fonts/font15.fntdata" ContentType="application/x-fontdata"/>
  <Override PartName="/ppt/fonts/font16.fntdata" ContentType="application/x-fontdata"/>
  <Override PartName="/ppt/fonts/font17.fntdata" ContentType="application/x-fontdata"/>
  <Override PartName="/ppt/fonts/font18.fntdata" ContentType="application/x-fontdata"/>
  <Override PartName="/ppt/fonts/font19.fntdata" ContentType="application/x-fontdata"/>
  <Override PartName="/ppt/fonts/font2.fntdata" ContentType="application/x-fontdata"/>
  <Override PartName="/ppt/fonts/font20.fntdata" ContentType="application/x-fontdata"/>
  <Override PartName="/ppt/fonts/font21.fntdata" ContentType="application/x-fontdata"/>
  <Override PartName="/ppt/fonts/font22.fntdata" ContentType="application/x-fontdata"/>
  <Override PartName="/ppt/fonts/font23.fntdata" ContentType="application/x-fontdata"/>
  <Override PartName="/ppt/fonts/font24.fntdata" ContentType="application/x-fontdata"/>
  <Override PartName="/ppt/fonts/font25.fntdata" ContentType="application/x-fontdata"/>
  <Override PartName="/ppt/fonts/font26.fntdata" ContentType="application/x-fontdata"/>
  <Override PartName="/ppt/fonts/font27.fntdata" ContentType="application/x-fontdata"/>
  <Override PartName="/ppt/fonts/font28.fntdata" ContentType="application/x-fontdata"/>
  <Override PartName="/ppt/fonts/font29.fntdata" ContentType="application/x-fontdata"/>
  <Override PartName="/ppt/fonts/font3.fntdata" ContentType="application/x-fontdata"/>
  <Override PartName="/ppt/fonts/font30.fntdata" ContentType="application/x-fontdata"/>
  <Override PartName="/ppt/fonts/font31.fntdata" ContentType="application/x-fontdata"/>
  <Override PartName="/ppt/fonts/font32.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
  </p:notesMasterIdLst>
  <p:sldIdLst>
    <p:sldId id="264" r:id="rId3"/>
    <p:sldId id="257" r:id="rId5"/>
    <p:sldId id="274" r:id="rId6"/>
    <p:sldId id="266" r:id="rId7"/>
    <p:sldId id="275" r:id="rId8"/>
    <p:sldId id="276" r:id="rId9"/>
    <p:sldId id="259" r:id="rId10"/>
    <p:sldId id="260" r:id="rId11"/>
    <p:sldId id="261" r:id="rId12"/>
    <p:sldId id="262" r:id="rId13"/>
    <p:sldId id="263" r:id="rId14"/>
  </p:sldIdLst>
  <p:sldSz cx="16256000" cy="9144000"/>
  <p:notesSz cx="9144000" cy="16256000"/>
  <p:embeddedFontLst>
    <p:embeddedFont>
      <p:font typeface="Outfit" pitchFamily="34" charset="0"/>
      <p:regular r:id="rId18"/>
    </p:embeddedFont>
    <p:embeddedFont>
      <p:font typeface="Outfit" pitchFamily="34" charset="-122"/>
      <p:regular r:id="rId19"/>
    </p:embeddedFont>
    <p:embeddedFont>
      <p:font typeface="Outfit" pitchFamily="34" charset="-120"/>
      <p:regular r:id="rId20"/>
    </p:embeddedFont>
    <p:embeddedFont>
      <p:font typeface="Calibri" panose="020F0502020204030204" charset="0"/>
      <p:regular r:id="rId21"/>
      <p:bold r:id="rId22"/>
      <p:italic r:id="rId23"/>
      <p:boldItalic r:id="rId24"/>
    </p:embeddedFont>
    <p:embeddedFont>
      <p:font typeface="Calibri" panose="020F0502020204030204" pitchFamily="34" charset="-122"/>
      <p:regular r:id="rId25"/>
      <p:bold r:id="rId26"/>
      <p:italic r:id="rId27"/>
      <p:boldItalic r:id="rId28"/>
    </p:embeddedFont>
    <p:embeddedFont>
      <p:font typeface="Calibri" panose="020F0502020204030204" pitchFamily="34" charset="-120"/>
      <p:regular r:id="rId29"/>
      <p:bold r:id="rId30"/>
      <p:italic r:id="rId31"/>
      <p:boldItalic r:id="rId32"/>
    </p:embeddedFont>
    <p:embeddedFont>
      <p:font typeface="Britannic Bold" panose="020B0903060703020204" charset="0"/>
      <p:regular r:id="rId33"/>
    </p:embeddedFont>
    <p:embeddedFont>
      <p:font typeface="Corbel" panose="020B0503020204020204" pitchFamily="34" charset="-122"/>
      <p:regular r:id="rId34"/>
      <p:bold r:id="rId35"/>
      <p:italic r:id="rId36"/>
      <p:boldItalic r:id="rId37"/>
    </p:embeddedFont>
    <p:embeddedFont>
      <p:font typeface="Corbel" panose="020B0503020204020204" pitchFamily="34" charset="0"/>
      <p:regular r:id="rId38"/>
      <p:bold r:id="rId39"/>
      <p:italic r:id="rId40"/>
      <p:boldItalic r:id="rId41"/>
    </p:embeddedFont>
    <p:embeddedFont>
      <p:font typeface="Corbel" panose="020B0503020204020204" pitchFamily="34" charset="-120"/>
      <p:regular r:id="rId42"/>
      <p:bold r:id="rId43"/>
      <p:italic r:id="rId44"/>
      <p:boldItalic r:id="rId45"/>
    </p:embeddedFont>
    <p:embeddedFont>
      <p:font typeface="Cambria" panose="02040503050406030204" charset="0"/>
      <p:regular r:id="rId46"/>
      <p:bold r:id="rId47"/>
      <p:italic r:id="rId48"/>
      <p:boldItalic r:id="rId4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9" Type="http://schemas.openxmlformats.org/officeDocument/2006/relationships/font" Target="fonts/font32.fntdata"/><Relationship Id="rId48" Type="http://schemas.openxmlformats.org/officeDocument/2006/relationships/font" Target="fonts/font31.fntdata"/><Relationship Id="rId47" Type="http://schemas.openxmlformats.org/officeDocument/2006/relationships/font" Target="fonts/font30.fntdata"/><Relationship Id="rId46" Type="http://schemas.openxmlformats.org/officeDocument/2006/relationships/font" Target="fonts/font29.fntdata"/><Relationship Id="rId45" Type="http://schemas.openxmlformats.org/officeDocument/2006/relationships/font" Target="fonts/font28.fntdata"/><Relationship Id="rId44" Type="http://schemas.openxmlformats.org/officeDocument/2006/relationships/font" Target="fonts/font27.fntdata"/><Relationship Id="rId43" Type="http://schemas.openxmlformats.org/officeDocument/2006/relationships/font" Target="fonts/font26.fntdata"/><Relationship Id="rId42" Type="http://schemas.openxmlformats.org/officeDocument/2006/relationships/font" Target="fonts/font25.fntdata"/><Relationship Id="rId41" Type="http://schemas.openxmlformats.org/officeDocument/2006/relationships/font" Target="fonts/font24.fntdata"/><Relationship Id="rId40" Type="http://schemas.openxmlformats.org/officeDocument/2006/relationships/font" Target="fonts/font23.fntdata"/><Relationship Id="rId4" Type="http://schemas.openxmlformats.org/officeDocument/2006/relationships/notesMaster" Target="notesMasters/notesMaster1.xml"/><Relationship Id="rId39" Type="http://schemas.openxmlformats.org/officeDocument/2006/relationships/font" Target="fonts/font22.fntdata"/><Relationship Id="rId38" Type="http://schemas.openxmlformats.org/officeDocument/2006/relationships/font" Target="fonts/font21.fntdata"/><Relationship Id="rId37" Type="http://schemas.openxmlformats.org/officeDocument/2006/relationships/font" Target="fonts/font20.fntdata"/><Relationship Id="rId36" Type="http://schemas.openxmlformats.org/officeDocument/2006/relationships/font" Target="fonts/font19.fntdata"/><Relationship Id="rId35" Type="http://schemas.openxmlformats.org/officeDocument/2006/relationships/font" Target="fonts/font18.fntdata"/><Relationship Id="rId34" Type="http://schemas.openxmlformats.org/officeDocument/2006/relationships/font" Target="fonts/font17.fntdata"/><Relationship Id="rId33" Type="http://schemas.openxmlformats.org/officeDocument/2006/relationships/font" Target="fonts/font16.fntdata"/><Relationship Id="rId32" Type="http://schemas.openxmlformats.org/officeDocument/2006/relationships/font" Target="fonts/font15.fntdata"/><Relationship Id="rId31" Type="http://schemas.openxmlformats.org/officeDocument/2006/relationships/font" Target="fonts/font14.fntdata"/><Relationship Id="rId30" Type="http://schemas.openxmlformats.org/officeDocument/2006/relationships/font" Target="fonts/font13.fntdata"/><Relationship Id="rId3" Type="http://schemas.openxmlformats.org/officeDocument/2006/relationships/slide" Target="slides/slide1.xml"/><Relationship Id="rId29" Type="http://schemas.openxmlformats.org/officeDocument/2006/relationships/font" Target="fonts/font12.fntdata"/><Relationship Id="rId28" Type="http://schemas.openxmlformats.org/officeDocument/2006/relationships/font" Target="fonts/font11.fntdata"/><Relationship Id="rId27" Type="http://schemas.openxmlformats.org/officeDocument/2006/relationships/font" Target="fonts/font10.fntdata"/><Relationship Id="rId26" Type="http://schemas.openxmlformats.org/officeDocument/2006/relationships/font" Target="fonts/font9.fntdata"/><Relationship Id="rId25" Type="http://schemas.openxmlformats.org/officeDocument/2006/relationships/font" Target="fonts/font8.fntdata"/><Relationship Id="rId24" Type="http://schemas.openxmlformats.org/officeDocument/2006/relationships/font" Target="fonts/font7.fntdata"/><Relationship Id="rId23" Type="http://schemas.openxmlformats.org/officeDocument/2006/relationships/font" Target="fonts/font6.fntdata"/><Relationship Id="rId22" Type="http://schemas.openxmlformats.org/officeDocument/2006/relationships/font" Target="fonts/font5.fntdata"/><Relationship Id="rId21" Type="http://schemas.openxmlformats.org/officeDocument/2006/relationships/font" Target="fonts/font4.fntdata"/><Relationship Id="rId20" Type="http://schemas.openxmlformats.org/officeDocument/2006/relationships/font" Target="fonts/font3.fntdata"/><Relationship Id="rId2" Type="http://schemas.openxmlformats.org/officeDocument/2006/relationships/theme" Target="theme/theme1.xml"/><Relationship Id="rId19" Type="http://schemas.openxmlformats.org/officeDocument/2006/relationships/font" Target="fonts/font2.fntdata"/><Relationship Id="rId18" Type="http://schemas.openxmlformats.org/officeDocument/2006/relationships/font" Target="fonts/font1.fntdata"/><Relationship Id="rId17" Type="http://schemas.openxmlformats.org/officeDocument/2006/relationships/tableStyles" Target="tableStyles.xml"/><Relationship Id="rId16" Type="http://schemas.openxmlformats.org/officeDocument/2006/relationships/viewProps" Target="viewProps.xml"/><Relationship Id="rId15" Type="http://schemas.openxmlformats.org/officeDocument/2006/relationships/presProps" Target="presProps.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02336" y="280152"/>
            <a:ext cx="2345717" cy="487680"/>
          </a:xfrm>
        </p:spPr>
        <p:txBody>
          <a:bodyPr/>
          <a:lstStyle/>
          <a:p>
            <a:endParaRPr lang="en-IN"/>
          </a:p>
        </p:txBody>
      </p:sp>
      <p:sp>
        <p:nvSpPr>
          <p:cNvPr id="3" name="Footer Placeholder 2"/>
          <p:cNvSpPr>
            <a:spLocks noGrp="1"/>
          </p:cNvSpPr>
          <p:nvPr>
            <p:ph type="ftr" sz="quarter" idx="11"/>
          </p:nvPr>
        </p:nvSpPr>
        <p:spPr>
          <a:xfrm>
            <a:off x="10163313" y="280152"/>
            <a:ext cx="3345712" cy="487680"/>
          </a:xfrm>
        </p:spPr>
        <p:txBody>
          <a:bodyPr/>
          <a:lstStyle/>
          <a:p>
            <a:endParaRPr lang="en-IN"/>
          </a:p>
        </p:txBody>
      </p:sp>
      <p:sp>
        <p:nvSpPr>
          <p:cNvPr id="4" name="Slide Number Placeholder 3"/>
          <p:cNvSpPr>
            <a:spLocks noGrp="1"/>
          </p:cNvSpPr>
          <p:nvPr>
            <p:ph type="sldNum" sz="quarter" idx="12"/>
          </p:nvPr>
        </p:nvSpPr>
        <p:spPr>
          <a:xfrm>
            <a:off x="15067097" y="280152"/>
            <a:ext cx="807300" cy="487680"/>
          </a:xfrm>
        </p:spPr>
        <p:txBody>
          <a:bodyPr/>
          <a:lstStyle/>
          <a:p>
            <a:pPr marL="0" lvl="0" indent="0" algn="r" rtl="0">
              <a:spcBef>
                <a:spcPts val="0"/>
              </a:spcBef>
              <a:spcAft>
                <a:spcPts val="0"/>
              </a:spcAft>
              <a:buNone/>
            </a:pPr>
            <a:fld id="{00000000-1234-1234-1234-123412341234}" type="slidenum">
              <a:rPr lang="en-US" smtClean="0"/>
            </a:fld>
            <a:endParaRPr lang="en-US"/>
          </a:p>
        </p:txBody>
      </p:sp>
    </p:spTree>
  </p:cSld>
  <p:clrMapOvr>
    <a:masterClrMapping/>
  </p:clrMapOvr>
  <p:hf sldNum="0" hdr="0" ftr="0" dt="0"/>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2.xml"/><Relationship Id="rId4" Type="http://schemas.openxmlformats.org/officeDocument/2006/relationships/image" Target="../media/image4.jpe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xml"/><Relationship Id="rId2" Type="http://schemas.openxmlformats.org/officeDocument/2006/relationships/image" Target="../media/image6.png"/><Relationship Id="rId1"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jpeg"/><Relationship Id="rId1"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jpeg"/><Relationship Id="rId1"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4.jpe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9.png"/><Relationship Id="rId1" Type="http://schemas.openxmlformats.org/officeDocument/2006/relationships/image" Target="../media/image4.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1"/>
          <a:srcRect/>
          <a:stretch>
            <a:fillRect/>
          </a:stretch>
        </p:blipFill>
        <p:spPr>
          <a:xfrm>
            <a:off x="0" y="-123613"/>
            <a:ext cx="16256000" cy="9267613"/>
          </a:xfrm>
          <a:prstGeom prst="rect">
            <a:avLst/>
          </a:prstGeom>
          <a:noFill/>
          <a:ln>
            <a:noFill/>
          </a:ln>
        </p:spPr>
      </p:pic>
      <p:pic>
        <p:nvPicPr>
          <p:cNvPr id="85" name="Google Shape;85;p13" descr="image.png"/>
          <p:cNvPicPr preferRelativeResize="0"/>
          <p:nvPr/>
        </p:nvPicPr>
        <p:blipFill rotWithShape="1">
          <a:blip r:embed="rId2"/>
          <a:srcRect/>
          <a:stretch>
            <a:fillRect/>
          </a:stretch>
        </p:blipFill>
        <p:spPr>
          <a:xfrm>
            <a:off x="7366000" y="4969271"/>
            <a:ext cx="1524000" cy="50800"/>
          </a:xfrm>
          <a:prstGeom prst="rect">
            <a:avLst/>
          </a:prstGeom>
          <a:noFill/>
          <a:ln>
            <a:noFill/>
          </a:ln>
        </p:spPr>
      </p:pic>
      <p:pic>
        <p:nvPicPr>
          <p:cNvPr id="86" name="Google Shape;86;p13" descr="image.png"/>
          <p:cNvPicPr preferRelativeResize="0"/>
          <p:nvPr/>
        </p:nvPicPr>
        <p:blipFill rotWithShape="1">
          <a:blip r:embed="rId3"/>
          <a:srcRect/>
          <a:stretch>
            <a:fillRect/>
          </a:stretch>
        </p:blipFill>
        <p:spPr>
          <a:xfrm>
            <a:off x="7518400" y="5883671"/>
            <a:ext cx="1219200" cy="406400"/>
          </a:xfrm>
          <a:prstGeom prst="rect">
            <a:avLst/>
          </a:prstGeom>
          <a:noFill/>
          <a:ln>
            <a:noFill/>
          </a:ln>
        </p:spPr>
      </p:pic>
      <p:sp>
        <p:nvSpPr>
          <p:cNvPr id="87" name="Google Shape;87;p13"/>
          <p:cNvSpPr txBox="1"/>
          <p:nvPr/>
        </p:nvSpPr>
        <p:spPr>
          <a:xfrm>
            <a:off x="948690" y="1545590"/>
            <a:ext cx="14864715" cy="6915785"/>
          </a:xfrm>
          <a:prstGeom prst="rect">
            <a:avLst/>
          </a:prstGeom>
          <a:noFill/>
          <a:ln>
            <a:noFill/>
          </a:ln>
        </p:spPr>
        <p:txBody>
          <a:bodyPr spcFirstLastPara="1" wrap="square" lIns="0" tIns="0" rIns="0" bIns="0" anchor="t" anchorCtr="0">
            <a:noAutofit/>
          </a:bodyPr>
          <a:lstStyle/>
          <a:p>
            <a:pPr marL="0" indent="0" algn="l">
              <a:buNone/>
            </a:pPr>
            <a:endParaRPr lang="en-US" sz="1600" b="1" dirty="0">
              <a:solidFill>
                <a:srgbClr val="2F6FED"/>
              </a:solidFill>
              <a:latin typeface="Space Grotesk Medium"/>
              <a:cs typeface="Space Grotesk Medium"/>
              <a:sym typeface="Space Grotesk Medium"/>
            </a:endParaRPr>
          </a:p>
        </p:txBody>
      </p:sp>
      <p:sp>
        <p:nvSpPr>
          <p:cNvPr id="88" name="Google Shape;88;p13"/>
          <p:cNvSpPr txBox="1"/>
          <p:nvPr/>
        </p:nvSpPr>
        <p:spPr>
          <a:xfrm>
            <a:off x="6362276" y="5257984"/>
            <a:ext cx="3187700" cy="6254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endParaRPr lang="en-US" b="0" i="0" u="none" strike="noStrike" cap="none" dirty="0">
              <a:solidFill>
                <a:srgbClr val="5A6B85"/>
              </a:solidFill>
              <a:latin typeface="Outfit Light"/>
              <a:ea typeface="Outfit Light"/>
              <a:cs typeface="Outfit Light"/>
              <a:sym typeface="Outfit Light"/>
            </a:endParaRPr>
          </a:p>
          <a:p>
            <a:pPr marL="0" marR="0" lvl="0" indent="0" algn="ctr" rtl="0">
              <a:spcBef>
                <a:spcPts val="0"/>
              </a:spcBef>
              <a:spcAft>
                <a:spcPts val="0"/>
              </a:spcAft>
              <a:buNone/>
            </a:pPr>
            <a:endParaRPr sz="2265" dirty="0"/>
          </a:p>
        </p:txBody>
      </p:sp>
      <p:pic>
        <p:nvPicPr>
          <p:cNvPr id="3" name="Picture 2"/>
          <p:cNvPicPr>
            <a:picLocks noChangeAspect="1"/>
          </p:cNvPicPr>
          <p:nvPr/>
        </p:nvPicPr>
        <p:blipFill>
          <a:blip r:embed="rId4"/>
          <a:stretch>
            <a:fillRect/>
          </a:stretch>
        </p:blipFill>
        <p:spPr>
          <a:xfrm>
            <a:off x="0" y="-109220"/>
            <a:ext cx="16256000" cy="1420495"/>
          </a:xfrm>
          <a:prstGeom prst="rect">
            <a:avLst/>
          </a:prstGeom>
        </p:spPr>
      </p:pic>
      <p:sp>
        <p:nvSpPr>
          <p:cNvPr id="2" name="Text Box 1"/>
          <p:cNvSpPr txBox="1"/>
          <p:nvPr/>
        </p:nvSpPr>
        <p:spPr>
          <a:xfrm>
            <a:off x="3730625" y="6990080"/>
            <a:ext cx="11271250" cy="594360"/>
          </a:xfrm>
          <a:prstGeom prst="rect">
            <a:avLst/>
          </a:prstGeom>
        </p:spPr>
        <p:txBody>
          <a:bodyPr wrap="square">
            <a:noAutofit/>
          </a:bodyPr>
          <a:p>
            <a:pPr defTabSz="266700"/>
            <a:r>
              <a:rPr lang="en-US" altLang="en-US" sz="2135" dirty="0">
                <a:solidFill>
                  <a:srgbClr val="1E2761"/>
                </a:solidFill>
                <a:latin typeface="Outfit" pitchFamily="34" charset="0"/>
                <a:ea typeface="Outfit" pitchFamily="34" charset="-122"/>
                <a:cs typeface="Outfit" pitchFamily="34" charset="-120"/>
                <a:sym typeface="+mn-ea"/>
              </a:rPr>
              <a:t>Twinkle Mohanty | </a:t>
            </a:r>
            <a:r>
              <a:rPr lang="en-US" altLang="en-US" sz="2135" dirty="0">
                <a:solidFill>
                  <a:srgbClr val="1E2761"/>
                </a:solidFill>
                <a:latin typeface="Outfit" pitchFamily="34" charset="0"/>
                <a:ea typeface="Outfit" pitchFamily="34" charset="-122"/>
                <a:cs typeface="Outfit" pitchFamily="34" charset="-120"/>
                <a:sym typeface="+mn-ea"/>
              </a:rPr>
              <a:t>Tejasri Lakshmi Maddula | Subhashree Subhasmita </a:t>
            </a:r>
            <a:r>
              <a:rPr lang="en-US" altLang="en-US" sz="2135" dirty="0">
                <a:solidFill>
                  <a:srgbClr val="1E2761"/>
                </a:solidFill>
                <a:latin typeface="Outfit" pitchFamily="34" charset="0"/>
                <a:ea typeface="Outfit" pitchFamily="34" charset="-122"/>
                <a:cs typeface="Outfit" pitchFamily="34" charset="-120"/>
                <a:sym typeface="+mn-ea"/>
              </a:rPr>
              <a:t>  | Vennela Pathipaka</a:t>
            </a:r>
            <a:endParaRPr lang="en-US" sz="2135" dirty="0"/>
          </a:p>
          <a:p>
            <a:pPr defTabSz="266700"/>
            <a:endParaRPr sz="2135" b="1">
              <a:solidFill>
                <a:srgbClr val="000000"/>
              </a:solidFill>
              <a:latin typeface="Times New Roman" panose="02020603050405020304"/>
              <a:ea typeface="Aptos" panose="02110004020202020204"/>
            </a:endParaRPr>
          </a:p>
        </p:txBody>
      </p:sp>
      <p:sp>
        <p:nvSpPr>
          <p:cNvPr id="14" name="Text 11"/>
          <p:cNvSpPr/>
          <p:nvPr/>
        </p:nvSpPr>
        <p:spPr>
          <a:xfrm>
            <a:off x="15499689" y="8461248"/>
            <a:ext cx="414528" cy="414528"/>
          </a:xfrm>
          <a:prstGeom prst="rect">
            <a:avLst/>
          </a:prstGeom>
          <a:noFill/>
        </p:spPr>
        <p:txBody>
          <a:bodyPr wrap="square" lIns="0" tIns="0" rIns="0" bIns="0" rtlCol="0" anchor="ctr"/>
          <a:lstStyle/>
          <a:p>
            <a:pPr marL="0" indent="0" algn="ctr">
              <a:buNone/>
            </a:pPr>
            <a:r>
              <a:rPr lang="en-US" sz="2000" b="1" dirty="0">
                <a:solidFill>
                  <a:schemeClr val="accent6">
                    <a:lumMod val="60000"/>
                    <a:lumOff val="40000"/>
                  </a:schemeClr>
                </a:solidFill>
                <a:latin typeface="Calibri" panose="020F0502020204030204" charset="0"/>
                <a:ea typeface="Calibri" panose="020F0502020204030204" pitchFamily="34" charset="-122"/>
                <a:cs typeface="Calibri" panose="020F0502020204030204" pitchFamily="34" charset="-120"/>
              </a:rPr>
              <a:t>1</a:t>
            </a:r>
            <a:endParaRPr lang="en-US" sz="2000" b="1" dirty="0">
              <a:solidFill>
                <a:schemeClr val="accent6">
                  <a:lumMod val="60000"/>
                  <a:lumOff val="40000"/>
                </a:schemeClr>
              </a:solidFill>
              <a:latin typeface="Calibri" panose="020F0502020204030204" charset="0"/>
              <a:ea typeface="Calibri" panose="020F0502020204030204" pitchFamily="34" charset="-122"/>
              <a:cs typeface="Calibri" panose="020F0502020204030204" pitchFamily="34" charset="-120"/>
            </a:endParaRPr>
          </a:p>
        </p:txBody>
      </p:sp>
      <p:sp>
        <p:nvSpPr>
          <p:cNvPr id="4" name="Text Box 3"/>
          <p:cNvSpPr txBox="1"/>
          <p:nvPr/>
        </p:nvSpPr>
        <p:spPr>
          <a:xfrm>
            <a:off x="3449955" y="1995805"/>
            <a:ext cx="10187940" cy="706755"/>
          </a:xfrm>
          <a:prstGeom prst="rect">
            <a:avLst/>
          </a:prstGeom>
          <a:noFill/>
        </p:spPr>
        <p:txBody>
          <a:bodyPr wrap="square" rtlCol="0" anchor="t">
            <a:spAutoFit/>
          </a:bodyPr>
          <a:p>
            <a:pPr marL="0" indent="0" algn="ctr">
              <a:buNone/>
            </a:pPr>
            <a:r>
              <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rPr>
              <a:t>CYBER THREAT ANALYTICS PLATFORM WITH</a:t>
            </a:r>
            <a:endPar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endParaRPr>
          </a:p>
        </p:txBody>
      </p:sp>
      <p:sp>
        <p:nvSpPr>
          <p:cNvPr id="5" name="Text Box 4"/>
          <p:cNvSpPr txBox="1"/>
          <p:nvPr/>
        </p:nvSpPr>
        <p:spPr>
          <a:xfrm>
            <a:off x="2699385" y="2997835"/>
            <a:ext cx="11834495" cy="706755"/>
          </a:xfrm>
          <a:prstGeom prst="rect">
            <a:avLst/>
          </a:prstGeom>
          <a:noFill/>
        </p:spPr>
        <p:txBody>
          <a:bodyPr wrap="square" rtlCol="0" anchor="t">
            <a:spAutoFit/>
          </a:bodyPr>
          <a:p>
            <a:pPr marL="0" indent="0" algn="ctr">
              <a:buNone/>
            </a:pPr>
            <a:r>
              <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rPr>
              <a:t>INCIDENT VISUALIZATION SYSTEM GROUP -1</a:t>
            </a:r>
            <a:endParaRPr lang="en-US" altLang="en-US" sz="4000" b="1" dirty="0">
              <a:solidFill>
                <a:schemeClr val="accent1">
                  <a:lumMod val="50000"/>
                </a:schemeClr>
              </a:solidFill>
              <a:latin typeface="Britannic Bold" panose="020B0903060703020204" charset="0"/>
              <a:ea typeface="Corbel" panose="020B0503020204020204" pitchFamily="34" charset="-122"/>
              <a:cs typeface="Britannic Bold" panose="020B0903060703020204" charset="0"/>
              <a:sym typeface="+mn-ea"/>
            </a:endParaRPr>
          </a:p>
        </p:txBody>
      </p:sp>
      <p:sp>
        <p:nvSpPr>
          <p:cNvPr id="8" name="group-badge-text"/>
          <p:cNvSpPr/>
          <p:nvPr/>
        </p:nvSpPr>
        <p:spPr>
          <a:xfrm>
            <a:off x="6667500" y="3530600"/>
            <a:ext cx="2921000" cy="279400"/>
          </a:xfrm>
          <a:prstGeom prst="rect">
            <a:avLst/>
          </a:prstGeom>
          <a:noFill/>
        </p:spPr>
        <p:txBody>
          <a:bodyPr wrap="none" lIns="0" tIns="0" rIns="0" bIns="0" rtlCol="0" anchor="ctr"/>
          <a:lstStyle/>
          <a:p>
            <a:pPr marL="0" indent="0" algn="ctr">
              <a:buNone/>
            </a:pPr>
            <a:endParaRPr lang="en-US" sz="1500" dirty="0"/>
          </a:p>
        </p:txBody>
      </p:sp>
      <p:sp>
        <p:nvSpPr>
          <p:cNvPr id="7" name="group-badge"/>
          <p:cNvSpPr/>
          <p:nvPr/>
        </p:nvSpPr>
        <p:spPr>
          <a:xfrm>
            <a:off x="6667500" y="5661025"/>
            <a:ext cx="2881630" cy="676275"/>
          </a:xfrm>
          <a:prstGeom prst="roundRect">
            <a:avLst>
              <a:gd name="adj" fmla="val 50000"/>
            </a:avLst>
          </a:prstGeom>
          <a:solidFill>
            <a:srgbClr val="FEF3C7"/>
          </a:solidFill>
        </p:spPr>
        <p:txBody>
          <a:bodyPr/>
          <a:p>
            <a:pPr marL="0" indent="0" algn="ctr">
              <a:buNone/>
            </a:pPr>
            <a:r>
              <a:rPr lang="en-US" altLang="en-US" b="1" dirty="0">
                <a:solidFill>
                  <a:srgbClr val="F59E0B"/>
                </a:solidFill>
                <a:latin typeface="Outfit" pitchFamily="34" charset="0"/>
                <a:ea typeface="Outfit" pitchFamily="34" charset="-122"/>
                <a:cs typeface="Outfit" pitchFamily="34" charset="-120"/>
                <a:sym typeface="+mn-ea"/>
              </a:rPr>
              <a:t> BATCH-1  | TEAM D</a:t>
            </a:r>
            <a:endParaRPr lang="en-US"/>
          </a:p>
        </p:txBody>
      </p:sp>
      <p:sp>
        <p:nvSpPr>
          <p:cNvPr id="6" name="Text Box 5"/>
          <p:cNvSpPr txBox="1"/>
          <p:nvPr/>
        </p:nvSpPr>
        <p:spPr>
          <a:xfrm>
            <a:off x="4191000" y="4020185"/>
            <a:ext cx="8890000" cy="922020"/>
          </a:xfrm>
          <a:prstGeom prst="rect">
            <a:avLst/>
          </a:prstGeom>
          <a:noFill/>
        </p:spPr>
        <p:txBody>
          <a:bodyPr wrap="square" rtlCol="0">
            <a:spAutoFit/>
          </a:bodyPr>
          <a:p>
            <a:r>
              <a:rPr lang="en-US" altLang="en-US" dirty="0">
                <a:solidFill>
                  <a:srgbClr val="5A6B85"/>
                </a:solidFill>
                <a:latin typeface="Outfit" pitchFamily="34" charset="0"/>
                <a:ea typeface="Outfit" pitchFamily="34" charset="-122"/>
                <a:cs typeface="Outfit" pitchFamily="34" charset="-120"/>
                <a:sym typeface="+mn-ea"/>
              </a:rPr>
              <a:t>A data-driven solution for detecting cyber threats, cleaning incident records, and         communicating risk through interactive dashboards.</a:t>
            </a:r>
            <a:endParaRPr lang="en-US" dirty="0"/>
          </a:p>
          <a:p>
            <a:endParaRPr lang="en-US"/>
          </a:p>
        </p:txBody>
      </p:sp>
      <p:sp>
        <p:nvSpPr>
          <p:cNvPr id="9" name="Text Box 8"/>
          <p:cNvSpPr txBox="1"/>
          <p:nvPr/>
        </p:nvSpPr>
        <p:spPr>
          <a:xfrm>
            <a:off x="4191000" y="6621780"/>
            <a:ext cx="8128000" cy="368300"/>
          </a:xfrm>
          <a:prstGeom prst="rect">
            <a:avLst/>
          </a:prstGeom>
          <a:noFill/>
        </p:spPr>
        <p:txBody>
          <a:bodyPr wrap="square" rtlCol="0" anchor="t">
            <a:spAutoFit/>
          </a:bodyPr>
          <a:p>
            <a:pPr marL="0" indent="0" algn="ctr">
              <a:buNone/>
            </a:pPr>
            <a:r>
              <a:rPr lang="en-US" altLang="en-US" b="1" dirty="0">
                <a:solidFill>
                  <a:srgbClr val="0E8F63"/>
                </a:solidFill>
                <a:latin typeface="Outfit" pitchFamily="34" charset="0"/>
                <a:ea typeface="Outfit" pitchFamily="34" charset="-122"/>
                <a:cs typeface="Outfit" pitchFamily="34" charset="-120"/>
                <a:sym typeface="+mn-ea"/>
              </a:rPr>
              <a:t>PRESENTED BY</a:t>
            </a:r>
            <a:endParaRPr lang="en-US" altLang="en-US" b="1" dirty="0">
              <a:solidFill>
                <a:srgbClr val="0E8F63"/>
              </a:solidFill>
              <a:latin typeface="Outfit" pitchFamily="34" charset="0"/>
              <a:ea typeface="Outfit" pitchFamily="34" charset="-122"/>
              <a:cs typeface="Outfit" pitchFamily="34" charset="-120"/>
              <a:sym typeface="+mn-ea"/>
            </a:endParaRPr>
          </a:p>
        </p:txBody>
      </p:sp>
      <p:sp>
        <p:nvSpPr>
          <p:cNvPr id="10" name="Text Box 9"/>
          <p:cNvSpPr txBox="1"/>
          <p:nvPr/>
        </p:nvSpPr>
        <p:spPr>
          <a:xfrm>
            <a:off x="7100570" y="8101330"/>
            <a:ext cx="5418455" cy="645160"/>
          </a:xfrm>
          <a:prstGeom prst="rect">
            <a:avLst/>
          </a:prstGeom>
          <a:noFill/>
        </p:spPr>
        <p:txBody>
          <a:bodyPr wrap="square" rtlCol="0">
            <a:spAutoFit/>
          </a:bodyPr>
          <a:p>
            <a:r>
              <a:rPr lang="en-US">
                <a:solidFill>
                  <a:schemeClr val="tx1"/>
                </a:solidFill>
              </a:rPr>
              <a:t>Mentor :</a:t>
            </a:r>
            <a:r>
              <a:rPr lang="en-US"/>
              <a:t>  </a:t>
            </a:r>
            <a:r>
              <a:rPr lang="en-US" altLang="en-US" b="1" dirty="0">
                <a:solidFill>
                  <a:schemeClr val="tx1"/>
                </a:solidFill>
                <a:latin typeface="Calibri" panose="020F0502020204030204" charset="0"/>
                <a:ea typeface="Calibri" panose="020F0502020204030204" pitchFamily="34" charset="-122"/>
                <a:cs typeface="Calibri" panose="020F0502020204030204" pitchFamily="34" charset="-120"/>
                <a:sym typeface="+mn-ea"/>
              </a:rPr>
              <a:t>Mrs. Nithyasree</a:t>
            </a:r>
            <a:endParaRPr lang="en-US" altLang="en-US" b="1" dirty="0">
              <a:solidFill>
                <a:schemeClr val="tx1"/>
              </a:solidFill>
              <a:latin typeface="Calibri" panose="020F0502020204030204" charset="0"/>
              <a:ea typeface="Calibri" panose="020F0502020204030204" pitchFamily="34" charset="-122"/>
              <a:cs typeface="Calibri" panose="020F0502020204030204" pitchFamily="34" charset="-120"/>
            </a:endParaRPr>
          </a:p>
          <a:p>
            <a:endParaRPr lang="en-US" altLang="en-US" b="1" dirty="0">
              <a:solidFill>
                <a:schemeClr val="tx1"/>
              </a:solidFill>
              <a:latin typeface="Calibri" panose="020F0502020204030204" charset="0"/>
              <a:ea typeface="Calibri" panose="020F0502020204030204" pitchFamily="34" charset="-122"/>
              <a:cs typeface="Calibri" panose="020F0502020204030204" pitchFamily="34" charset="-120"/>
            </a:endParaRPr>
          </a:p>
        </p:txBody>
      </p:sp>
      <p:sp>
        <p:nvSpPr>
          <p:cNvPr id="11" name="Text Box 10"/>
          <p:cNvSpPr txBox="1"/>
          <p:nvPr/>
        </p:nvSpPr>
        <p:spPr>
          <a:xfrm>
            <a:off x="6362065" y="7584440"/>
            <a:ext cx="8128000" cy="398780"/>
          </a:xfrm>
          <a:prstGeom prst="rect">
            <a:avLst/>
          </a:prstGeom>
          <a:noFill/>
        </p:spPr>
        <p:txBody>
          <a:bodyPr wrap="square" rtlCol="0" anchor="t">
            <a:spAutoFit/>
          </a:bodyPr>
          <a:p>
            <a:pPr marL="0" indent="0">
              <a:buNone/>
            </a:pPr>
            <a:r>
              <a:rPr lang="en-US" sz="2000" b="1" dirty="0">
                <a:solidFill>
                  <a:schemeClr val="accent1"/>
                </a:solidFill>
                <a:latin typeface="Calibri" panose="020F0502020204030204" charset="0"/>
                <a:ea typeface="Calibri" panose="020F0502020204030204" pitchFamily="34" charset="-122"/>
                <a:cs typeface="Calibri" panose="020F0502020204030204" pitchFamily="34" charset="-120"/>
                <a:sym typeface="+mn-ea"/>
              </a:rPr>
              <a:t>Infosys Springboard — Virtual Internship 7.0</a:t>
            </a:r>
            <a:endParaRPr lang="en-US" sz="2000" b="1" dirty="0">
              <a:solidFill>
                <a:schemeClr val="accent1"/>
              </a:solidFill>
              <a:latin typeface="Calibri" panose="020F0502020204030204" charset="0"/>
              <a:ea typeface="Calibri" panose="020F0502020204030204" pitchFamily="34" charset="-122"/>
              <a:cs typeface="Calibri" panose="020F0502020204030204" pitchFamily="34" charset="-120"/>
              <a:sym typeface="+mn-ea"/>
            </a:endParaRPr>
          </a:p>
        </p:txBody>
      </p:sp>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06400" y="941705"/>
            <a:ext cx="50800" cy="368300"/>
          </a:xfrm>
          <a:prstGeom prst="rect">
            <a:avLst/>
          </a:prstGeom>
          <a:solidFill>
            <a:srgbClr val="0E8F63"/>
          </a:solidFill>
        </p:spPr>
      </p:sp>
      <p:sp>
        <p:nvSpPr>
          <p:cNvPr id="3" name="slide-title"/>
          <p:cNvSpPr/>
          <p:nvPr/>
        </p:nvSpPr>
        <p:spPr>
          <a:xfrm>
            <a:off x="635000" y="827405"/>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Project Objective</a:t>
            </a:r>
            <a:endParaRPr lang="en-US" sz="3000" dirty="0"/>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02</a:t>
            </a:r>
            <a:endParaRPr lang="en-US" sz="1400" dirty="0"/>
          </a:p>
        </p:txBody>
      </p:sp>
      <p:sp>
        <p:nvSpPr>
          <p:cNvPr id="5" name="objectives-tag"/>
          <p:cNvSpPr/>
          <p:nvPr/>
        </p:nvSpPr>
        <p:spPr>
          <a:xfrm>
            <a:off x="768985" y="1498600"/>
            <a:ext cx="1676400" cy="381000"/>
          </a:xfrm>
          <a:prstGeom prst="roundRect">
            <a:avLst>
              <a:gd name="adj" fmla="val 50000"/>
            </a:avLst>
          </a:prstGeom>
          <a:solidFill>
            <a:srgbClr val="EAF1FB"/>
          </a:solidFill>
        </p:spPr>
      </p:sp>
      <p:sp>
        <p:nvSpPr>
          <p:cNvPr id="6" name="objectives-tag-text"/>
          <p:cNvSpPr/>
          <p:nvPr/>
        </p:nvSpPr>
        <p:spPr>
          <a:xfrm>
            <a:off x="927100" y="1511300"/>
            <a:ext cx="1333500" cy="215900"/>
          </a:xfrm>
          <a:prstGeom prst="rect">
            <a:avLst/>
          </a:prstGeom>
          <a:noFill/>
        </p:spPr>
        <p:txBody>
          <a:bodyPr wrap="none" lIns="0" tIns="0" rIns="0" bIns="0" rtlCol="0" anchor="t"/>
          <a:lstStyle/>
          <a:p>
            <a:pPr marL="0" indent="0" algn="ctr">
              <a:buNone/>
            </a:pPr>
            <a:r>
              <a:rPr lang="en-US" altLang="en-US" sz="1400" b="1" dirty="0">
                <a:solidFill>
                  <a:srgbClr val="2F6FED"/>
                </a:solidFill>
                <a:latin typeface="Outfit" pitchFamily="34" charset="0"/>
                <a:ea typeface="Outfit" pitchFamily="34" charset="-122"/>
                <a:cs typeface="Outfit" pitchFamily="34" charset="-120"/>
              </a:rPr>
              <a:t>OBJECTIVES</a:t>
            </a:r>
            <a:endParaRPr lang="en-US" sz="1400" dirty="0"/>
          </a:p>
        </p:txBody>
      </p:sp>
      <p:sp>
        <p:nvSpPr>
          <p:cNvPr id="7" name="objective-card-1"/>
          <p:cNvSpPr/>
          <p:nvPr/>
        </p:nvSpPr>
        <p:spPr>
          <a:xfrm>
            <a:off x="762000" y="2032000"/>
            <a:ext cx="7112000" cy="1092200"/>
          </a:xfrm>
          <a:prstGeom prst="roundRect">
            <a:avLst>
              <a:gd name="adj" fmla="val 13953"/>
            </a:avLst>
          </a:prstGeom>
          <a:solidFill>
            <a:srgbClr val="FFFFFF"/>
          </a:solidFill>
          <a:ln w="12700">
            <a:solidFill>
              <a:srgbClr val="E2E8F0"/>
            </a:solidFill>
            <a:prstDash val="solid"/>
          </a:ln>
        </p:spPr>
      </p:sp>
      <p:sp>
        <p:nvSpPr>
          <p:cNvPr id="8" name="objective-badge-1"/>
          <p:cNvSpPr/>
          <p:nvPr/>
        </p:nvSpPr>
        <p:spPr>
          <a:xfrm>
            <a:off x="990600" y="2120900"/>
            <a:ext cx="355600" cy="355600"/>
          </a:xfrm>
          <a:prstGeom prst="ellipse">
            <a:avLst/>
          </a:prstGeom>
          <a:solidFill>
            <a:srgbClr val="2F6FED"/>
          </a:solidFill>
        </p:spPr>
      </p:sp>
      <p:sp>
        <p:nvSpPr>
          <p:cNvPr id="9" name="objective-badge-text-1"/>
          <p:cNvSpPr/>
          <p:nvPr/>
        </p:nvSpPr>
        <p:spPr>
          <a:xfrm>
            <a:off x="990600" y="2184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10" name="objective-title-1"/>
          <p:cNvSpPr/>
          <p:nvPr/>
        </p:nvSpPr>
        <p:spPr>
          <a:xfrm>
            <a:off x="1549400" y="2032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Detect malicious activity</a:t>
            </a:r>
            <a:endParaRPr lang="en-US" sz="1600" dirty="0"/>
          </a:p>
        </p:txBody>
      </p:sp>
      <p:sp>
        <p:nvSpPr>
          <p:cNvPr id="11" name="objective-body-1"/>
          <p:cNvSpPr/>
          <p:nvPr/>
        </p:nvSpPr>
        <p:spPr>
          <a:xfrm>
            <a:off x="1549400" y="2400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Identify attack patterns and suspicious network behavior.</a:t>
            </a:r>
            <a:endParaRPr lang="en-US" sz="1400" dirty="0"/>
          </a:p>
        </p:txBody>
      </p:sp>
      <p:sp>
        <p:nvSpPr>
          <p:cNvPr id="12" name="objective-card-2"/>
          <p:cNvSpPr/>
          <p:nvPr/>
        </p:nvSpPr>
        <p:spPr>
          <a:xfrm>
            <a:off x="8382000" y="1879600"/>
            <a:ext cx="7112000" cy="1092200"/>
          </a:xfrm>
          <a:prstGeom prst="roundRect">
            <a:avLst>
              <a:gd name="adj" fmla="val 13953"/>
            </a:avLst>
          </a:prstGeom>
          <a:solidFill>
            <a:srgbClr val="FFFFFF"/>
          </a:solidFill>
          <a:ln w="12700">
            <a:solidFill>
              <a:srgbClr val="E2E8F0"/>
            </a:solidFill>
            <a:prstDash val="solid"/>
          </a:ln>
        </p:spPr>
      </p:sp>
      <p:sp>
        <p:nvSpPr>
          <p:cNvPr id="13" name="objective-badge-2"/>
          <p:cNvSpPr/>
          <p:nvPr/>
        </p:nvSpPr>
        <p:spPr>
          <a:xfrm>
            <a:off x="8610600" y="2120900"/>
            <a:ext cx="355600" cy="355600"/>
          </a:xfrm>
          <a:prstGeom prst="ellipse">
            <a:avLst/>
          </a:prstGeom>
          <a:solidFill>
            <a:srgbClr val="0E8F63"/>
          </a:solidFill>
        </p:spPr>
      </p:sp>
      <p:sp>
        <p:nvSpPr>
          <p:cNvPr id="14" name="objective-badge-text-2"/>
          <p:cNvSpPr/>
          <p:nvPr/>
        </p:nvSpPr>
        <p:spPr>
          <a:xfrm>
            <a:off x="8610600" y="2184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15" name="objective-title-2"/>
          <p:cNvSpPr/>
          <p:nvPr/>
        </p:nvSpPr>
        <p:spPr>
          <a:xfrm>
            <a:off x="9169400" y="2032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Clean incident records</a:t>
            </a:r>
            <a:endParaRPr lang="en-US" sz="1600" dirty="0"/>
          </a:p>
        </p:txBody>
      </p:sp>
      <p:sp>
        <p:nvSpPr>
          <p:cNvPr id="16" name="objective-body-2"/>
          <p:cNvSpPr/>
          <p:nvPr/>
        </p:nvSpPr>
        <p:spPr>
          <a:xfrm>
            <a:off x="9169400" y="2400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Standardize incomplete or ambiguous fields for trustworthy analysis.</a:t>
            </a:r>
            <a:endParaRPr lang="en-US" sz="1400" dirty="0"/>
          </a:p>
        </p:txBody>
      </p:sp>
      <p:sp>
        <p:nvSpPr>
          <p:cNvPr id="17" name="objective-card-3"/>
          <p:cNvSpPr/>
          <p:nvPr/>
        </p:nvSpPr>
        <p:spPr>
          <a:xfrm>
            <a:off x="762000" y="3429000"/>
            <a:ext cx="7112000" cy="1092200"/>
          </a:xfrm>
          <a:prstGeom prst="roundRect">
            <a:avLst>
              <a:gd name="adj" fmla="val 13953"/>
            </a:avLst>
          </a:prstGeom>
          <a:solidFill>
            <a:srgbClr val="FFFFFF"/>
          </a:solidFill>
          <a:ln w="12700">
            <a:solidFill>
              <a:srgbClr val="E2E8F0"/>
            </a:solidFill>
            <a:prstDash val="solid"/>
          </a:ln>
        </p:spPr>
      </p:sp>
      <p:sp>
        <p:nvSpPr>
          <p:cNvPr id="18" name="objective-badge-3"/>
          <p:cNvSpPr/>
          <p:nvPr/>
        </p:nvSpPr>
        <p:spPr>
          <a:xfrm>
            <a:off x="990600" y="3517900"/>
            <a:ext cx="355600" cy="355600"/>
          </a:xfrm>
          <a:prstGeom prst="ellipse">
            <a:avLst/>
          </a:prstGeom>
          <a:solidFill>
            <a:srgbClr val="2F6FED"/>
          </a:solidFill>
        </p:spPr>
      </p:sp>
      <p:sp>
        <p:nvSpPr>
          <p:cNvPr id="19" name="objective-badge-text-3"/>
          <p:cNvSpPr/>
          <p:nvPr/>
        </p:nvSpPr>
        <p:spPr>
          <a:xfrm>
            <a:off x="990600" y="3581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20" name="objective-title-3"/>
          <p:cNvSpPr/>
          <p:nvPr/>
        </p:nvSpPr>
        <p:spPr>
          <a:xfrm>
            <a:off x="1549400" y="3429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Visualize security data</a:t>
            </a:r>
            <a:endParaRPr lang="en-US" sz="1600" dirty="0"/>
          </a:p>
        </p:txBody>
      </p:sp>
      <p:sp>
        <p:nvSpPr>
          <p:cNvPr id="21" name="objective-body-3"/>
          <p:cNvSpPr/>
          <p:nvPr/>
        </p:nvSpPr>
        <p:spPr>
          <a:xfrm>
            <a:off x="1549400" y="3797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Translate complex incidents into dashboards, charts, and timelines.</a:t>
            </a:r>
            <a:endParaRPr lang="en-US" sz="1400" dirty="0"/>
          </a:p>
        </p:txBody>
      </p:sp>
      <p:sp>
        <p:nvSpPr>
          <p:cNvPr id="22" name="objective-card-4"/>
          <p:cNvSpPr/>
          <p:nvPr/>
        </p:nvSpPr>
        <p:spPr>
          <a:xfrm>
            <a:off x="8382000" y="3276600"/>
            <a:ext cx="7112000" cy="1092200"/>
          </a:xfrm>
          <a:prstGeom prst="roundRect">
            <a:avLst>
              <a:gd name="adj" fmla="val 13953"/>
            </a:avLst>
          </a:prstGeom>
          <a:solidFill>
            <a:srgbClr val="FFFFFF"/>
          </a:solidFill>
          <a:ln w="12700">
            <a:solidFill>
              <a:srgbClr val="E2E8F0"/>
            </a:solidFill>
            <a:prstDash val="solid"/>
          </a:ln>
        </p:spPr>
      </p:sp>
      <p:sp>
        <p:nvSpPr>
          <p:cNvPr id="23" name="objective-badge-4"/>
          <p:cNvSpPr/>
          <p:nvPr/>
        </p:nvSpPr>
        <p:spPr>
          <a:xfrm>
            <a:off x="8610600" y="3517900"/>
            <a:ext cx="355600" cy="355600"/>
          </a:xfrm>
          <a:prstGeom prst="ellipse">
            <a:avLst/>
          </a:prstGeom>
          <a:solidFill>
            <a:srgbClr val="0E8F63"/>
          </a:solidFill>
        </p:spPr>
      </p:sp>
      <p:sp>
        <p:nvSpPr>
          <p:cNvPr id="24" name="objective-badge-text-4"/>
          <p:cNvSpPr/>
          <p:nvPr/>
        </p:nvSpPr>
        <p:spPr>
          <a:xfrm>
            <a:off x="8610600" y="3581400"/>
            <a:ext cx="3556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25" name="objective-title-4"/>
          <p:cNvSpPr/>
          <p:nvPr/>
        </p:nvSpPr>
        <p:spPr>
          <a:xfrm>
            <a:off x="9169400" y="3429000"/>
            <a:ext cx="57785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Improve response readiness</a:t>
            </a:r>
            <a:endParaRPr lang="en-US" sz="1600" dirty="0"/>
          </a:p>
        </p:txBody>
      </p:sp>
      <p:sp>
        <p:nvSpPr>
          <p:cNvPr id="26" name="objective-body-4"/>
          <p:cNvSpPr/>
          <p:nvPr/>
        </p:nvSpPr>
        <p:spPr>
          <a:xfrm>
            <a:off x="9169400" y="3797300"/>
            <a:ext cx="5816600" cy="317500"/>
          </a:xfrm>
          <a:prstGeom prst="rect">
            <a:avLst/>
          </a:prstGeom>
          <a:noFill/>
        </p:spPr>
        <p:txBody>
          <a:bodyPr wrap="square" lIns="0" tIns="0" rIns="0" bIns="0" rtlCol="0" anchor="t"/>
          <a:lstStyle/>
          <a:p>
            <a:pPr marL="0" indent="0" algn="l">
              <a:buNone/>
            </a:pPr>
            <a:r>
              <a:rPr lang="en-US" altLang="en-US" sz="1400" dirty="0">
                <a:solidFill>
                  <a:srgbClr val="5A6B85"/>
                </a:solidFill>
                <a:latin typeface="Outfit" pitchFamily="34" charset="0"/>
                <a:ea typeface="Outfit" pitchFamily="34" charset="-122"/>
                <a:cs typeface="Outfit" pitchFamily="34" charset="-120"/>
              </a:rPr>
              <a:t>Help analysts prioritize critical threats and act faster.</a:t>
            </a:r>
            <a:endParaRPr lang="en-US" sz="1400" dirty="0"/>
          </a:p>
        </p:txBody>
      </p:sp>
      <p:sp>
        <p:nvSpPr>
          <p:cNvPr id="27" name="modules-tag"/>
          <p:cNvSpPr/>
          <p:nvPr/>
        </p:nvSpPr>
        <p:spPr>
          <a:xfrm>
            <a:off x="762000" y="4826000"/>
            <a:ext cx="2159000" cy="381000"/>
          </a:xfrm>
          <a:prstGeom prst="roundRect">
            <a:avLst>
              <a:gd name="adj" fmla="val 50000"/>
            </a:avLst>
          </a:prstGeom>
          <a:solidFill>
            <a:srgbClr val="E9F6F0"/>
          </a:solidFill>
        </p:spPr>
      </p:sp>
      <p:sp>
        <p:nvSpPr>
          <p:cNvPr id="28" name="modules-tag-text"/>
          <p:cNvSpPr/>
          <p:nvPr/>
        </p:nvSpPr>
        <p:spPr>
          <a:xfrm>
            <a:off x="939800" y="4902200"/>
            <a:ext cx="1816100" cy="215900"/>
          </a:xfrm>
          <a:prstGeom prst="rect">
            <a:avLst/>
          </a:prstGeom>
          <a:noFill/>
        </p:spPr>
        <p:txBody>
          <a:bodyPr wrap="none" lIns="0" tIns="0" rIns="0" bIns="0" rtlCol="0" anchor="t"/>
          <a:lstStyle/>
          <a:p>
            <a:pPr marL="0" indent="0" algn="ctr">
              <a:buNone/>
            </a:pPr>
            <a:r>
              <a:rPr lang="en-US" altLang="en-US" sz="1400" b="1" dirty="0">
                <a:solidFill>
                  <a:srgbClr val="0E8F63"/>
                </a:solidFill>
                <a:latin typeface="Outfit" pitchFamily="34" charset="0"/>
                <a:ea typeface="Outfit" pitchFamily="34" charset="-122"/>
                <a:cs typeface="Outfit" pitchFamily="34" charset="-120"/>
              </a:rPr>
              <a:t>PROJECT MODULES</a:t>
            </a:r>
            <a:endParaRPr lang="en-US" sz="1400" dirty="0"/>
          </a:p>
        </p:txBody>
      </p:sp>
      <p:sp>
        <p:nvSpPr>
          <p:cNvPr id="29" name="module-card-1"/>
          <p:cNvSpPr/>
          <p:nvPr/>
        </p:nvSpPr>
        <p:spPr>
          <a:xfrm>
            <a:off x="762000" y="5461000"/>
            <a:ext cx="4572000" cy="736600"/>
          </a:xfrm>
          <a:prstGeom prst="roundRect">
            <a:avLst>
              <a:gd name="adj" fmla="val 20690"/>
            </a:avLst>
          </a:prstGeom>
          <a:solidFill>
            <a:srgbClr val="FFFFFF"/>
          </a:solidFill>
          <a:ln w="12700">
            <a:solidFill>
              <a:srgbClr val="E2E8F0"/>
            </a:solidFill>
            <a:prstDash val="solid"/>
          </a:ln>
        </p:spPr>
      </p:sp>
      <p:sp>
        <p:nvSpPr>
          <p:cNvPr id="30" name="module-badge-1"/>
          <p:cNvSpPr/>
          <p:nvPr/>
        </p:nvSpPr>
        <p:spPr>
          <a:xfrm>
            <a:off x="990600" y="5651500"/>
            <a:ext cx="330200" cy="330200"/>
          </a:xfrm>
          <a:prstGeom prst="ellipse">
            <a:avLst/>
          </a:prstGeom>
          <a:solidFill>
            <a:srgbClr val="0E8F63"/>
          </a:solidFill>
        </p:spPr>
      </p:sp>
      <p:sp>
        <p:nvSpPr>
          <p:cNvPr id="31" name="module-badge-text-1"/>
          <p:cNvSpPr/>
          <p:nvPr/>
        </p:nvSpPr>
        <p:spPr>
          <a:xfrm>
            <a:off x="990600" y="57023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32" name="module-text-1"/>
          <p:cNvSpPr/>
          <p:nvPr/>
        </p:nvSpPr>
        <p:spPr>
          <a:xfrm>
            <a:off x="1498600" y="5651500"/>
            <a:ext cx="3556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Data acquisition &amp; understanding</a:t>
            </a:r>
            <a:endParaRPr lang="en-US" sz="1400" dirty="0"/>
          </a:p>
        </p:txBody>
      </p:sp>
      <p:sp>
        <p:nvSpPr>
          <p:cNvPr id="33" name="module-card-2"/>
          <p:cNvSpPr/>
          <p:nvPr/>
        </p:nvSpPr>
        <p:spPr>
          <a:xfrm>
            <a:off x="5842000" y="5461000"/>
            <a:ext cx="4572000" cy="736600"/>
          </a:xfrm>
          <a:prstGeom prst="roundRect">
            <a:avLst>
              <a:gd name="adj" fmla="val 20690"/>
            </a:avLst>
          </a:prstGeom>
          <a:solidFill>
            <a:srgbClr val="FFFFFF"/>
          </a:solidFill>
          <a:ln w="12700">
            <a:solidFill>
              <a:srgbClr val="E2E8F0"/>
            </a:solidFill>
            <a:prstDash val="solid"/>
          </a:ln>
        </p:spPr>
      </p:sp>
      <p:sp>
        <p:nvSpPr>
          <p:cNvPr id="34" name="module-badge-2"/>
          <p:cNvSpPr/>
          <p:nvPr/>
        </p:nvSpPr>
        <p:spPr>
          <a:xfrm>
            <a:off x="6070600" y="5651500"/>
            <a:ext cx="330200" cy="330200"/>
          </a:xfrm>
          <a:prstGeom prst="ellipse">
            <a:avLst/>
          </a:prstGeom>
          <a:solidFill>
            <a:srgbClr val="0E8F63"/>
          </a:solidFill>
        </p:spPr>
      </p:sp>
      <p:sp>
        <p:nvSpPr>
          <p:cNvPr id="35" name="module-badge-text-2"/>
          <p:cNvSpPr/>
          <p:nvPr/>
        </p:nvSpPr>
        <p:spPr>
          <a:xfrm>
            <a:off x="6070600" y="57023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36" name="module-text-2"/>
          <p:cNvSpPr/>
          <p:nvPr/>
        </p:nvSpPr>
        <p:spPr>
          <a:xfrm>
            <a:off x="6578600" y="5651500"/>
            <a:ext cx="3556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Preprocessing &amp; feature engineering</a:t>
            </a:r>
            <a:endParaRPr lang="en-US" sz="1400" dirty="0"/>
          </a:p>
        </p:txBody>
      </p:sp>
      <p:sp>
        <p:nvSpPr>
          <p:cNvPr id="37" name="module-card-3"/>
          <p:cNvSpPr/>
          <p:nvPr/>
        </p:nvSpPr>
        <p:spPr>
          <a:xfrm>
            <a:off x="10922000" y="5461000"/>
            <a:ext cx="4572000" cy="736600"/>
          </a:xfrm>
          <a:prstGeom prst="roundRect">
            <a:avLst>
              <a:gd name="adj" fmla="val 20690"/>
            </a:avLst>
          </a:prstGeom>
          <a:solidFill>
            <a:srgbClr val="FFFFFF"/>
          </a:solidFill>
          <a:ln w="12700">
            <a:solidFill>
              <a:srgbClr val="E2E8F0"/>
            </a:solidFill>
            <a:prstDash val="solid"/>
          </a:ln>
        </p:spPr>
      </p:sp>
      <p:sp>
        <p:nvSpPr>
          <p:cNvPr id="38" name="module-badge-3"/>
          <p:cNvSpPr/>
          <p:nvPr/>
        </p:nvSpPr>
        <p:spPr>
          <a:xfrm>
            <a:off x="11150600" y="5651500"/>
            <a:ext cx="330200" cy="330200"/>
          </a:xfrm>
          <a:prstGeom prst="ellipse">
            <a:avLst/>
          </a:prstGeom>
          <a:solidFill>
            <a:srgbClr val="0E8F63"/>
          </a:solidFill>
        </p:spPr>
      </p:sp>
      <p:sp>
        <p:nvSpPr>
          <p:cNvPr id="39" name="module-badge-text-3"/>
          <p:cNvSpPr/>
          <p:nvPr/>
        </p:nvSpPr>
        <p:spPr>
          <a:xfrm>
            <a:off x="11150600" y="57023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40" name="module-text-3"/>
          <p:cNvSpPr/>
          <p:nvPr/>
        </p:nvSpPr>
        <p:spPr>
          <a:xfrm>
            <a:off x="11658600" y="5651500"/>
            <a:ext cx="3556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Threat modeling &amp; classification</a:t>
            </a:r>
            <a:endParaRPr lang="en-US" sz="1400" dirty="0"/>
          </a:p>
        </p:txBody>
      </p:sp>
      <p:sp>
        <p:nvSpPr>
          <p:cNvPr id="41" name="module-card-4"/>
          <p:cNvSpPr/>
          <p:nvPr/>
        </p:nvSpPr>
        <p:spPr>
          <a:xfrm>
            <a:off x="762000" y="6553200"/>
            <a:ext cx="4588510" cy="736600"/>
          </a:xfrm>
          <a:prstGeom prst="roundRect">
            <a:avLst>
              <a:gd name="adj" fmla="val 20690"/>
            </a:avLst>
          </a:prstGeom>
          <a:solidFill>
            <a:srgbClr val="FFFFFF"/>
          </a:solidFill>
          <a:ln w="12700">
            <a:solidFill>
              <a:srgbClr val="E2E8F0"/>
            </a:solidFill>
            <a:prstDash val="solid"/>
          </a:ln>
        </p:spPr>
      </p:sp>
      <p:sp>
        <p:nvSpPr>
          <p:cNvPr id="42" name="module-badge-4"/>
          <p:cNvSpPr/>
          <p:nvPr/>
        </p:nvSpPr>
        <p:spPr>
          <a:xfrm>
            <a:off x="990600" y="6743700"/>
            <a:ext cx="330200" cy="330200"/>
          </a:xfrm>
          <a:prstGeom prst="ellipse">
            <a:avLst/>
          </a:prstGeom>
          <a:solidFill>
            <a:srgbClr val="0E8F63"/>
          </a:solidFill>
        </p:spPr>
      </p:sp>
      <p:sp>
        <p:nvSpPr>
          <p:cNvPr id="43" name="module-badge-text-4"/>
          <p:cNvSpPr/>
          <p:nvPr/>
        </p:nvSpPr>
        <p:spPr>
          <a:xfrm>
            <a:off x="990600" y="67945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44" name="module-text-4"/>
          <p:cNvSpPr/>
          <p:nvPr/>
        </p:nvSpPr>
        <p:spPr>
          <a:xfrm>
            <a:off x="1498600" y="6794500"/>
            <a:ext cx="5969000" cy="279400"/>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Dashboard &amp; incident visualization</a:t>
            </a:r>
            <a:endParaRPr lang="en-US" sz="1400" dirty="0"/>
          </a:p>
        </p:txBody>
      </p:sp>
      <p:sp>
        <p:nvSpPr>
          <p:cNvPr id="45" name="module-card-5"/>
          <p:cNvSpPr/>
          <p:nvPr/>
        </p:nvSpPr>
        <p:spPr>
          <a:xfrm>
            <a:off x="5750560" y="6553200"/>
            <a:ext cx="4663440" cy="736600"/>
          </a:xfrm>
          <a:prstGeom prst="roundRect">
            <a:avLst>
              <a:gd name="adj" fmla="val 20690"/>
            </a:avLst>
          </a:prstGeom>
          <a:solidFill>
            <a:srgbClr val="FFFFFF"/>
          </a:solidFill>
          <a:ln w="12700">
            <a:solidFill>
              <a:srgbClr val="E2E8F0"/>
            </a:solidFill>
            <a:prstDash val="solid"/>
          </a:ln>
        </p:spPr>
      </p:sp>
      <p:sp>
        <p:nvSpPr>
          <p:cNvPr id="46" name="module-badge-5"/>
          <p:cNvSpPr/>
          <p:nvPr/>
        </p:nvSpPr>
        <p:spPr>
          <a:xfrm>
            <a:off x="6070600" y="6819900"/>
            <a:ext cx="330200" cy="330200"/>
          </a:xfrm>
          <a:prstGeom prst="ellipse">
            <a:avLst/>
          </a:prstGeom>
          <a:solidFill>
            <a:srgbClr val="0E8F63"/>
          </a:solidFill>
        </p:spPr>
      </p:sp>
      <p:sp>
        <p:nvSpPr>
          <p:cNvPr id="47" name="module-badge-text-5"/>
          <p:cNvSpPr/>
          <p:nvPr/>
        </p:nvSpPr>
        <p:spPr>
          <a:xfrm>
            <a:off x="6070600" y="6616700"/>
            <a:ext cx="330200" cy="203200"/>
          </a:xfrm>
          <a:prstGeom prst="rect">
            <a:avLst/>
          </a:prstGeom>
          <a:noFill/>
        </p:spPr>
        <p:txBody>
          <a:bodyPr wrap="none" lIns="0" tIns="0" rIns="0" bIns="0" rtlCol="0" anchor="t"/>
          <a:lstStyle/>
          <a:p>
            <a:pPr marL="0" indent="0" algn="ctr">
              <a:buNone/>
            </a:pPr>
            <a:endParaRPr lang="en-US" sz="1400" dirty="0"/>
          </a:p>
        </p:txBody>
      </p:sp>
      <p:sp>
        <p:nvSpPr>
          <p:cNvPr id="48" name="module-text-5"/>
          <p:cNvSpPr/>
          <p:nvPr/>
        </p:nvSpPr>
        <p:spPr>
          <a:xfrm>
            <a:off x="6638290" y="6870700"/>
            <a:ext cx="2948940" cy="277495"/>
          </a:xfrm>
          <a:prstGeom prst="rect">
            <a:avLst/>
          </a:prstGeom>
          <a:noFill/>
        </p:spPr>
        <p:txBody>
          <a:bodyPr wrap="non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Reporting &amp; decision support</a:t>
            </a:r>
            <a:endParaRPr lang="en-US" sz="1400" dirty="0"/>
          </a:p>
        </p:txBody>
      </p:sp>
      <p:pic>
        <p:nvPicPr>
          <p:cNvPr id="49" name="Picture 48"/>
          <p:cNvPicPr>
            <a:picLocks noChangeAspect="1"/>
          </p:cNvPicPr>
          <p:nvPr/>
        </p:nvPicPr>
        <p:blipFill>
          <a:blip r:embed="rId1"/>
          <a:srcRect t="27119" b="14044"/>
          <a:stretch>
            <a:fillRect/>
          </a:stretch>
        </p:blipFill>
        <p:spPr>
          <a:xfrm>
            <a:off x="0" y="0"/>
            <a:ext cx="16256000" cy="745490"/>
          </a:xfrm>
          <a:prstGeom prst="rect">
            <a:avLst/>
          </a:prstGeom>
        </p:spPr>
      </p:pic>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2</a:t>
            </a:r>
            <a:endParaRPr lang="en-US"/>
          </a:p>
        </p:txBody>
      </p:sp>
      <p:sp>
        <p:nvSpPr>
          <p:cNvPr id="51" name="module-badge-text-5"/>
          <p:cNvSpPr/>
          <p:nvPr/>
        </p:nvSpPr>
        <p:spPr>
          <a:xfrm>
            <a:off x="6070600" y="68707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5</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portedSlideImage"/>
          <p:cNvPicPr>
            <a:picLocks noChangeAspect="1"/>
          </p:cNvPicPr>
          <p:nvPr/>
        </p:nvPicPr>
        <p:blipFill>
          <a:blip r:embed="rId1"/>
          <a:stretch>
            <a:fillRect/>
          </a:stretch>
        </p:blipFill>
        <p:spPr>
          <a:xfrm>
            <a:off x="0" y="19719"/>
            <a:ext cx="16256000" cy="9104561"/>
          </a:xfrm>
          <a:prstGeom prst="rect">
            <a:avLst/>
          </a:prstGeom>
        </p:spPr>
      </p:pic>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06400" y="1092835"/>
            <a:ext cx="50800" cy="368300"/>
          </a:xfrm>
          <a:prstGeom prst="rect">
            <a:avLst/>
          </a:prstGeom>
          <a:solidFill>
            <a:srgbClr val="0E8F63"/>
          </a:solidFill>
        </p:spPr>
      </p:sp>
      <p:sp>
        <p:nvSpPr>
          <p:cNvPr id="3" name="slide-title"/>
          <p:cNvSpPr/>
          <p:nvPr/>
        </p:nvSpPr>
        <p:spPr>
          <a:xfrm>
            <a:off x="635000" y="1092835"/>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Project Workflow </a:t>
            </a:r>
            <a:endParaRPr lang="en-US" sz="3000" dirty="0"/>
          </a:p>
        </p:txBody>
      </p:sp>
      <p:sp>
        <p:nvSpPr>
          <p:cNvPr id="6"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03</a:t>
            </a:r>
            <a:endParaRPr lang="en-US" sz="1400" dirty="0"/>
          </a:p>
        </p:txBody>
      </p:sp>
      <p:sp>
        <p:nvSpPr>
          <p:cNvPr id="27" name="workflow-label"/>
          <p:cNvSpPr/>
          <p:nvPr/>
        </p:nvSpPr>
        <p:spPr>
          <a:xfrm>
            <a:off x="635000" y="1963420"/>
            <a:ext cx="2649220" cy="556895"/>
          </a:xfrm>
          <a:prstGeom prst="roundRect">
            <a:avLst>
              <a:gd name="adj" fmla="val 50000"/>
            </a:avLst>
          </a:prstGeom>
          <a:solidFill>
            <a:srgbClr val="FEF3C7"/>
          </a:solidFill>
        </p:spPr>
      </p:sp>
      <p:sp>
        <p:nvSpPr>
          <p:cNvPr id="28" name="workflow-label-text"/>
          <p:cNvSpPr/>
          <p:nvPr/>
        </p:nvSpPr>
        <p:spPr>
          <a:xfrm>
            <a:off x="965200" y="2141220"/>
            <a:ext cx="1955800" cy="203200"/>
          </a:xfrm>
          <a:prstGeom prst="rect">
            <a:avLst/>
          </a:prstGeom>
          <a:noFill/>
        </p:spPr>
        <p:txBody>
          <a:bodyPr wrap="none" lIns="0" tIns="0" rIns="0" bIns="0" rtlCol="0" anchor="t"/>
          <a:lstStyle/>
          <a:p>
            <a:pPr marL="0" indent="0" algn="ctr">
              <a:buNone/>
            </a:pPr>
            <a:r>
              <a:rPr lang="en-US" altLang="en-US" sz="1400" b="1" dirty="0">
                <a:solidFill>
                  <a:srgbClr val="F59E0B"/>
                </a:solidFill>
                <a:latin typeface="Outfit" pitchFamily="34" charset="0"/>
                <a:ea typeface="Outfit" pitchFamily="34" charset="-122"/>
                <a:cs typeface="Outfit" pitchFamily="34" charset="-120"/>
              </a:rPr>
              <a:t>END-TO-END WORKFLOW</a:t>
            </a:r>
            <a:endParaRPr lang="en-US" sz="1400" dirty="0"/>
          </a:p>
        </p:txBody>
      </p:sp>
      <p:sp>
        <p:nvSpPr>
          <p:cNvPr id="53" name="workflow-text-5"/>
          <p:cNvSpPr/>
          <p:nvPr/>
        </p:nvSpPr>
        <p:spPr>
          <a:xfrm>
            <a:off x="11506200" y="5041900"/>
            <a:ext cx="1371600" cy="558800"/>
          </a:xfrm>
          <a:prstGeom prst="rect">
            <a:avLst/>
          </a:prstGeom>
          <a:noFill/>
        </p:spPr>
        <p:txBody>
          <a:bodyPr wrap="square" lIns="0" tIns="0" rIns="0" bIns="0" rtlCol="0" anchor="ctr"/>
          <a:lstStyle/>
          <a:p>
            <a:pPr marL="0" indent="0" algn="ctr">
              <a:buNone/>
            </a:pPr>
            <a:endParaRPr lang="en-US" sz="1300" dirty="0"/>
          </a:p>
        </p:txBody>
      </p:sp>
      <p:sp>
        <p:nvSpPr>
          <p:cNvPr id="58" name="workflow-takeaway"/>
          <p:cNvSpPr/>
          <p:nvPr/>
        </p:nvSpPr>
        <p:spPr>
          <a:xfrm>
            <a:off x="2286000" y="7623810"/>
            <a:ext cx="11684000" cy="355600"/>
          </a:xfrm>
          <a:prstGeom prst="rect">
            <a:avLst/>
          </a:prstGeom>
          <a:noFill/>
        </p:spPr>
        <p:txBody>
          <a:bodyPr wrap="none" lIns="0" tIns="0" rIns="0" bIns="0" rtlCol="0" anchor="ctr"/>
          <a:lstStyle/>
          <a:p>
            <a:pPr marL="0" indent="0" algn="ctr">
              <a:buNone/>
            </a:pPr>
            <a:r>
              <a:rPr lang="en-US" altLang="en-US" sz="1800" b="1" dirty="0">
                <a:solidFill>
                  <a:srgbClr val="1E2761"/>
                </a:solidFill>
                <a:latin typeface="Corbel" panose="020B0503020204020204" pitchFamily="34" charset="0"/>
                <a:ea typeface="Corbel" panose="020B0503020204020204" pitchFamily="34" charset="-122"/>
                <a:cs typeface="Corbel" panose="020B0503020204020204" pitchFamily="34" charset="-120"/>
              </a:rPr>
              <a:t>From raw incident records to decision-ready security insight</a:t>
            </a:r>
            <a:endParaRPr lang="en-US" sz="1800" dirty="0"/>
          </a:p>
        </p:txBody>
      </p:sp>
      <p:sp>
        <p:nvSpPr>
          <p:cNvPr id="59" name="workflow-note"/>
          <p:cNvSpPr/>
          <p:nvPr/>
        </p:nvSpPr>
        <p:spPr>
          <a:xfrm>
            <a:off x="2921000" y="8007350"/>
            <a:ext cx="10414000" cy="304800"/>
          </a:xfrm>
          <a:prstGeom prst="rect">
            <a:avLst/>
          </a:prstGeom>
          <a:noFill/>
        </p:spPr>
        <p:txBody>
          <a:bodyPr wrap="none" lIns="0" tIns="0" rIns="0" bIns="0" rtlCol="0" anchor="ctr"/>
          <a:lstStyle/>
          <a:p>
            <a:pPr marL="0" indent="0" algn="ctr">
              <a:buNone/>
            </a:pPr>
            <a:r>
              <a:rPr lang="en-US" altLang="en-US" sz="1400" dirty="0">
                <a:solidFill>
                  <a:srgbClr val="5A6B85"/>
                </a:solidFill>
                <a:latin typeface="Outfit" pitchFamily="34" charset="0"/>
                <a:ea typeface="Outfit" pitchFamily="34" charset="-122"/>
                <a:cs typeface="Outfit" pitchFamily="34" charset="-120"/>
              </a:rPr>
              <a:t>The workflow preserves record counts while turning noisy event data into structured, explainable outputs.</a:t>
            </a:r>
            <a:endParaRPr lang="en-US" sz="1400" dirty="0"/>
          </a:p>
        </p:txBody>
      </p:sp>
      <p:sp>
        <p:nvSpPr>
          <p:cNvPr id="6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4</a:t>
            </a:r>
            <a:endParaRPr lang="en-US"/>
          </a:p>
        </p:txBody>
      </p:sp>
      <p:pic>
        <p:nvPicPr>
          <p:cNvPr id="61" name="Picture 60"/>
          <p:cNvPicPr>
            <a:picLocks noChangeAspect="1"/>
          </p:cNvPicPr>
          <p:nvPr/>
        </p:nvPicPr>
        <p:blipFill>
          <a:blip r:embed="rId1"/>
          <a:srcRect t="27119" b="14044"/>
          <a:stretch>
            <a:fillRect/>
          </a:stretch>
        </p:blipFill>
        <p:spPr>
          <a:xfrm>
            <a:off x="0" y="0"/>
            <a:ext cx="16256000" cy="704850"/>
          </a:xfrm>
          <a:prstGeom prst="rect">
            <a:avLst/>
          </a:prstGeom>
        </p:spPr>
      </p:pic>
      <p:pic>
        <p:nvPicPr>
          <p:cNvPr id="62" name="Picture 61" descr="ChatGPT Image Aug 17, 2026, 10_49_40 AM"/>
          <p:cNvPicPr>
            <a:picLocks noChangeAspect="1"/>
          </p:cNvPicPr>
          <p:nvPr/>
        </p:nvPicPr>
        <p:blipFill>
          <a:blip r:embed="rId2"/>
          <a:srcRect t="21608" b="14053"/>
          <a:stretch>
            <a:fillRect/>
          </a:stretch>
        </p:blipFill>
        <p:spPr>
          <a:xfrm>
            <a:off x="635000" y="2787650"/>
            <a:ext cx="13288645" cy="439293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portedSlideImage"/>
          <p:cNvPicPr>
            <a:picLocks noChangeAspect="1"/>
          </p:cNvPicPr>
          <p:nvPr/>
        </p:nvPicPr>
        <p:blipFill>
          <a:blip r:embed="rId1"/>
          <a:stretch>
            <a:fillRect/>
          </a:stretch>
        </p:blipFill>
        <p:spPr>
          <a:xfrm>
            <a:off x="0" y="6647"/>
            <a:ext cx="16256000" cy="9130706"/>
          </a:xfrm>
          <a:prstGeom prst="rect">
            <a:avLst/>
          </a:prstGeom>
        </p:spPr>
      </p:pic>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5</a:t>
            </a:r>
            <a:endParaRPr lang="en-US"/>
          </a:p>
        </p:txBody>
      </p:sp>
      <p:pic>
        <p:nvPicPr>
          <p:cNvPr id="61" name="Picture 60"/>
          <p:cNvPicPr>
            <a:picLocks noChangeAspect="1"/>
          </p:cNvPicPr>
          <p:nvPr/>
        </p:nvPicPr>
        <p:blipFill>
          <a:blip r:embed="rId2"/>
          <a:srcRect t="27119" b="14044"/>
          <a:stretch>
            <a:fillRect/>
          </a:stretch>
        </p:blipFill>
        <p:spPr>
          <a:xfrm>
            <a:off x="0" y="0"/>
            <a:ext cx="16256000" cy="645160"/>
          </a:xfrm>
          <a:prstGeom prst="rect">
            <a:avLst/>
          </a:prstGeom>
        </p:spPr>
      </p:pic>
      <p:sp>
        <p:nvSpPr>
          <p:cNvPr id="7" name="objective-card-1"/>
          <p:cNvSpPr/>
          <p:nvPr/>
        </p:nvSpPr>
        <p:spPr>
          <a:xfrm>
            <a:off x="416560" y="515620"/>
            <a:ext cx="2444115" cy="762635"/>
          </a:xfrm>
          <a:prstGeom prst="roundRect">
            <a:avLst>
              <a:gd name="adj" fmla="val 13953"/>
            </a:avLst>
          </a:prstGeom>
          <a:solidFill>
            <a:srgbClr val="FFFFFF"/>
          </a:solidFill>
          <a:ln w="12700">
            <a:solidFill>
              <a:srgbClr val="E2E8F0"/>
            </a:solidFill>
            <a:prstDash val="solid"/>
          </a:ln>
        </p:spPr>
        <p:txBody>
          <a:bodyPr/>
          <a:p>
            <a:pPr marL="0" indent="0" algn="l">
              <a:buNone/>
            </a:pPr>
            <a:r>
              <a:rPr lang="en-US" altLang="en-US" sz="3000" b="1" dirty="0">
                <a:solidFill>
                  <a:srgbClr val="1E2761"/>
                </a:solidFill>
                <a:latin typeface="Corbel" panose="020B0503020204020204" pitchFamily="34" charset="0"/>
                <a:ea typeface="Outfit" pitchFamily="34" charset="-122"/>
                <a:cs typeface="Corbel" panose="020B0503020204020204" pitchFamily="34" charset="0"/>
                <a:sym typeface="+mn-ea"/>
              </a:rPr>
              <a:t>Dashboards</a:t>
            </a:r>
            <a:endParaRPr lang="en-US" sz="3000">
              <a:latin typeface="Corbel" panose="020B0503020204020204" pitchFamily="34" charset="0"/>
              <a:cs typeface="Corbel" panose="020B0503020204020204" pitchFamily="34" charset="0"/>
            </a:endParaRPr>
          </a:p>
        </p:txBody>
      </p:sp>
      <p:sp>
        <p:nvSpPr>
          <p:cNvPr id="4" name="title-rule"/>
          <p:cNvSpPr/>
          <p:nvPr/>
        </p:nvSpPr>
        <p:spPr>
          <a:xfrm>
            <a:off x="406400" y="645160"/>
            <a:ext cx="50800" cy="368300"/>
          </a:xfrm>
          <a:prstGeom prst="rect">
            <a:avLst/>
          </a:prstGeom>
          <a:solidFill>
            <a:srgbClr val="0E8F63"/>
          </a:solidFill>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portedSlideImage"/>
          <p:cNvPicPr>
            <a:picLocks noChangeAspect="1"/>
          </p:cNvPicPr>
          <p:nvPr/>
        </p:nvPicPr>
        <p:blipFill>
          <a:blip r:embed="rId1"/>
          <a:stretch>
            <a:fillRect/>
          </a:stretch>
        </p:blipFill>
        <p:spPr>
          <a:xfrm>
            <a:off x="-2540" y="-29210"/>
            <a:ext cx="16251555" cy="9196705"/>
          </a:xfrm>
          <a:prstGeom prst="rect">
            <a:avLst/>
          </a:prstGeom>
        </p:spPr>
      </p:pic>
      <p:sp>
        <p:nvSpPr>
          <p:cNvPr id="50" name="Shape 8"/>
          <p:cNvSpPr/>
          <p:nvPr/>
        </p:nvSpPr>
        <p:spPr>
          <a:xfrm>
            <a:off x="15494000" y="8593455"/>
            <a:ext cx="502285" cy="440055"/>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6</a:t>
            </a:r>
            <a:endParaRPr lang="en-US"/>
          </a:p>
        </p:txBody>
      </p:sp>
      <p:sp>
        <p:nvSpPr>
          <p:cNvPr id="7" name="objective-card-1"/>
          <p:cNvSpPr/>
          <p:nvPr/>
        </p:nvSpPr>
        <p:spPr>
          <a:xfrm>
            <a:off x="416560" y="515620"/>
            <a:ext cx="2444115" cy="762635"/>
          </a:xfrm>
          <a:prstGeom prst="roundRect">
            <a:avLst>
              <a:gd name="adj" fmla="val 13953"/>
            </a:avLst>
          </a:prstGeom>
          <a:solidFill>
            <a:srgbClr val="FFFFFF"/>
          </a:solidFill>
          <a:ln w="12700">
            <a:solidFill>
              <a:srgbClr val="E2E8F0"/>
            </a:solidFill>
            <a:prstDash val="solid"/>
          </a:ln>
        </p:spPr>
        <p:txBody>
          <a:bodyPr/>
          <a:p>
            <a:pPr marL="0" indent="0" algn="l">
              <a:buNone/>
            </a:pPr>
            <a:r>
              <a:rPr lang="en-US" altLang="en-US" sz="3000" b="1" dirty="0">
                <a:solidFill>
                  <a:srgbClr val="1E2761"/>
                </a:solidFill>
                <a:latin typeface="Corbel" panose="020B0503020204020204" pitchFamily="34" charset="0"/>
                <a:ea typeface="Outfit" pitchFamily="34" charset="-122"/>
                <a:cs typeface="Corbel" panose="020B0503020204020204" pitchFamily="34" charset="0"/>
                <a:sym typeface="+mn-ea"/>
              </a:rPr>
              <a:t>Dashboards</a:t>
            </a:r>
            <a:endParaRPr lang="en-US" sz="3000">
              <a:latin typeface="Corbel" panose="020B0503020204020204" pitchFamily="34" charset="0"/>
              <a:cs typeface="Corbel" panose="020B0503020204020204" pitchFamily="34" charset="0"/>
            </a:endParaRPr>
          </a:p>
        </p:txBody>
      </p:sp>
      <p:pic>
        <p:nvPicPr>
          <p:cNvPr id="61" name="Picture 60"/>
          <p:cNvPicPr>
            <a:picLocks noChangeAspect="1"/>
          </p:cNvPicPr>
          <p:nvPr/>
        </p:nvPicPr>
        <p:blipFill>
          <a:blip r:embed="rId2"/>
          <a:srcRect t="27119" b="14044"/>
          <a:stretch>
            <a:fillRect/>
          </a:stretch>
        </p:blipFill>
        <p:spPr>
          <a:xfrm>
            <a:off x="0" y="0"/>
            <a:ext cx="16256000" cy="670560"/>
          </a:xfrm>
          <a:prstGeom prst="rect">
            <a:avLst/>
          </a:prstGeom>
        </p:spPr>
      </p:pic>
      <p:sp>
        <p:nvSpPr>
          <p:cNvPr id="3" name="title-rule"/>
          <p:cNvSpPr/>
          <p:nvPr/>
        </p:nvSpPr>
        <p:spPr>
          <a:xfrm>
            <a:off x="406400" y="670560"/>
            <a:ext cx="50800" cy="368300"/>
          </a:xfrm>
          <a:prstGeom prst="rect">
            <a:avLst/>
          </a:prstGeom>
          <a:solidFill>
            <a:srgbClr val="0E8F63"/>
          </a:solidFill>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06400" y="850900"/>
            <a:ext cx="50800" cy="368300"/>
          </a:xfrm>
          <a:prstGeom prst="rect">
            <a:avLst/>
          </a:prstGeom>
          <a:solidFill>
            <a:srgbClr val="0E8F63"/>
          </a:solidFill>
        </p:spPr>
      </p:sp>
      <p:sp>
        <p:nvSpPr>
          <p:cNvPr id="3" name="slide-title"/>
          <p:cNvSpPr/>
          <p:nvPr/>
        </p:nvSpPr>
        <p:spPr>
          <a:xfrm>
            <a:off x="635000" y="798195"/>
            <a:ext cx="1143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Challenges &amp; Resolutions</a:t>
            </a:r>
            <a:endPar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endParaRPr>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04</a:t>
            </a:r>
            <a:endParaRPr lang="en-US" sz="1400" dirty="0"/>
          </a:p>
        </p:txBody>
      </p:sp>
      <p:sp>
        <p:nvSpPr>
          <p:cNvPr id="5" name="challenge-tag"/>
          <p:cNvSpPr/>
          <p:nvPr/>
        </p:nvSpPr>
        <p:spPr>
          <a:xfrm>
            <a:off x="762000" y="1428750"/>
            <a:ext cx="1714500" cy="381000"/>
          </a:xfrm>
          <a:prstGeom prst="roundRect">
            <a:avLst>
              <a:gd name="adj" fmla="val 50000"/>
            </a:avLst>
          </a:prstGeom>
          <a:solidFill>
            <a:srgbClr val="FFF1F1"/>
          </a:solidFill>
        </p:spPr>
      </p:sp>
      <p:sp>
        <p:nvSpPr>
          <p:cNvPr id="6" name="challenge-tag-text"/>
          <p:cNvSpPr/>
          <p:nvPr/>
        </p:nvSpPr>
        <p:spPr>
          <a:xfrm>
            <a:off x="914400" y="1511300"/>
            <a:ext cx="1397000" cy="215900"/>
          </a:xfrm>
          <a:prstGeom prst="rect">
            <a:avLst/>
          </a:prstGeom>
          <a:noFill/>
        </p:spPr>
        <p:txBody>
          <a:bodyPr wrap="none" lIns="0" tIns="0" rIns="0" bIns="0" rtlCol="0" anchor="t"/>
          <a:lstStyle/>
          <a:p>
            <a:pPr marL="0" indent="0" algn="ctr">
              <a:buNone/>
            </a:pPr>
            <a:r>
              <a:rPr lang="en-US" altLang="en-US" sz="1400" b="1" dirty="0">
                <a:solidFill>
                  <a:srgbClr val="C2414C"/>
                </a:solidFill>
                <a:latin typeface="Outfit" pitchFamily="34" charset="0"/>
                <a:ea typeface="Outfit" pitchFamily="34" charset="-122"/>
                <a:cs typeface="Outfit" pitchFamily="34" charset="-120"/>
              </a:rPr>
              <a:t>CHALLENGES</a:t>
            </a:r>
            <a:endParaRPr lang="en-US" sz="1400" dirty="0"/>
          </a:p>
        </p:txBody>
      </p:sp>
      <p:sp>
        <p:nvSpPr>
          <p:cNvPr id="7" name="resolution-tag"/>
          <p:cNvSpPr/>
          <p:nvPr/>
        </p:nvSpPr>
        <p:spPr>
          <a:xfrm>
            <a:off x="8382000" y="1219200"/>
            <a:ext cx="1841500" cy="381000"/>
          </a:xfrm>
          <a:prstGeom prst="roundRect">
            <a:avLst>
              <a:gd name="adj" fmla="val 50000"/>
            </a:avLst>
          </a:prstGeom>
          <a:solidFill>
            <a:srgbClr val="E9F6F0"/>
          </a:solidFill>
        </p:spPr>
      </p:sp>
      <p:sp>
        <p:nvSpPr>
          <p:cNvPr id="8" name="resolution-tag-text"/>
          <p:cNvSpPr/>
          <p:nvPr/>
        </p:nvSpPr>
        <p:spPr>
          <a:xfrm>
            <a:off x="8547100" y="1295400"/>
            <a:ext cx="1524000" cy="215900"/>
          </a:xfrm>
          <a:prstGeom prst="rect">
            <a:avLst/>
          </a:prstGeom>
          <a:noFill/>
        </p:spPr>
        <p:txBody>
          <a:bodyPr wrap="none" lIns="0" tIns="0" rIns="0" bIns="0" rtlCol="0" anchor="t"/>
          <a:lstStyle/>
          <a:p>
            <a:pPr marL="0" indent="0" algn="ctr">
              <a:buNone/>
            </a:pPr>
            <a:r>
              <a:rPr lang="en-US" altLang="en-US" sz="1400" b="1" dirty="0">
                <a:solidFill>
                  <a:srgbClr val="0E8F63"/>
                </a:solidFill>
                <a:latin typeface="Outfit" pitchFamily="34" charset="0"/>
                <a:ea typeface="Outfit" pitchFamily="34" charset="-122"/>
                <a:cs typeface="Outfit" pitchFamily="34" charset="-120"/>
              </a:rPr>
              <a:t>RESOLUTIONS</a:t>
            </a:r>
            <a:endParaRPr lang="en-US" sz="1400" dirty="0"/>
          </a:p>
        </p:txBody>
      </p:sp>
      <p:sp>
        <p:nvSpPr>
          <p:cNvPr id="100" name="challenge-card-1"/>
          <p:cNvSpPr/>
          <p:nvPr/>
        </p:nvSpPr>
        <p:spPr>
          <a:xfrm>
            <a:off x="762000" y="19050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01" name="challenge-badge-1"/>
          <p:cNvSpPr/>
          <p:nvPr/>
        </p:nvSpPr>
        <p:spPr>
          <a:xfrm>
            <a:off x="1016000" y="2006600"/>
            <a:ext cx="254000" cy="254000"/>
          </a:xfrm>
          <a:prstGeom prst="ellipse">
            <a:avLst/>
          </a:prstGeom>
          <a:solidFill>
            <a:srgbClr val="C2414C"/>
          </a:solidFill>
          <a:ln>
            <a:noFill/>
          </a:ln>
        </p:spPr>
        <p:txBody>
          <a:bodyPr/>
          <a:lstStyle/>
          <a:p>
            <a:endParaRPr lang="en-US"/>
          </a:p>
        </p:txBody>
      </p:sp>
      <p:sp>
        <p:nvSpPr>
          <p:cNvPr id="102" name="challenge-badge-text-1"/>
          <p:cNvSpPr/>
          <p:nvPr/>
        </p:nvSpPr>
        <p:spPr>
          <a:xfrm>
            <a:off x="1016000" y="20574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1</a:t>
            </a:r>
            <a:endParaRPr lang="en-US" sz="1000" dirty="0"/>
          </a:p>
        </p:txBody>
      </p:sp>
      <p:sp>
        <p:nvSpPr>
          <p:cNvPr id="103" name="challenge-title-1"/>
          <p:cNvSpPr/>
          <p:nvPr/>
        </p:nvSpPr>
        <p:spPr>
          <a:xfrm>
            <a:off x="1574800" y="20421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High-volume records</a:t>
            </a:r>
            <a:endParaRPr lang="en-US" sz="1200" dirty="0"/>
          </a:p>
        </p:txBody>
      </p:sp>
      <p:sp>
        <p:nvSpPr>
          <p:cNvPr id="104" name="challenge-body-1"/>
          <p:cNvSpPr/>
          <p:nvPr/>
        </p:nvSpPr>
        <p:spPr>
          <a:xfrm>
            <a:off x="1574800" y="22860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Large, inconsistent incident logs made manual review slow</a:t>
            </a:r>
            <a:r>
              <a:rPr lang="en-US" altLang="en-US" sz="1000" dirty="0">
                <a:solidFill>
                  <a:srgbClr val="5A6B85"/>
                </a:solidFill>
                <a:latin typeface="Outfit" pitchFamily="34" charset="0"/>
                <a:ea typeface="Outfit" pitchFamily="34" charset="-122"/>
                <a:cs typeface="Outfit" pitchFamily="34" charset="-120"/>
              </a:rPr>
              <a:t>.</a:t>
            </a:r>
            <a:endParaRPr lang="en-US" sz="1000" dirty="0"/>
          </a:p>
        </p:txBody>
      </p:sp>
      <p:sp>
        <p:nvSpPr>
          <p:cNvPr id="105" name="resolution-card-1"/>
          <p:cNvSpPr/>
          <p:nvPr/>
        </p:nvSpPr>
        <p:spPr>
          <a:xfrm>
            <a:off x="8382000" y="19050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06" name="resolution-badge-1"/>
          <p:cNvSpPr/>
          <p:nvPr/>
        </p:nvSpPr>
        <p:spPr>
          <a:xfrm>
            <a:off x="8636000" y="2006600"/>
            <a:ext cx="254000" cy="254000"/>
          </a:xfrm>
          <a:prstGeom prst="ellipse">
            <a:avLst/>
          </a:prstGeom>
          <a:solidFill>
            <a:srgbClr val="0E8F63"/>
          </a:solidFill>
          <a:ln>
            <a:noFill/>
          </a:ln>
        </p:spPr>
        <p:txBody>
          <a:bodyPr/>
          <a:lstStyle/>
          <a:p>
            <a:endParaRPr lang="en-US"/>
          </a:p>
        </p:txBody>
      </p:sp>
      <p:sp>
        <p:nvSpPr>
          <p:cNvPr id="107" name="resolution-badge-text-1"/>
          <p:cNvSpPr/>
          <p:nvPr/>
        </p:nvSpPr>
        <p:spPr>
          <a:xfrm>
            <a:off x="8636000" y="20574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1</a:t>
            </a:r>
            <a:endParaRPr lang="en-US" sz="1000" dirty="0"/>
          </a:p>
        </p:txBody>
      </p:sp>
      <p:sp>
        <p:nvSpPr>
          <p:cNvPr id="108" name="resolution-title-1"/>
          <p:cNvSpPr/>
          <p:nvPr/>
        </p:nvSpPr>
        <p:spPr>
          <a:xfrm>
            <a:off x="9194800" y="20421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Repeatable cleaning pipeline</a:t>
            </a:r>
            <a:endParaRPr lang="en-US" sz="1200" dirty="0"/>
          </a:p>
        </p:txBody>
      </p:sp>
      <p:sp>
        <p:nvSpPr>
          <p:cNvPr id="109" name="resolution-body-1"/>
          <p:cNvSpPr/>
          <p:nvPr/>
        </p:nvSpPr>
        <p:spPr>
          <a:xfrm>
            <a:off x="9194800" y="22860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Standardized records through Power Query transformation steps.</a:t>
            </a:r>
            <a:endParaRPr lang="en-US" sz="1200" dirty="0"/>
          </a:p>
        </p:txBody>
      </p:sp>
      <p:sp>
        <p:nvSpPr>
          <p:cNvPr id="110" name="challenge-card-2"/>
          <p:cNvSpPr/>
          <p:nvPr/>
        </p:nvSpPr>
        <p:spPr>
          <a:xfrm>
            <a:off x="762000" y="30083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11" name="challenge-badge-2"/>
          <p:cNvSpPr/>
          <p:nvPr/>
        </p:nvSpPr>
        <p:spPr>
          <a:xfrm>
            <a:off x="1016000" y="3109900"/>
            <a:ext cx="254000" cy="254000"/>
          </a:xfrm>
          <a:prstGeom prst="ellipse">
            <a:avLst/>
          </a:prstGeom>
          <a:solidFill>
            <a:srgbClr val="C2414C"/>
          </a:solidFill>
          <a:ln>
            <a:noFill/>
          </a:ln>
        </p:spPr>
        <p:txBody>
          <a:bodyPr/>
          <a:lstStyle/>
          <a:p>
            <a:endParaRPr lang="en-US"/>
          </a:p>
        </p:txBody>
      </p:sp>
      <p:sp>
        <p:nvSpPr>
          <p:cNvPr id="112" name="challenge-badge-text-2"/>
          <p:cNvSpPr/>
          <p:nvPr/>
        </p:nvSpPr>
        <p:spPr>
          <a:xfrm>
            <a:off x="1016000" y="31607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2</a:t>
            </a:r>
            <a:endParaRPr lang="en-US" sz="1000" dirty="0"/>
          </a:p>
        </p:txBody>
      </p:sp>
      <p:sp>
        <p:nvSpPr>
          <p:cNvPr id="113" name="challenge-title-2"/>
          <p:cNvSpPr/>
          <p:nvPr/>
        </p:nvSpPr>
        <p:spPr>
          <a:xfrm>
            <a:off x="1574800" y="31454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Missing or ambiguous fields</a:t>
            </a:r>
            <a:endParaRPr lang="en-US" sz="1200" dirty="0"/>
          </a:p>
        </p:txBody>
      </p:sp>
      <p:sp>
        <p:nvSpPr>
          <p:cNvPr id="114" name="challenge-body-2"/>
          <p:cNvSpPr/>
          <p:nvPr/>
        </p:nvSpPr>
        <p:spPr>
          <a:xfrm>
            <a:off x="1574800" y="33893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Blank months, motives, actor classes, and countries weakened completeness</a:t>
            </a:r>
            <a:r>
              <a:rPr lang="en-US" altLang="en-US" sz="1000" dirty="0">
                <a:solidFill>
                  <a:srgbClr val="5A6B85"/>
                </a:solidFill>
                <a:latin typeface="Outfit" pitchFamily="34" charset="0"/>
                <a:ea typeface="Outfit" pitchFamily="34" charset="-122"/>
                <a:cs typeface="Outfit" pitchFamily="34" charset="-120"/>
              </a:rPr>
              <a:t>.</a:t>
            </a:r>
            <a:endParaRPr lang="en-US" sz="1000" dirty="0"/>
          </a:p>
        </p:txBody>
      </p:sp>
      <p:sp>
        <p:nvSpPr>
          <p:cNvPr id="115" name="resolution-card-2"/>
          <p:cNvSpPr/>
          <p:nvPr/>
        </p:nvSpPr>
        <p:spPr>
          <a:xfrm>
            <a:off x="8382000" y="30083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16" name="resolution-badge-2"/>
          <p:cNvSpPr/>
          <p:nvPr/>
        </p:nvSpPr>
        <p:spPr>
          <a:xfrm>
            <a:off x="8636000" y="3109900"/>
            <a:ext cx="254000" cy="254000"/>
          </a:xfrm>
          <a:prstGeom prst="ellipse">
            <a:avLst/>
          </a:prstGeom>
          <a:solidFill>
            <a:srgbClr val="0E8F63"/>
          </a:solidFill>
          <a:ln>
            <a:noFill/>
          </a:ln>
        </p:spPr>
        <p:txBody>
          <a:bodyPr/>
          <a:lstStyle/>
          <a:p>
            <a:endParaRPr lang="en-US"/>
          </a:p>
        </p:txBody>
      </p:sp>
      <p:sp>
        <p:nvSpPr>
          <p:cNvPr id="117" name="resolution-badge-text-2"/>
          <p:cNvSpPr/>
          <p:nvPr/>
        </p:nvSpPr>
        <p:spPr>
          <a:xfrm>
            <a:off x="8636000" y="31607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2</a:t>
            </a:r>
            <a:endParaRPr lang="en-US" sz="1000" dirty="0"/>
          </a:p>
        </p:txBody>
      </p:sp>
      <p:sp>
        <p:nvSpPr>
          <p:cNvPr id="118" name="resolution-title-2"/>
          <p:cNvSpPr/>
          <p:nvPr/>
        </p:nvSpPr>
        <p:spPr>
          <a:xfrm>
            <a:off x="9194800" y="31454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Neutral classification rules</a:t>
            </a:r>
            <a:endParaRPr lang="en-US" sz="1200" dirty="0"/>
          </a:p>
        </p:txBody>
      </p:sp>
      <p:sp>
        <p:nvSpPr>
          <p:cNvPr id="119" name="resolution-body-2"/>
          <p:cNvSpPr/>
          <p:nvPr/>
        </p:nvSpPr>
        <p:spPr>
          <a:xfrm>
            <a:off x="9194800" y="33893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Applied consistent labels for missing or unknown values.</a:t>
            </a:r>
            <a:endParaRPr lang="en-US" sz="1200" dirty="0"/>
          </a:p>
        </p:txBody>
      </p:sp>
      <p:sp>
        <p:nvSpPr>
          <p:cNvPr id="120" name="challenge-card-3"/>
          <p:cNvSpPr/>
          <p:nvPr/>
        </p:nvSpPr>
        <p:spPr>
          <a:xfrm>
            <a:off x="762000" y="41116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21" name="challenge-badge-3"/>
          <p:cNvSpPr/>
          <p:nvPr/>
        </p:nvSpPr>
        <p:spPr>
          <a:xfrm>
            <a:off x="1016000" y="4213200"/>
            <a:ext cx="254000" cy="254000"/>
          </a:xfrm>
          <a:prstGeom prst="ellipse">
            <a:avLst/>
          </a:prstGeom>
          <a:solidFill>
            <a:srgbClr val="C2414C"/>
          </a:solidFill>
          <a:ln>
            <a:noFill/>
          </a:ln>
        </p:spPr>
        <p:txBody>
          <a:bodyPr/>
          <a:lstStyle/>
          <a:p>
            <a:endParaRPr lang="en-US"/>
          </a:p>
        </p:txBody>
      </p:sp>
      <p:sp>
        <p:nvSpPr>
          <p:cNvPr id="122" name="challenge-badge-text-3"/>
          <p:cNvSpPr/>
          <p:nvPr/>
        </p:nvSpPr>
        <p:spPr>
          <a:xfrm>
            <a:off x="1016000" y="42640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3</a:t>
            </a:r>
            <a:endParaRPr lang="en-US" sz="1000" dirty="0"/>
          </a:p>
        </p:txBody>
      </p:sp>
      <p:sp>
        <p:nvSpPr>
          <p:cNvPr id="123" name="challenge-title-3"/>
          <p:cNvSpPr/>
          <p:nvPr/>
        </p:nvSpPr>
        <p:spPr>
          <a:xfrm>
            <a:off x="1574800" y="42487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Complex categorical dimensions</a:t>
            </a:r>
            <a:endParaRPr lang="en-US" sz="1200" dirty="0"/>
          </a:p>
        </p:txBody>
      </p:sp>
      <p:sp>
        <p:nvSpPr>
          <p:cNvPr id="124" name="challenge-body-3"/>
          <p:cNvSpPr/>
          <p:nvPr/>
        </p:nvSpPr>
        <p:spPr>
          <a:xfrm>
            <a:off x="1574800" y="44926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Many variables made threat patterns hard to compare at a glance.</a:t>
            </a:r>
            <a:endParaRPr lang="en-US" sz="1200" dirty="0"/>
          </a:p>
        </p:txBody>
      </p:sp>
      <p:sp>
        <p:nvSpPr>
          <p:cNvPr id="125" name="resolution-card-3"/>
          <p:cNvSpPr/>
          <p:nvPr/>
        </p:nvSpPr>
        <p:spPr>
          <a:xfrm>
            <a:off x="8382000" y="41116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26" name="resolution-badge-3"/>
          <p:cNvSpPr/>
          <p:nvPr/>
        </p:nvSpPr>
        <p:spPr>
          <a:xfrm>
            <a:off x="8636000" y="4213200"/>
            <a:ext cx="254000" cy="254000"/>
          </a:xfrm>
          <a:prstGeom prst="ellipse">
            <a:avLst/>
          </a:prstGeom>
          <a:solidFill>
            <a:srgbClr val="0E8F63"/>
          </a:solidFill>
          <a:ln>
            <a:noFill/>
          </a:ln>
        </p:spPr>
        <p:txBody>
          <a:bodyPr/>
          <a:lstStyle/>
          <a:p>
            <a:endParaRPr lang="en-US"/>
          </a:p>
        </p:txBody>
      </p:sp>
      <p:sp>
        <p:nvSpPr>
          <p:cNvPr id="127" name="resolution-badge-text-3"/>
          <p:cNvSpPr/>
          <p:nvPr/>
        </p:nvSpPr>
        <p:spPr>
          <a:xfrm>
            <a:off x="8636000" y="42640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3</a:t>
            </a:r>
            <a:endParaRPr lang="en-US" sz="1000" dirty="0"/>
          </a:p>
        </p:txBody>
      </p:sp>
      <p:sp>
        <p:nvSpPr>
          <p:cNvPr id="128" name="resolution-title-3"/>
          <p:cNvSpPr/>
          <p:nvPr/>
        </p:nvSpPr>
        <p:spPr>
          <a:xfrm>
            <a:off x="9194800" y="42487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Analyst-friendly dashboards</a:t>
            </a:r>
            <a:endParaRPr lang="en-US" sz="1200" dirty="0"/>
          </a:p>
        </p:txBody>
      </p:sp>
      <p:sp>
        <p:nvSpPr>
          <p:cNvPr id="129" name="resolution-body-3"/>
          <p:cNvSpPr/>
          <p:nvPr/>
        </p:nvSpPr>
        <p:spPr>
          <a:xfrm>
            <a:off x="9194800" y="44926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Used filters, KPIs, charts, and geographic views to surface trends.</a:t>
            </a:r>
            <a:endParaRPr lang="en-US" sz="1200" dirty="0"/>
          </a:p>
        </p:txBody>
      </p:sp>
      <p:sp>
        <p:nvSpPr>
          <p:cNvPr id="130" name="challenge-card-4"/>
          <p:cNvSpPr/>
          <p:nvPr/>
        </p:nvSpPr>
        <p:spPr>
          <a:xfrm>
            <a:off x="762000" y="52149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31" name="challenge-badge-4"/>
          <p:cNvSpPr/>
          <p:nvPr/>
        </p:nvSpPr>
        <p:spPr>
          <a:xfrm>
            <a:off x="1016000" y="5316500"/>
            <a:ext cx="254000" cy="254000"/>
          </a:xfrm>
          <a:prstGeom prst="ellipse">
            <a:avLst/>
          </a:prstGeom>
          <a:solidFill>
            <a:srgbClr val="C2414C"/>
          </a:solidFill>
          <a:ln>
            <a:noFill/>
          </a:ln>
        </p:spPr>
        <p:txBody>
          <a:bodyPr/>
          <a:lstStyle/>
          <a:p>
            <a:endParaRPr lang="en-US"/>
          </a:p>
        </p:txBody>
      </p:sp>
      <p:sp>
        <p:nvSpPr>
          <p:cNvPr id="132" name="challenge-badge-text-4"/>
          <p:cNvSpPr/>
          <p:nvPr/>
        </p:nvSpPr>
        <p:spPr>
          <a:xfrm>
            <a:off x="1016000" y="53673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4</a:t>
            </a:r>
            <a:endParaRPr lang="en-US" sz="1000" dirty="0"/>
          </a:p>
        </p:txBody>
      </p:sp>
      <p:sp>
        <p:nvSpPr>
          <p:cNvPr id="133" name="challenge-title-4"/>
          <p:cNvSpPr/>
          <p:nvPr/>
        </p:nvSpPr>
        <p:spPr>
          <a:xfrm>
            <a:off x="1574800" y="53520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Selecting appropriate visualizations</a:t>
            </a:r>
            <a:endParaRPr lang="en-US" sz="1200" dirty="0"/>
          </a:p>
        </p:txBody>
      </p:sp>
      <p:sp>
        <p:nvSpPr>
          <p:cNvPr id="134" name="challenge-body-4"/>
          <p:cNvSpPr/>
          <p:nvPr/>
        </p:nvSpPr>
        <p:spPr>
          <a:xfrm>
            <a:off x="1574800" y="55959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Choosing suitable charts for different types of cybersecurity information was challenging.</a:t>
            </a:r>
            <a:endParaRPr lang="en-US" sz="1200" dirty="0"/>
          </a:p>
        </p:txBody>
      </p:sp>
      <p:sp>
        <p:nvSpPr>
          <p:cNvPr id="135" name="resolution-card-4"/>
          <p:cNvSpPr/>
          <p:nvPr/>
        </p:nvSpPr>
        <p:spPr>
          <a:xfrm>
            <a:off x="8382000" y="52149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36" name="resolution-badge-4"/>
          <p:cNvSpPr/>
          <p:nvPr/>
        </p:nvSpPr>
        <p:spPr>
          <a:xfrm>
            <a:off x="8636000" y="5316500"/>
            <a:ext cx="254000" cy="254000"/>
          </a:xfrm>
          <a:prstGeom prst="ellipse">
            <a:avLst/>
          </a:prstGeom>
          <a:solidFill>
            <a:srgbClr val="0E8F63"/>
          </a:solidFill>
          <a:ln>
            <a:noFill/>
          </a:ln>
        </p:spPr>
        <p:txBody>
          <a:bodyPr/>
          <a:lstStyle/>
          <a:p>
            <a:endParaRPr lang="en-US"/>
          </a:p>
        </p:txBody>
      </p:sp>
      <p:sp>
        <p:nvSpPr>
          <p:cNvPr id="137" name="resolution-badge-text-4"/>
          <p:cNvSpPr/>
          <p:nvPr/>
        </p:nvSpPr>
        <p:spPr>
          <a:xfrm>
            <a:off x="8636000" y="53673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4</a:t>
            </a:r>
            <a:endParaRPr lang="en-US" sz="1000" dirty="0"/>
          </a:p>
        </p:txBody>
      </p:sp>
      <p:sp>
        <p:nvSpPr>
          <p:cNvPr id="138" name="resolution-title-4"/>
          <p:cNvSpPr/>
          <p:nvPr/>
        </p:nvSpPr>
        <p:spPr>
          <a:xfrm>
            <a:off x="9194800" y="53520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Refined visualization selection</a:t>
            </a:r>
            <a:endParaRPr lang="en-US" sz="1200" dirty="0"/>
          </a:p>
        </p:txBody>
      </p:sp>
      <p:sp>
        <p:nvSpPr>
          <p:cNvPr id="139" name="resolution-body-4"/>
          <p:cNvSpPr/>
          <p:nvPr/>
        </p:nvSpPr>
        <p:spPr>
          <a:xfrm>
            <a:off x="9194800" y="55959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Different visualization types were tested and the most meaningful ones were selected to represent trends and comparisons.</a:t>
            </a:r>
            <a:endParaRPr lang="en-US" sz="1200" dirty="0"/>
          </a:p>
        </p:txBody>
      </p:sp>
      <p:sp>
        <p:nvSpPr>
          <p:cNvPr id="140" name="challenge-card-5"/>
          <p:cNvSpPr/>
          <p:nvPr/>
        </p:nvSpPr>
        <p:spPr>
          <a:xfrm>
            <a:off x="762000" y="6318200"/>
            <a:ext cx="7112000" cy="863600"/>
          </a:xfrm>
          <a:prstGeom prst="roundRect">
            <a:avLst>
              <a:gd name="adj" fmla="val 6000"/>
            </a:avLst>
          </a:prstGeom>
          <a:solidFill>
            <a:srgbClr val="FFFFFF"/>
          </a:solidFill>
          <a:ln w="9525">
            <a:solidFill>
              <a:srgbClr val="F0C7CC"/>
            </a:solidFill>
          </a:ln>
        </p:spPr>
        <p:txBody>
          <a:bodyPr/>
          <a:lstStyle/>
          <a:p>
            <a:endParaRPr lang="en-US"/>
          </a:p>
        </p:txBody>
      </p:sp>
      <p:sp>
        <p:nvSpPr>
          <p:cNvPr id="141" name="challenge-badge-5"/>
          <p:cNvSpPr/>
          <p:nvPr/>
        </p:nvSpPr>
        <p:spPr>
          <a:xfrm>
            <a:off x="1016000" y="6419800"/>
            <a:ext cx="254000" cy="254000"/>
          </a:xfrm>
          <a:prstGeom prst="ellipse">
            <a:avLst/>
          </a:prstGeom>
          <a:solidFill>
            <a:srgbClr val="C2414C"/>
          </a:solidFill>
          <a:ln>
            <a:noFill/>
          </a:ln>
        </p:spPr>
        <p:txBody>
          <a:bodyPr/>
          <a:lstStyle/>
          <a:p>
            <a:endParaRPr lang="en-US"/>
          </a:p>
        </p:txBody>
      </p:sp>
      <p:sp>
        <p:nvSpPr>
          <p:cNvPr id="142" name="challenge-badge-text-5"/>
          <p:cNvSpPr/>
          <p:nvPr/>
        </p:nvSpPr>
        <p:spPr>
          <a:xfrm>
            <a:off x="1016000" y="64706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5</a:t>
            </a:r>
            <a:endParaRPr lang="en-US" sz="1000" dirty="0"/>
          </a:p>
        </p:txBody>
      </p:sp>
      <p:sp>
        <p:nvSpPr>
          <p:cNvPr id="143" name="challenge-title-5"/>
          <p:cNvSpPr/>
          <p:nvPr/>
        </p:nvSpPr>
        <p:spPr>
          <a:xfrm>
            <a:off x="1574800" y="64553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Creating DAX measures</a:t>
            </a:r>
            <a:endParaRPr lang="en-US" sz="1200" dirty="0"/>
          </a:p>
        </p:txBody>
      </p:sp>
      <p:sp>
        <p:nvSpPr>
          <p:cNvPr id="144" name="challenge-body-5"/>
          <p:cNvSpPr/>
          <p:nvPr/>
        </p:nvSpPr>
        <p:spPr>
          <a:xfrm>
            <a:off x="1574800" y="66992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Developing calculated measures such as total incidents, averages, and other KPIs required understanding basic DAX functions.</a:t>
            </a:r>
            <a:endParaRPr lang="en-US" sz="1200" dirty="0"/>
          </a:p>
        </p:txBody>
      </p:sp>
      <p:sp>
        <p:nvSpPr>
          <p:cNvPr id="145" name="resolution-card-5"/>
          <p:cNvSpPr/>
          <p:nvPr/>
        </p:nvSpPr>
        <p:spPr>
          <a:xfrm>
            <a:off x="8382000" y="6318200"/>
            <a:ext cx="7112000" cy="863600"/>
          </a:xfrm>
          <a:prstGeom prst="roundRect">
            <a:avLst>
              <a:gd name="adj" fmla="val 6000"/>
            </a:avLst>
          </a:prstGeom>
          <a:solidFill>
            <a:srgbClr val="FFFFFF"/>
          </a:solidFill>
          <a:ln w="9525">
            <a:solidFill>
              <a:srgbClr val="C8E8D9"/>
            </a:solidFill>
          </a:ln>
        </p:spPr>
        <p:txBody>
          <a:bodyPr/>
          <a:lstStyle/>
          <a:p>
            <a:endParaRPr lang="en-US"/>
          </a:p>
        </p:txBody>
      </p:sp>
      <p:sp>
        <p:nvSpPr>
          <p:cNvPr id="146" name="resolution-badge-5"/>
          <p:cNvSpPr/>
          <p:nvPr/>
        </p:nvSpPr>
        <p:spPr>
          <a:xfrm>
            <a:off x="8636000" y="6419800"/>
            <a:ext cx="254000" cy="254000"/>
          </a:xfrm>
          <a:prstGeom prst="ellipse">
            <a:avLst/>
          </a:prstGeom>
          <a:solidFill>
            <a:srgbClr val="0E8F63"/>
          </a:solidFill>
          <a:ln>
            <a:noFill/>
          </a:ln>
        </p:spPr>
        <p:txBody>
          <a:bodyPr/>
          <a:lstStyle/>
          <a:p>
            <a:endParaRPr lang="en-US"/>
          </a:p>
        </p:txBody>
      </p:sp>
      <p:sp>
        <p:nvSpPr>
          <p:cNvPr id="147" name="resolution-badge-text-5"/>
          <p:cNvSpPr/>
          <p:nvPr/>
        </p:nvSpPr>
        <p:spPr>
          <a:xfrm>
            <a:off x="8636000" y="6470600"/>
            <a:ext cx="254000" cy="190500"/>
          </a:xfrm>
          <a:prstGeom prst="rect">
            <a:avLst/>
          </a:prstGeom>
          <a:noFill/>
        </p:spPr>
        <p:txBody>
          <a:bodyPr wrap="none" lIns="0" tIns="0" rIns="0" bIns="0" rtlCol="0" anchor="t"/>
          <a:lstStyle/>
          <a:p>
            <a:pPr marL="0" indent="0" algn="ctr">
              <a:buNone/>
            </a:pPr>
            <a:r>
              <a:rPr lang="en-US" altLang="en-US" sz="1000" b="1" dirty="0">
                <a:solidFill>
                  <a:srgbClr val="FFFFFF"/>
                </a:solidFill>
                <a:latin typeface="Outfit" pitchFamily="34" charset="0"/>
                <a:ea typeface="Outfit" pitchFamily="34" charset="-122"/>
                <a:cs typeface="Outfit" pitchFamily="34" charset="-120"/>
              </a:rPr>
              <a:t>5</a:t>
            </a:r>
            <a:endParaRPr lang="en-US" sz="1000" dirty="0"/>
          </a:p>
        </p:txBody>
      </p:sp>
      <p:sp>
        <p:nvSpPr>
          <p:cNvPr id="148" name="resolution-title-5"/>
          <p:cNvSpPr/>
          <p:nvPr/>
        </p:nvSpPr>
        <p:spPr>
          <a:xfrm>
            <a:off x="9194800" y="6455360"/>
            <a:ext cx="5588000" cy="182880"/>
          </a:xfrm>
          <a:prstGeom prst="rect">
            <a:avLst/>
          </a:prstGeom>
          <a:noFill/>
        </p:spPr>
        <p:txBody>
          <a:bodyPr wrap="square" lIns="0" tIns="0" rIns="0" bIns="0" rtlCol="0" anchor="t"/>
          <a:lstStyle/>
          <a:p>
            <a:pPr marL="0" indent="0" algn="l">
              <a:buNone/>
            </a:pPr>
            <a:r>
              <a:rPr lang="en-US" altLang="en-US" sz="1200" b="1" dirty="0">
                <a:solidFill>
                  <a:srgbClr val="1E2761"/>
                </a:solidFill>
                <a:latin typeface="Outfit" pitchFamily="34" charset="0"/>
                <a:ea typeface="Outfit" pitchFamily="34" charset="-122"/>
                <a:cs typeface="Outfit" pitchFamily="34" charset="-120"/>
              </a:rPr>
              <a:t>Tested DAX calculations</a:t>
            </a:r>
            <a:endParaRPr lang="en-US" sz="1200" dirty="0"/>
          </a:p>
        </p:txBody>
      </p:sp>
      <p:sp>
        <p:nvSpPr>
          <p:cNvPr id="149" name="resolution-body-5"/>
          <p:cNvSpPr/>
          <p:nvPr/>
        </p:nvSpPr>
        <p:spPr>
          <a:xfrm>
            <a:off x="9194800" y="6699200"/>
            <a:ext cx="5715000" cy="304800"/>
          </a:xfrm>
          <a:prstGeom prst="rect">
            <a:avLst/>
          </a:prstGeom>
          <a:noFill/>
        </p:spPr>
        <p:txBody>
          <a:bodyPr wrap="square" lIns="0" tIns="0" rIns="0" bIns="0" rtlCol="0" anchor="t"/>
          <a:lstStyle/>
          <a:p>
            <a:pPr marL="0" indent="0" algn="l">
              <a:buNone/>
            </a:pPr>
            <a:r>
              <a:rPr lang="en-US" altLang="en-US" sz="1200" dirty="0">
                <a:solidFill>
                  <a:srgbClr val="5A6B85"/>
                </a:solidFill>
                <a:latin typeface="Outfit" pitchFamily="34" charset="0"/>
                <a:ea typeface="Outfit" pitchFamily="34" charset="-122"/>
                <a:cs typeface="Outfit" pitchFamily="34" charset="-120"/>
              </a:rPr>
              <a:t>Overcame through practice, testing, and checking results against the dataset.</a:t>
            </a:r>
            <a:endParaRPr lang="en-US" sz="1200" dirty="0"/>
          </a:p>
        </p:txBody>
      </p:sp>
      <p:sp>
        <p:nvSpPr>
          <p:cNvPr id="39" name="outcome-band"/>
          <p:cNvSpPr/>
          <p:nvPr/>
        </p:nvSpPr>
        <p:spPr>
          <a:xfrm>
            <a:off x="762000" y="7438975"/>
            <a:ext cx="14732000" cy="685800"/>
          </a:xfrm>
          <a:prstGeom prst="roundRect">
            <a:avLst>
              <a:gd name="adj" fmla="val 19355"/>
            </a:avLst>
          </a:prstGeom>
          <a:solidFill>
            <a:srgbClr val="EAF1FB"/>
          </a:solidFill>
        </p:spPr>
      </p:sp>
      <p:sp>
        <p:nvSpPr>
          <p:cNvPr id="40" name="outcome-text"/>
          <p:cNvSpPr/>
          <p:nvPr/>
        </p:nvSpPr>
        <p:spPr>
          <a:xfrm>
            <a:off x="1270000" y="7629475"/>
            <a:ext cx="13716000" cy="304800"/>
          </a:xfrm>
          <a:prstGeom prst="rect">
            <a:avLst/>
          </a:prstGeom>
          <a:noFill/>
        </p:spPr>
        <p:txBody>
          <a:bodyPr wrap="none" lIns="0" tIns="0" rIns="0" bIns="0" rtlCol="0" anchor="ctr"/>
          <a:lstStyle/>
          <a:p>
            <a:pPr marL="0" indent="0" algn="ctr">
              <a:buNone/>
            </a:pPr>
            <a:r>
              <a:rPr lang="en-US" altLang="en-US" sz="1600" b="1" dirty="0">
                <a:solidFill>
                  <a:srgbClr val="1E2761"/>
                </a:solidFill>
                <a:latin typeface="Outfit" pitchFamily="34" charset="0"/>
                <a:ea typeface="Outfit" pitchFamily="34" charset="-122"/>
                <a:cs typeface="Outfit" pitchFamily="34" charset="-120"/>
              </a:rPr>
              <a:t>Outcome: a cleaner, more comparable dataset with faster paths from incident evidence to analyst action.</a:t>
            </a:r>
            <a:endParaRPr lang="en-US" sz="1600" dirty="0"/>
          </a:p>
        </p:txBody>
      </p:sp>
      <p:pic>
        <p:nvPicPr>
          <p:cNvPr id="49" name="Picture 48"/>
          <p:cNvPicPr>
            <a:picLocks noChangeAspect="1"/>
          </p:cNvPicPr>
          <p:nvPr/>
        </p:nvPicPr>
        <p:blipFill>
          <a:blip r:embed="rId1"/>
          <a:srcRect t="27119" b="14044"/>
          <a:stretch>
            <a:fillRect/>
          </a:stretch>
        </p:blipFill>
        <p:spPr>
          <a:xfrm>
            <a:off x="0" y="0"/>
            <a:ext cx="16256000" cy="745490"/>
          </a:xfrm>
          <a:prstGeom prst="rect">
            <a:avLst/>
          </a:prstGeom>
        </p:spPr>
      </p:pic>
      <p:sp>
        <p:nvSpPr>
          <p:cNvPr id="60" name="Shape 8"/>
          <p:cNvSpPr/>
          <p:nvPr/>
        </p:nvSpPr>
        <p:spPr>
          <a:xfrm>
            <a:off x="15336520" y="8508365"/>
            <a:ext cx="796925" cy="532130"/>
          </a:xfrm>
          <a:prstGeom prst="ellipse">
            <a:avLst/>
          </a:prstGeom>
          <a:solidFill>
            <a:schemeClr val="accent5"/>
          </a:solidFill>
          <a:ln w="15875">
            <a:noFill/>
            <a:prstDash val="solid"/>
          </a:ln>
        </p:spPr>
        <p:txBody>
          <a:bodyPr/>
          <a:p>
            <a:pPr marL="0" indent="0" algn="ctr">
              <a:buNone/>
            </a:pPr>
            <a:r>
              <a:rPr lang="en-US" sz="1700" b="1" dirty="0">
                <a:solidFill>
                  <a:srgbClr val="FFFFFF"/>
                </a:solidFill>
                <a:latin typeface="Calibri" panose="020F0502020204030204" charset="0"/>
                <a:sym typeface="+mn-ea"/>
              </a:rPr>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838200"/>
            <a:ext cx="50800" cy="368300"/>
          </a:xfrm>
          <a:prstGeom prst="rect">
            <a:avLst/>
          </a:prstGeom>
          <a:solidFill>
            <a:srgbClr val="0E8F63"/>
          </a:solidFill>
        </p:spPr>
      </p:sp>
      <p:sp>
        <p:nvSpPr>
          <p:cNvPr id="3" name="slide-title"/>
          <p:cNvSpPr/>
          <p:nvPr/>
        </p:nvSpPr>
        <p:spPr>
          <a:xfrm>
            <a:off x="635000" y="838200"/>
            <a:ext cx="127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Future Enhancements &amp; Key Insights</a:t>
            </a:r>
            <a:endParaRPr lang="en-US" sz="3000" dirty="0"/>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05</a:t>
            </a:r>
            <a:endParaRPr lang="en-US" sz="1400" dirty="0"/>
          </a:p>
        </p:txBody>
      </p:sp>
      <p:sp>
        <p:nvSpPr>
          <p:cNvPr id="5" name="enhancements-tag"/>
          <p:cNvSpPr/>
          <p:nvPr/>
        </p:nvSpPr>
        <p:spPr>
          <a:xfrm>
            <a:off x="762000" y="1397000"/>
            <a:ext cx="2476500" cy="381000"/>
          </a:xfrm>
          <a:prstGeom prst="roundRect">
            <a:avLst>
              <a:gd name="adj" fmla="val 50000"/>
            </a:avLst>
          </a:prstGeom>
          <a:solidFill>
            <a:srgbClr val="EAF1FB"/>
          </a:solidFill>
        </p:spPr>
      </p:sp>
      <p:sp>
        <p:nvSpPr>
          <p:cNvPr id="6" name="enhancements-tag-text"/>
          <p:cNvSpPr/>
          <p:nvPr/>
        </p:nvSpPr>
        <p:spPr>
          <a:xfrm>
            <a:off x="939800" y="1562100"/>
            <a:ext cx="2120900" cy="215900"/>
          </a:xfrm>
          <a:prstGeom prst="rect">
            <a:avLst/>
          </a:prstGeom>
          <a:noFill/>
        </p:spPr>
        <p:txBody>
          <a:bodyPr wrap="none" lIns="0" tIns="0" rIns="0" bIns="0" rtlCol="0" anchor="t"/>
          <a:lstStyle/>
          <a:p>
            <a:pPr marL="0" indent="0" algn="ctr">
              <a:buNone/>
            </a:pPr>
            <a:r>
              <a:rPr lang="en-US" altLang="en-US" sz="1400" b="1" dirty="0">
                <a:solidFill>
                  <a:srgbClr val="2F6FED"/>
                </a:solidFill>
                <a:latin typeface="Outfit" pitchFamily="34" charset="0"/>
                <a:ea typeface="Outfit" pitchFamily="34" charset="-122"/>
                <a:cs typeface="Outfit" pitchFamily="34" charset="-120"/>
              </a:rPr>
              <a:t>FUTURE ENHANCEMENTS</a:t>
            </a:r>
            <a:endParaRPr lang="en-US" sz="1400" dirty="0"/>
          </a:p>
        </p:txBody>
      </p:sp>
      <p:sp>
        <p:nvSpPr>
          <p:cNvPr id="7" name="insights-tag"/>
          <p:cNvSpPr/>
          <p:nvPr/>
        </p:nvSpPr>
        <p:spPr>
          <a:xfrm>
            <a:off x="8636000" y="1219200"/>
            <a:ext cx="1714500" cy="381000"/>
          </a:xfrm>
          <a:prstGeom prst="roundRect">
            <a:avLst>
              <a:gd name="adj" fmla="val 50000"/>
            </a:avLst>
          </a:prstGeom>
          <a:solidFill>
            <a:srgbClr val="E9F6F0"/>
          </a:solidFill>
        </p:spPr>
      </p:sp>
      <p:sp>
        <p:nvSpPr>
          <p:cNvPr id="8" name="insights-tag-text"/>
          <p:cNvSpPr/>
          <p:nvPr/>
        </p:nvSpPr>
        <p:spPr>
          <a:xfrm>
            <a:off x="8801100" y="1295400"/>
            <a:ext cx="1371600" cy="215900"/>
          </a:xfrm>
          <a:prstGeom prst="rect">
            <a:avLst/>
          </a:prstGeom>
          <a:noFill/>
        </p:spPr>
        <p:txBody>
          <a:bodyPr wrap="none" lIns="0" tIns="0" rIns="0" bIns="0" rtlCol="0" anchor="t"/>
          <a:lstStyle/>
          <a:p>
            <a:pPr marL="0" indent="0" algn="ctr">
              <a:buNone/>
            </a:pPr>
            <a:r>
              <a:rPr lang="en-US" altLang="en-US" sz="1400" b="1" dirty="0">
                <a:solidFill>
                  <a:srgbClr val="0E8F63"/>
                </a:solidFill>
                <a:latin typeface="Outfit" pitchFamily="34" charset="0"/>
                <a:ea typeface="Outfit" pitchFamily="34" charset="-122"/>
                <a:cs typeface="Outfit" pitchFamily="34" charset="-120"/>
              </a:rPr>
              <a:t>KEY INSIGHTS</a:t>
            </a:r>
            <a:endParaRPr lang="en-US" sz="1400" dirty="0"/>
          </a:p>
        </p:txBody>
      </p:sp>
      <p:sp>
        <p:nvSpPr>
          <p:cNvPr id="9" name="enhancement-card-1"/>
          <p:cNvSpPr/>
          <p:nvPr/>
        </p:nvSpPr>
        <p:spPr>
          <a:xfrm>
            <a:off x="762000" y="1905000"/>
            <a:ext cx="6858000" cy="889000"/>
          </a:xfrm>
          <a:prstGeom prst="roundRect">
            <a:avLst>
              <a:gd name="adj" fmla="val 17143"/>
            </a:avLst>
          </a:prstGeom>
          <a:solidFill>
            <a:srgbClr val="FFFFFF"/>
          </a:solidFill>
          <a:ln w="12700">
            <a:solidFill>
              <a:srgbClr val="E2E8F0"/>
            </a:solidFill>
            <a:prstDash val="solid"/>
          </a:ln>
        </p:spPr>
      </p:sp>
      <p:sp>
        <p:nvSpPr>
          <p:cNvPr id="10" name="enhancement-badge-1"/>
          <p:cNvSpPr/>
          <p:nvPr/>
        </p:nvSpPr>
        <p:spPr>
          <a:xfrm>
            <a:off x="1016000" y="2184400"/>
            <a:ext cx="330200" cy="330200"/>
          </a:xfrm>
          <a:prstGeom prst="ellipse">
            <a:avLst/>
          </a:prstGeom>
          <a:solidFill>
            <a:srgbClr val="2F6FED"/>
          </a:solidFill>
        </p:spPr>
      </p:sp>
      <p:sp>
        <p:nvSpPr>
          <p:cNvPr id="11" name="enhancement-badge-text-1"/>
          <p:cNvSpPr/>
          <p:nvPr/>
        </p:nvSpPr>
        <p:spPr>
          <a:xfrm>
            <a:off x="1016000" y="22352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12" name="enhancement-text-1"/>
          <p:cNvSpPr/>
          <p:nvPr/>
        </p:nvSpPr>
        <p:spPr>
          <a:xfrm>
            <a:off x="1574800" y="21971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Near-real-time data ingestion</a:t>
            </a:r>
            <a:endParaRPr lang="en-US" sz="1600" dirty="0"/>
          </a:p>
        </p:txBody>
      </p:sp>
      <p:sp>
        <p:nvSpPr>
          <p:cNvPr id="13" name="enhancement-card-2"/>
          <p:cNvSpPr/>
          <p:nvPr/>
        </p:nvSpPr>
        <p:spPr>
          <a:xfrm>
            <a:off x="762000" y="3022600"/>
            <a:ext cx="6858000" cy="889000"/>
          </a:xfrm>
          <a:prstGeom prst="roundRect">
            <a:avLst>
              <a:gd name="adj" fmla="val 17143"/>
            </a:avLst>
          </a:prstGeom>
          <a:solidFill>
            <a:srgbClr val="FFFFFF"/>
          </a:solidFill>
          <a:ln w="12700">
            <a:solidFill>
              <a:srgbClr val="E2E8F0"/>
            </a:solidFill>
            <a:prstDash val="solid"/>
          </a:ln>
        </p:spPr>
      </p:sp>
      <p:sp>
        <p:nvSpPr>
          <p:cNvPr id="14" name="enhancement-badge-2"/>
          <p:cNvSpPr/>
          <p:nvPr/>
        </p:nvSpPr>
        <p:spPr>
          <a:xfrm>
            <a:off x="1016000" y="3302000"/>
            <a:ext cx="330200" cy="330200"/>
          </a:xfrm>
          <a:prstGeom prst="ellipse">
            <a:avLst/>
          </a:prstGeom>
          <a:solidFill>
            <a:srgbClr val="2F6FED"/>
          </a:solidFill>
        </p:spPr>
      </p:sp>
      <p:sp>
        <p:nvSpPr>
          <p:cNvPr id="15" name="enhancement-badge-text-2"/>
          <p:cNvSpPr/>
          <p:nvPr/>
        </p:nvSpPr>
        <p:spPr>
          <a:xfrm>
            <a:off x="1016000" y="33528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16" name="enhancement-text-2"/>
          <p:cNvSpPr/>
          <p:nvPr/>
        </p:nvSpPr>
        <p:spPr>
          <a:xfrm>
            <a:off x="1574800" y="33147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Advanced ML and anomaly detection</a:t>
            </a:r>
            <a:endParaRPr lang="en-US" sz="1600" dirty="0"/>
          </a:p>
        </p:txBody>
      </p:sp>
      <p:sp>
        <p:nvSpPr>
          <p:cNvPr id="17" name="enhancement-card-3"/>
          <p:cNvSpPr/>
          <p:nvPr/>
        </p:nvSpPr>
        <p:spPr>
          <a:xfrm>
            <a:off x="762000" y="4140200"/>
            <a:ext cx="6858000" cy="889000"/>
          </a:xfrm>
          <a:prstGeom prst="roundRect">
            <a:avLst>
              <a:gd name="adj" fmla="val 17143"/>
            </a:avLst>
          </a:prstGeom>
          <a:solidFill>
            <a:srgbClr val="FFFFFF"/>
          </a:solidFill>
          <a:ln w="12700">
            <a:solidFill>
              <a:srgbClr val="E2E8F0"/>
            </a:solidFill>
            <a:prstDash val="solid"/>
          </a:ln>
        </p:spPr>
      </p:sp>
      <p:sp>
        <p:nvSpPr>
          <p:cNvPr id="18" name="enhancement-badge-3"/>
          <p:cNvSpPr/>
          <p:nvPr/>
        </p:nvSpPr>
        <p:spPr>
          <a:xfrm>
            <a:off x="1016000" y="4419600"/>
            <a:ext cx="330200" cy="330200"/>
          </a:xfrm>
          <a:prstGeom prst="ellipse">
            <a:avLst/>
          </a:prstGeom>
          <a:solidFill>
            <a:srgbClr val="2F6FED"/>
          </a:solidFill>
        </p:spPr>
      </p:sp>
      <p:sp>
        <p:nvSpPr>
          <p:cNvPr id="19" name="enhancement-badge-text-3"/>
          <p:cNvSpPr/>
          <p:nvPr/>
        </p:nvSpPr>
        <p:spPr>
          <a:xfrm>
            <a:off x="1016000" y="44704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20" name="enhancement-text-3"/>
          <p:cNvSpPr/>
          <p:nvPr/>
        </p:nvSpPr>
        <p:spPr>
          <a:xfrm>
            <a:off x="1574800" y="44323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Alerting and role-based dashboards</a:t>
            </a:r>
            <a:endParaRPr lang="en-US" sz="1600" dirty="0"/>
          </a:p>
        </p:txBody>
      </p:sp>
      <p:sp>
        <p:nvSpPr>
          <p:cNvPr id="21" name="enhancement-card-4"/>
          <p:cNvSpPr/>
          <p:nvPr/>
        </p:nvSpPr>
        <p:spPr>
          <a:xfrm>
            <a:off x="762000" y="5257800"/>
            <a:ext cx="6858000" cy="889000"/>
          </a:xfrm>
          <a:prstGeom prst="roundRect">
            <a:avLst>
              <a:gd name="adj" fmla="val 17143"/>
            </a:avLst>
          </a:prstGeom>
          <a:solidFill>
            <a:srgbClr val="FFFFFF"/>
          </a:solidFill>
          <a:ln w="12700">
            <a:solidFill>
              <a:srgbClr val="E2E8F0"/>
            </a:solidFill>
            <a:prstDash val="solid"/>
          </a:ln>
        </p:spPr>
      </p:sp>
      <p:sp>
        <p:nvSpPr>
          <p:cNvPr id="22" name="enhancement-badge-4"/>
          <p:cNvSpPr/>
          <p:nvPr/>
        </p:nvSpPr>
        <p:spPr>
          <a:xfrm>
            <a:off x="1016000" y="5537200"/>
            <a:ext cx="330200" cy="330200"/>
          </a:xfrm>
          <a:prstGeom prst="ellipse">
            <a:avLst/>
          </a:prstGeom>
          <a:solidFill>
            <a:srgbClr val="2F6FED"/>
          </a:solidFill>
        </p:spPr>
      </p:sp>
      <p:sp>
        <p:nvSpPr>
          <p:cNvPr id="23" name="enhancement-badge-text-4"/>
          <p:cNvSpPr/>
          <p:nvPr/>
        </p:nvSpPr>
        <p:spPr>
          <a:xfrm>
            <a:off x="1016000" y="55880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4</a:t>
            </a:r>
            <a:endParaRPr lang="en-US" sz="1400" dirty="0"/>
          </a:p>
        </p:txBody>
      </p:sp>
      <p:sp>
        <p:nvSpPr>
          <p:cNvPr id="24" name="enhancement-text-4"/>
          <p:cNvSpPr/>
          <p:nvPr/>
        </p:nvSpPr>
        <p:spPr>
          <a:xfrm>
            <a:off x="1574800" y="5549900"/>
            <a:ext cx="5461000" cy="254000"/>
          </a:xfrm>
          <a:prstGeom prst="rect">
            <a:avLst/>
          </a:prstGeom>
          <a:noFill/>
        </p:spPr>
        <p:txBody>
          <a:bodyPr wrap="none" lIns="0" tIns="0" rIns="0" bIns="0" rtlCol="0" anchor="t"/>
          <a:lstStyle/>
          <a:p>
            <a:pPr marL="0" indent="0" algn="l">
              <a:buNone/>
            </a:pPr>
            <a:r>
              <a:rPr lang="en-US" altLang="en-US" sz="1600" b="1" dirty="0">
                <a:solidFill>
                  <a:srgbClr val="1E2761"/>
                </a:solidFill>
                <a:latin typeface="Outfit" pitchFamily="34" charset="0"/>
                <a:ea typeface="Outfit" pitchFamily="34" charset="-122"/>
                <a:cs typeface="Outfit" pitchFamily="34" charset="-120"/>
              </a:rPr>
              <a:t>SIEM and streaming-log integrations</a:t>
            </a:r>
            <a:endParaRPr lang="en-US" sz="1600" dirty="0"/>
          </a:p>
        </p:txBody>
      </p:sp>
      <p:sp>
        <p:nvSpPr>
          <p:cNvPr id="25" name="insight-card-1"/>
          <p:cNvSpPr/>
          <p:nvPr/>
        </p:nvSpPr>
        <p:spPr>
          <a:xfrm>
            <a:off x="8636000" y="1905000"/>
            <a:ext cx="6858000" cy="1193800"/>
          </a:xfrm>
          <a:prstGeom prst="roundRect">
            <a:avLst>
              <a:gd name="adj" fmla="val 12766"/>
            </a:avLst>
          </a:prstGeom>
          <a:solidFill>
            <a:srgbClr val="FFFFFF"/>
          </a:solidFill>
          <a:ln w="12700">
            <a:solidFill>
              <a:srgbClr val="C8E8D9"/>
            </a:solidFill>
            <a:prstDash val="solid"/>
          </a:ln>
        </p:spPr>
      </p:sp>
      <p:sp>
        <p:nvSpPr>
          <p:cNvPr id="26" name="insight-badge-1"/>
          <p:cNvSpPr/>
          <p:nvPr/>
        </p:nvSpPr>
        <p:spPr>
          <a:xfrm>
            <a:off x="8890000" y="2311400"/>
            <a:ext cx="330200" cy="330200"/>
          </a:xfrm>
          <a:prstGeom prst="ellipse">
            <a:avLst/>
          </a:prstGeom>
          <a:solidFill>
            <a:srgbClr val="0E8F63"/>
          </a:solidFill>
        </p:spPr>
      </p:sp>
      <p:sp>
        <p:nvSpPr>
          <p:cNvPr id="27" name="insight-badge-text-1"/>
          <p:cNvSpPr/>
          <p:nvPr/>
        </p:nvSpPr>
        <p:spPr>
          <a:xfrm>
            <a:off x="8890000" y="23622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1</a:t>
            </a:r>
            <a:endParaRPr lang="en-US" sz="1400" dirty="0"/>
          </a:p>
        </p:txBody>
      </p:sp>
      <p:sp>
        <p:nvSpPr>
          <p:cNvPr id="28" name="insight-text-1"/>
          <p:cNvSpPr/>
          <p:nvPr/>
        </p:nvSpPr>
        <p:spPr>
          <a:xfrm>
            <a:off x="9448800" y="2159000"/>
            <a:ext cx="5461000" cy="609600"/>
          </a:xfrm>
          <a:prstGeom prst="rect">
            <a:avLst/>
          </a:prstGeom>
          <a:noFill/>
        </p:spPr>
        <p:txBody>
          <a:bodyPr wrap="square" lIns="0" tIns="0" rIns="0" bIns="0" rtlCol="0" anchor="ctr"/>
          <a:lstStyle/>
          <a:p>
            <a:pPr marL="0" indent="0" algn="l">
              <a:buNone/>
            </a:pPr>
            <a:r>
              <a:rPr lang="en-US" altLang="en-US" sz="1700" b="1" dirty="0">
                <a:solidFill>
                  <a:srgbClr val="1E2761"/>
                </a:solidFill>
                <a:latin typeface="Outfit" pitchFamily="34" charset="0"/>
                <a:ea typeface="Outfit" pitchFamily="34" charset="-122"/>
                <a:cs typeface="Outfit" pitchFamily="34" charset="-120"/>
              </a:rPr>
              <a:t>10,228 incidents across 141 countries.</a:t>
            </a:r>
            <a:endParaRPr lang="en-US" sz="1700" dirty="0"/>
          </a:p>
        </p:txBody>
      </p:sp>
      <p:sp>
        <p:nvSpPr>
          <p:cNvPr id="29" name="insight-card-2"/>
          <p:cNvSpPr/>
          <p:nvPr/>
        </p:nvSpPr>
        <p:spPr>
          <a:xfrm>
            <a:off x="8636000" y="3429000"/>
            <a:ext cx="6858000" cy="1193800"/>
          </a:xfrm>
          <a:prstGeom prst="roundRect">
            <a:avLst>
              <a:gd name="adj" fmla="val 12766"/>
            </a:avLst>
          </a:prstGeom>
          <a:solidFill>
            <a:srgbClr val="FFFFFF"/>
          </a:solidFill>
          <a:ln w="12700">
            <a:solidFill>
              <a:srgbClr val="C8E8D9"/>
            </a:solidFill>
            <a:prstDash val="solid"/>
          </a:ln>
        </p:spPr>
      </p:sp>
      <p:sp>
        <p:nvSpPr>
          <p:cNvPr id="30" name="insight-badge-2"/>
          <p:cNvSpPr/>
          <p:nvPr/>
        </p:nvSpPr>
        <p:spPr>
          <a:xfrm>
            <a:off x="8890000" y="3835400"/>
            <a:ext cx="330200" cy="330200"/>
          </a:xfrm>
          <a:prstGeom prst="ellipse">
            <a:avLst/>
          </a:prstGeom>
          <a:solidFill>
            <a:srgbClr val="0E8F63"/>
          </a:solidFill>
        </p:spPr>
      </p:sp>
      <p:sp>
        <p:nvSpPr>
          <p:cNvPr id="31" name="insight-badge-text-2"/>
          <p:cNvSpPr/>
          <p:nvPr/>
        </p:nvSpPr>
        <p:spPr>
          <a:xfrm>
            <a:off x="8890000" y="38862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2</a:t>
            </a:r>
            <a:endParaRPr lang="en-US" sz="1400" dirty="0"/>
          </a:p>
        </p:txBody>
      </p:sp>
      <p:sp>
        <p:nvSpPr>
          <p:cNvPr id="32" name="insight-text-2"/>
          <p:cNvSpPr/>
          <p:nvPr/>
        </p:nvSpPr>
        <p:spPr>
          <a:xfrm>
            <a:off x="9448800" y="3619500"/>
            <a:ext cx="5461000" cy="711200"/>
          </a:xfrm>
          <a:prstGeom prst="rect">
            <a:avLst/>
          </a:prstGeom>
          <a:noFill/>
        </p:spPr>
        <p:txBody>
          <a:bodyPr wrap="square" lIns="0" tIns="0" rIns="0" bIns="0" rtlCol="0" anchor="ctr"/>
          <a:lstStyle/>
          <a:p>
            <a:pPr marL="0" indent="0" algn="l">
              <a:buNone/>
            </a:pPr>
            <a:r>
              <a:rPr lang="en-US" altLang="en-US" sz="1600" b="1" dirty="0">
                <a:solidFill>
                  <a:srgbClr val="1E2761"/>
                </a:solidFill>
                <a:latin typeface="Outfit" pitchFamily="34" charset="0"/>
                <a:ea typeface="Outfit" pitchFamily="34" charset="-122"/>
                <a:cs typeface="Outfit" pitchFamily="34" charset="-120"/>
              </a:rPr>
              <a:t>Hacking was dominant; the United States was most targeted.</a:t>
            </a:r>
            <a:endParaRPr lang="en-US" sz="1600" dirty="0"/>
          </a:p>
        </p:txBody>
      </p:sp>
      <p:sp>
        <p:nvSpPr>
          <p:cNvPr id="33" name="insight-card-3"/>
          <p:cNvSpPr/>
          <p:nvPr/>
        </p:nvSpPr>
        <p:spPr>
          <a:xfrm>
            <a:off x="8636000" y="4953000"/>
            <a:ext cx="6858000" cy="1422400"/>
          </a:xfrm>
          <a:prstGeom prst="roundRect">
            <a:avLst>
              <a:gd name="adj" fmla="val 10714"/>
            </a:avLst>
          </a:prstGeom>
          <a:solidFill>
            <a:srgbClr val="FFFFFF"/>
          </a:solidFill>
          <a:ln w="12700">
            <a:solidFill>
              <a:srgbClr val="C8E8D9"/>
            </a:solidFill>
            <a:prstDash val="solid"/>
          </a:ln>
        </p:spPr>
      </p:sp>
      <p:sp>
        <p:nvSpPr>
          <p:cNvPr id="34" name="insight-badge-3"/>
          <p:cNvSpPr/>
          <p:nvPr/>
        </p:nvSpPr>
        <p:spPr>
          <a:xfrm>
            <a:off x="8890000" y="5499100"/>
            <a:ext cx="330200" cy="330200"/>
          </a:xfrm>
          <a:prstGeom prst="ellipse">
            <a:avLst/>
          </a:prstGeom>
          <a:solidFill>
            <a:srgbClr val="0E8F63"/>
          </a:solidFill>
        </p:spPr>
      </p:sp>
      <p:sp>
        <p:nvSpPr>
          <p:cNvPr id="35" name="insight-badge-text-3"/>
          <p:cNvSpPr/>
          <p:nvPr/>
        </p:nvSpPr>
        <p:spPr>
          <a:xfrm>
            <a:off x="8890000" y="5549900"/>
            <a:ext cx="330200" cy="203200"/>
          </a:xfrm>
          <a:prstGeom prst="rect">
            <a:avLst/>
          </a:prstGeom>
          <a:noFill/>
        </p:spPr>
        <p:txBody>
          <a:bodyPr wrap="none" lIns="0" tIns="0" rIns="0" bIns="0" rtlCol="0" anchor="t"/>
          <a:lstStyle/>
          <a:p>
            <a:pPr marL="0" indent="0" algn="ctr">
              <a:buNone/>
            </a:pPr>
            <a:r>
              <a:rPr lang="en-US" altLang="en-US" sz="1400" b="1" dirty="0">
                <a:solidFill>
                  <a:srgbClr val="FFFFFF"/>
                </a:solidFill>
                <a:latin typeface="Outfit" pitchFamily="34" charset="0"/>
                <a:ea typeface="Outfit" pitchFamily="34" charset="-122"/>
                <a:cs typeface="Outfit" pitchFamily="34" charset="-120"/>
              </a:rPr>
              <a:t>3</a:t>
            </a:r>
            <a:endParaRPr lang="en-US" sz="1400" dirty="0"/>
          </a:p>
        </p:txBody>
      </p:sp>
      <p:sp>
        <p:nvSpPr>
          <p:cNvPr id="36" name="insight-text-3"/>
          <p:cNvSpPr/>
          <p:nvPr/>
        </p:nvSpPr>
        <p:spPr>
          <a:xfrm>
            <a:off x="9448800" y="5168900"/>
            <a:ext cx="5461000" cy="914400"/>
          </a:xfrm>
          <a:prstGeom prst="rect">
            <a:avLst/>
          </a:prstGeom>
          <a:noFill/>
        </p:spPr>
        <p:txBody>
          <a:bodyPr wrap="square" lIns="0" tIns="0" rIns="0" bIns="0" rtlCol="0" anchor="ctr"/>
          <a:lstStyle/>
          <a:p>
            <a:pPr marL="0" indent="0" algn="l">
              <a:buNone/>
            </a:pPr>
            <a:r>
              <a:rPr lang="en-US" altLang="en-US" sz="1600" b="1" dirty="0">
                <a:solidFill>
                  <a:srgbClr val="1E2761"/>
                </a:solidFill>
                <a:latin typeface="Outfit" pitchFamily="34" charset="0"/>
                <a:ea typeface="Outfit" pitchFamily="34" charset="-122"/>
                <a:cs typeface="Outfit" pitchFamily="34" charset="-120"/>
              </a:rPr>
              <a:t>Financial motive, external actors, and authentication-related assets were recurring risk signals.</a:t>
            </a:r>
            <a:endParaRPr lang="en-US" sz="1600" dirty="0"/>
          </a:p>
        </p:txBody>
      </p:sp>
      <p:sp>
        <p:nvSpPr>
          <p:cNvPr id="37" name="direction-band"/>
          <p:cNvSpPr/>
          <p:nvPr/>
        </p:nvSpPr>
        <p:spPr>
          <a:xfrm>
            <a:off x="762000" y="7112000"/>
            <a:ext cx="14732000" cy="863600"/>
          </a:xfrm>
          <a:prstGeom prst="roundRect">
            <a:avLst>
              <a:gd name="adj" fmla="val 17647"/>
            </a:avLst>
          </a:prstGeom>
          <a:solidFill>
            <a:srgbClr val="E9F6F0"/>
          </a:solidFill>
        </p:spPr>
      </p:sp>
      <p:sp>
        <p:nvSpPr>
          <p:cNvPr id="38" name="direction-text"/>
          <p:cNvSpPr/>
          <p:nvPr/>
        </p:nvSpPr>
        <p:spPr>
          <a:xfrm>
            <a:off x="1524000" y="7391400"/>
            <a:ext cx="13208000" cy="304800"/>
          </a:xfrm>
          <a:prstGeom prst="rect">
            <a:avLst/>
          </a:prstGeom>
          <a:noFill/>
        </p:spPr>
        <p:txBody>
          <a:bodyPr wrap="none" lIns="0" tIns="0" rIns="0" bIns="0" rtlCol="0" anchor="ctr"/>
          <a:lstStyle/>
          <a:p>
            <a:pPr marL="0" indent="0" algn="ctr">
              <a:buNone/>
            </a:pPr>
            <a:r>
              <a:rPr lang="en-US" altLang="en-US" sz="1600" b="1" dirty="0">
                <a:solidFill>
                  <a:srgbClr val="0E8F63"/>
                </a:solidFill>
                <a:latin typeface="Outfit" pitchFamily="34" charset="0"/>
                <a:ea typeface="Outfit" pitchFamily="34" charset="-122"/>
                <a:cs typeface="Outfit" pitchFamily="34" charset="-120"/>
              </a:rPr>
              <a:t>Strategic direction: move from retrospective dashboards toward proactive, explainable detection and response.</a:t>
            </a:r>
            <a:endParaRPr lang="en-US" sz="1600" dirty="0"/>
          </a:p>
        </p:txBody>
      </p:sp>
      <p:sp>
        <p:nvSpPr>
          <p:cNvPr id="60" name="Shape 8"/>
          <p:cNvSpPr/>
          <p:nvPr/>
        </p:nvSpPr>
        <p:spPr>
          <a:xfrm>
            <a:off x="15200630" y="8593455"/>
            <a:ext cx="795655" cy="415290"/>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8</a:t>
            </a:r>
            <a:endParaRPr lang="en-US"/>
          </a:p>
        </p:txBody>
      </p:sp>
      <p:pic>
        <p:nvPicPr>
          <p:cNvPr id="49" name="Picture 48"/>
          <p:cNvPicPr>
            <a:picLocks noChangeAspect="1"/>
          </p:cNvPicPr>
          <p:nvPr/>
        </p:nvPicPr>
        <p:blipFill>
          <a:blip r:embed="rId1"/>
          <a:srcRect t="27119" b="14044"/>
          <a:stretch>
            <a:fillRect/>
          </a:stretch>
        </p:blipFill>
        <p:spPr>
          <a:xfrm>
            <a:off x="0" y="0"/>
            <a:ext cx="16256000" cy="74549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542925" y="876300"/>
            <a:ext cx="50800" cy="368300"/>
          </a:xfrm>
          <a:prstGeom prst="rect">
            <a:avLst/>
          </a:prstGeom>
          <a:solidFill>
            <a:srgbClr val="0E8F63"/>
          </a:solidFill>
        </p:spPr>
      </p:sp>
      <p:sp>
        <p:nvSpPr>
          <p:cNvPr id="3" name="slide-title"/>
          <p:cNvSpPr/>
          <p:nvPr/>
        </p:nvSpPr>
        <p:spPr>
          <a:xfrm>
            <a:off x="762000" y="876300"/>
            <a:ext cx="60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Conclusion</a:t>
            </a:r>
            <a:endParaRPr lang="en-US" sz="3000" dirty="0"/>
          </a:p>
        </p:txBody>
      </p:sp>
      <p:sp>
        <p:nvSpPr>
          <p:cNvPr id="4" name="outcome-card"/>
          <p:cNvSpPr/>
          <p:nvPr/>
        </p:nvSpPr>
        <p:spPr>
          <a:xfrm>
            <a:off x="939800" y="1524000"/>
            <a:ext cx="14732000" cy="1097280"/>
          </a:xfrm>
          <a:prstGeom prst="roundRect">
            <a:avLst>
              <a:gd name="adj" fmla="val 11111"/>
            </a:avLst>
          </a:prstGeom>
          <a:solidFill>
            <a:srgbClr val="EAF1FB"/>
          </a:solidFill>
        </p:spPr>
      </p:sp>
      <p:sp>
        <p:nvSpPr>
          <p:cNvPr id="5" name="outcome-statement"/>
          <p:cNvSpPr/>
          <p:nvPr/>
        </p:nvSpPr>
        <p:spPr>
          <a:xfrm>
            <a:off x="1397000" y="1651000"/>
            <a:ext cx="13462000" cy="838200"/>
          </a:xfrm>
          <a:prstGeom prst="rect">
            <a:avLst/>
          </a:prstGeom>
          <a:noFill/>
        </p:spPr>
        <p:txBody>
          <a:bodyPr wrap="square" lIns="0" tIns="0" rIns="0" bIns="0" rtlCol="0" anchor="ctr"/>
          <a:lstStyle/>
          <a:p>
            <a:pPr marL="0" indent="0" algn="ctr">
              <a:buNone/>
            </a:pPr>
            <a:r>
              <a:rPr lang="en-US" altLang="en-US" sz="1700" dirty="0">
                <a:solidFill>
                  <a:srgbClr val="1E2761"/>
                </a:solidFill>
                <a:latin typeface="Corbel" panose="020B0503020204020204" pitchFamily="34" charset="0"/>
                <a:ea typeface="Corbel" panose="020B0503020204020204" pitchFamily="34" charset="-122"/>
                <a:cs typeface="Corbel" panose="020B0503020204020204" pitchFamily="34" charset="-120"/>
                <a:sym typeface="+mn-ea"/>
              </a:rPr>
              <a:t> </a:t>
            </a:r>
            <a:r>
              <a:rPr lang="en-US" altLang="en-US" sz="1700" b="1" dirty="0">
                <a:solidFill>
                  <a:srgbClr val="1E2761"/>
                </a:solidFill>
                <a:latin typeface="Cambria" panose="02040503050406030204" charset="0"/>
                <a:ea typeface="Corbel" panose="020B0503020204020204" pitchFamily="34" charset="-122"/>
                <a:cs typeface="Cambria" panose="02040503050406030204" charset="0"/>
                <a:sym typeface="+mn-ea"/>
              </a:rPr>
              <a:t>The Cyber Threat Analytics Platform </a:t>
            </a:r>
            <a:r>
              <a:rPr lang="en-US" altLang="en-US" sz="1700" b="1" dirty="0">
                <a:solidFill>
                  <a:srgbClr val="1E2761"/>
                </a:solidFill>
                <a:latin typeface="Cambria" panose="02040503050406030204" charset="0"/>
                <a:ea typeface="Outfit" pitchFamily="34" charset="-122"/>
                <a:cs typeface="Cambria" panose="02040503050406030204" charset="0"/>
              </a:rPr>
              <a:t>successfully transformed raw cybersecurity incident data into a clean, structured, analysis-ready dataset and an interactive Power BI analytics system for decision support.</a:t>
            </a:r>
            <a:endParaRPr lang="en-US" sz="1700" b="1" dirty="0">
              <a:latin typeface="Cambria" panose="02040503050406030204" charset="0"/>
              <a:cs typeface="Cambria" panose="02040503050406030204" charset="0"/>
            </a:endParaRPr>
          </a:p>
        </p:txBody>
      </p:sp>
      <p:sp>
        <p:nvSpPr>
          <p:cNvPr id="6" name="pill-bg"/>
          <p:cNvSpPr/>
          <p:nvPr/>
        </p:nvSpPr>
        <p:spPr>
          <a:xfrm>
            <a:off x="457200" y="2895600"/>
            <a:ext cx="684000" cy="342900"/>
          </a:xfrm>
          <a:prstGeom prst="roundRect">
            <a:avLst>
              <a:gd name="adj" fmla="val 50000"/>
            </a:avLst>
          </a:prstGeom>
          <a:solidFill>
            <a:srgbClr val="EAF1FB"/>
          </a:solidFill>
        </p:spPr>
      </p:sp>
      <p:sp>
        <p:nvSpPr>
          <p:cNvPr id="7" name="pill-text"/>
          <p:cNvSpPr/>
          <p:nvPr/>
        </p:nvSpPr>
        <p:spPr>
          <a:xfrm>
            <a:off x="677200" y="2971800"/>
            <a:ext cx="244000" cy="190500"/>
          </a:xfrm>
          <a:prstGeom prst="rect">
            <a:avLst/>
          </a:prstGeom>
          <a:noFill/>
        </p:spPr>
        <p:txBody>
          <a:bodyPr wrap="none" lIns="0" tIns="0" rIns="0" bIns="0" rtlCol="0" anchor="ctr"/>
          <a:lstStyle/>
          <a:p>
            <a:pPr marL="0" indent="0" algn="l">
              <a:buNone/>
            </a:pPr>
            <a:r>
              <a:rPr lang="en-US" altLang="en-US" sz="1200" b="1" dirty="0">
                <a:solidFill>
                  <a:srgbClr val="2F6FED"/>
                </a:solidFill>
                <a:latin typeface="Outfit" pitchFamily="34" charset="0"/>
                <a:ea typeface="Outfit" pitchFamily="34" charset="-122"/>
                <a:cs typeface="Outfit" pitchFamily="34" charset="-120"/>
              </a:rPr>
              <a:t>KEY PROJECT OUTCOMES</a:t>
            </a:r>
            <a:endParaRPr lang="en-US" sz="1200" dirty="0"/>
          </a:p>
        </p:txBody>
      </p:sp>
      <p:sp>
        <p:nvSpPr>
          <p:cNvPr id="8" name="outcome-card-0"/>
          <p:cNvSpPr/>
          <p:nvPr/>
        </p:nvSpPr>
        <p:spPr>
          <a:xfrm>
            <a:off x="457200" y="3390900"/>
            <a:ext cx="3595400" cy="2461260"/>
          </a:xfrm>
          <a:prstGeom prst="roundRect">
            <a:avLst>
              <a:gd name="adj" fmla="val 14000"/>
            </a:avLst>
          </a:prstGeom>
          <a:solidFill>
            <a:srgbClr val="FFFFFF"/>
          </a:solidFill>
          <a:ln w="12700">
            <a:solidFill>
              <a:srgbClr val="E2E8F0"/>
            </a:solidFill>
            <a:prstDash val="solid"/>
          </a:ln>
        </p:spPr>
      </p:sp>
      <p:sp>
        <p:nvSpPr>
          <p:cNvPr id="9" name="outcome-badge-0"/>
          <p:cNvSpPr/>
          <p:nvPr/>
        </p:nvSpPr>
        <p:spPr>
          <a:xfrm>
            <a:off x="647700" y="3581400"/>
            <a:ext cx="292100" cy="292100"/>
          </a:xfrm>
          <a:prstGeom prst="ellipse">
            <a:avLst/>
          </a:prstGeom>
          <a:solidFill>
            <a:srgbClr val="2F6FED"/>
          </a:solidFill>
        </p:spPr>
      </p:sp>
      <p:sp>
        <p:nvSpPr>
          <p:cNvPr id="10" name="outcome-badge-num-0"/>
          <p:cNvSpPr/>
          <p:nvPr/>
        </p:nvSpPr>
        <p:spPr>
          <a:xfrm>
            <a:off x="6477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1</a:t>
            </a:r>
            <a:endParaRPr lang="en-US" sz="1200" dirty="0"/>
          </a:p>
        </p:txBody>
      </p:sp>
      <p:sp>
        <p:nvSpPr>
          <p:cNvPr id="11" name="outcome-label-0"/>
          <p:cNvSpPr/>
          <p:nvPr/>
        </p:nvSpPr>
        <p:spPr>
          <a:xfrm>
            <a:off x="6477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Improved Data Quality</a:t>
            </a:r>
            <a:endParaRPr lang="en-US" sz="1400" dirty="0"/>
          </a:p>
        </p:txBody>
      </p:sp>
      <p:sp>
        <p:nvSpPr>
          <p:cNvPr id="12" name="outcome-desc-0"/>
          <p:cNvSpPr/>
          <p:nvPr/>
        </p:nvSpPr>
        <p:spPr>
          <a:xfrm>
            <a:off x="6477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Missing values handled and 10,228 records standardized.</a:t>
            </a:r>
            <a:endParaRPr lang="en-US" sz="1300" dirty="0"/>
          </a:p>
        </p:txBody>
      </p:sp>
      <p:sp>
        <p:nvSpPr>
          <p:cNvPr id="13" name="outcome-card-1"/>
          <p:cNvSpPr/>
          <p:nvPr/>
        </p:nvSpPr>
        <p:spPr>
          <a:xfrm>
            <a:off x="4372600" y="3390900"/>
            <a:ext cx="3595400" cy="2461260"/>
          </a:xfrm>
          <a:prstGeom prst="roundRect">
            <a:avLst>
              <a:gd name="adj" fmla="val 14000"/>
            </a:avLst>
          </a:prstGeom>
          <a:solidFill>
            <a:srgbClr val="FFFFFF"/>
          </a:solidFill>
          <a:ln w="12700">
            <a:solidFill>
              <a:srgbClr val="E2E8F0"/>
            </a:solidFill>
            <a:prstDash val="solid"/>
          </a:ln>
        </p:spPr>
      </p:sp>
      <p:sp>
        <p:nvSpPr>
          <p:cNvPr id="14" name="outcome-badge-1"/>
          <p:cNvSpPr/>
          <p:nvPr/>
        </p:nvSpPr>
        <p:spPr>
          <a:xfrm>
            <a:off x="4563100" y="3581400"/>
            <a:ext cx="292100" cy="292100"/>
          </a:xfrm>
          <a:prstGeom prst="ellipse">
            <a:avLst/>
          </a:prstGeom>
          <a:solidFill>
            <a:srgbClr val="0E8F63"/>
          </a:solidFill>
        </p:spPr>
      </p:sp>
      <p:sp>
        <p:nvSpPr>
          <p:cNvPr id="15" name="outcome-badge-num-1"/>
          <p:cNvSpPr/>
          <p:nvPr/>
        </p:nvSpPr>
        <p:spPr>
          <a:xfrm>
            <a:off x="45631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2</a:t>
            </a:r>
            <a:endParaRPr lang="en-US" sz="1200" dirty="0"/>
          </a:p>
        </p:txBody>
      </p:sp>
      <p:sp>
        <p:nvSpPr>
          <p:cNvPr id="16" name="outcome-label-1"/>
          <p:cNvSpPr/>
          <p:nvPr/>
        </p:nvSpPr>
        <p:spPr>
          <a:xfrm>
            <a:off x="45631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Efficient Data Modelling</a:t>
            </a:r>
            <a:endParaRPr lang="en-US" sz="1400" dirty="0"/>
          </a:p>
        </p:txBody>
      </p:sp>
      <p:sp>
        <p:nvSpPr>
          <p:cNvPr id="17" name="outcome-desc-1"/>
          <p:cNvSpPr/>
          <p:nvPr/>
        </p:nvSpPr>
        <p:spPr>
          <a:xfrm>
            <a:off x="45631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Power BI model + DAX measures built for analysis.</a:t>
            </a:r>
            <a:endParaRPr lang="en-US" sz="1300" dirty="0"/>
          </a:p>
        </p:txBody>
      </p:sp>
      <p:sp>
        <p:nvSpPr>
          <p:cNvPr id="18" name="outcome-card-2"/>
          <p:cNvSpPr/>
          <p:nvPr/>
        </p:nvSpPr>
        <p:spPr>
          <a:xfrm>
            <a:off x="8288000" y="3390900"/>
            <a:ext cx="3595400" cy="2461260"/>
          </a:xfrm>
          <a:prstGeom prst="roundRect">
            <a:avLst>
              <a:gd name="adj" fmla="val 14000"/>
            </a:avLst>
          </a:prstGeom>
          <a:solidFill>
            <a:srgbClr val="FFFFFF"/>
          </a:solidFill>
          <a:ln w="12700">
            <a:solidFill>
              <a:srgbClr val="E2E8F0"/>
            </a:solidFill>
            <a:prstDash val="solid"/>
          </a:ln>
        </p:spPr>
      </p:sp>
      <p:sp>
        <p:nvSpPr>
          <p:cNvPr id="19" name="outcome-badge-2"/>
          <p:cNvSpPr/>
          <p:nvPr/>
        </p:nvSpPr>
        <p:spPr>
          <a:xfrm>
            <a:off x="8478500" y="3581400"/>
            <a:ext cx="292100" cy="292100"/>
          </a:xfrm>
          <a:prstGeom prst="ellipse">
            <a:avLst/>
          </a:prstGeom>
          <a:solidFill>
            <a:srgbClr val="2F6FED"/>
          </a:solidFill>
        </p:spPr>
      </p:sp>
      <p:sp>
        <p:nvSpPr>
          <p:cNvPr id="20" name="outcome-badge-num-2"/>
          <p:cNvSpPr/>
          <p:nvPr/>
        </p:nvSpPr>
        <p:spPr>
          <a:xfrm>
            <a:off x="84785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3</a:t>
            </a:r>
            <a:endParaRPr lang="en-US" sz="1200" dirty="0"/>
          </a:p>
        </p:txBody>
      </p:sp>
      <p:sp>
        <p:nvSpPr>
          <p:cNvPr id="21" name="outcome-label-2"/>
          <p:cNvSpPr/>
          <p:nvPr/>
        </p:nvSpPr>
        <p:spPr>
          <a:xfrm>
            <a:off x="84785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Comprehensive Dashboards</a:t>
            </a:r>
            <a:endParaRPr lang="en-US" sz="1400" dirty="0"/>
          </a:p>
        </p:txBody>
      </p:sp>
      <p:sp>
        <p:nvSpPr>
          <p:cNvPr id="22" name="outcome-desc-2"/>
          <p:cNvSpPr/>
          <p:nvPr/>
        </p:nvSpPr>
        <p:spPr>
          <a:xfrm>
            <a:off x="84785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Seven interactive dashboards built for threat analysis</a:t>
            </a:r>
            <a:r>
              <a:rPr lang="en-US" altLang="en-US" sz="1200" dirty="0">
                <a:solidFill>
                  <a:srgbClr val="5A6B85"/>
                </a:solidFill>
                <a:latin typeface="Outfit" pitchFamily="34" charset="0"/>
                <a:ea typeface="Outfit" pitchFamily="34" charset="-122"/>
                <a:cs typeface="Outfit" pitchFamily="34" charset="-120"/>
              </a:rPr>
              <a:t>.</a:t>
            </a:r>
            <a:endParaRPr lang="en-US" sz="1200" dirty="0"/>
          </a:p>
        </p:txBody>
      </p:sp>
      <p:sp>
        <p:nvSpPr>
          <p:cNvPr id="23" name="outcome-card-3"/>
          <p:cNvSpPr/>
          <p:nvPr/>
        </p:nvSpPr>
        <p:spPr>
          <a:xfrm>
            <a:off x="12203400" y="3390900"/>
            <a:ext cx="3595400" cy="2461260"/>
          </a:xfrm>
          <a:prstGeom prst="roundRect">
            <a:avLst>
              <a:gd name="adj" fmla="val 14000"/>
            </a:avLst>
          </a:prstGeom>
          <a:solidFill>
            <a:srgbClr val="FFFFFF"/>
          </a:solidFill>
          <a:ln w="12700">
            <a:solidFill>
              <a:srgbClr val="E2E8F0"/>
            </a:solidFill>
            <a:prstDash val="solid"/>
          </a:ln>
        </p:spPr>
      </p:sp>
      <p:sp>
        <p:nvSpPr>
          <p:cNvPr id="24" name="outcome-badge-3"/>
          <p:cNvSpPr/>
          <p:nvPr/>
        </p:nvSpPr>
        <p:spPr>
          <a:xfrm>
            <a:off x="12393900" y="3581400"/>
            <a:ext cx="292100" cy="292100"/>
          </a:xfrm>
          <a:prstGeom prst="ellipse">
            <a:avLst/>
          </a:prstGeom>
          <a:solidFill>
            <a:srgbClr val="0E8F63"/>
          </a:solidFill>
        </p:spPr>
      </p:sp>
      <p:sp>
        <p:nvSpPr>
          <p:cNvPr id="25" name="outcome-badge-num-3"/>
          <p:cNvSpPr/>
          <p:nvPr/>
        </p:nvSpPr>
        <p:spPr>
          <a:xfrm>
            <a:off x="12393900" y="3629400"/>
            <a:ext cx="292100" cy="200000"/>
          </a:xfrm>
          <a:prstGeom prst="rect">
            <a:avLst/>
          </a:prstGeom>
          <a:noFill/>
        </p:spPr>
        <p:txBody>
          <a:bodyPr wrap="none" lIns="0" tIns="0" rIns="0" bIns="0" rtlCol="0" anchor="t"/>
          <a:lstStyle/>
          <a:p>
            <a:pPr marL="0" indent="0" algn="ctr">
              <a:buNone/>
            </a:pPr>
            <a:r>
              <a:rPr lang="en-US" altLang="en-US" sz="1200" b="1" dirty="0">
                <a:solidFill>
                  <a:srgbClr val="FFFFFF"/>
                </a:solidFill>
                <a:latin typeface="Outfit" pitchFamily="34" charset="0"/>
                <a:ea typeface="Outfit" pitchFamily="34" charset="-122"/>
                <a:cs typeface="Outfit" pitchFamily="34" charset="-120"/>
              </a:rPr>
              <a:t>4</a:t>
            </a:r>
            <a:endParaRPr lang="en-US" sz="1200" dirty="0"/>
          </a:p>
        </p:txBody>
      </p:sp>
      <p:sp>
        <p:nvSpPr>
          <p:cNvPr id="26" name="outcome-label-3"/>
          <p:cNvSpPr/>
          <p:nvPr/>
        </p:nvSpPr>
        <p:spPr>
          <a:xfrm>
            <a:off x="12393900" y="4003500"/>
            <a:ext cx="3214400" cy="460000"/>
          </a:xfrm>
          <a:prstGeom prst="rect">
            <a:avLst/>
          </a:prstGeom>
          <a:noFill/>
        </p:spPr>
        <p:txBody>
          <a:bodyPr wrap="square" lIns="0" tIns="0" rIns="0" bIns="0" rtlCol="0" anchor="t"/>
          <a:lstStyle/>
          <a:p>
            <a:pPr marL="0" indent="0" algn="l">
              <a:buNone/>
            </a:pPr>
            <a:r>
              <a:rPr lang="en-US" altLang="en-US" sz="1400" b="1" dirty="0">
                <a:solidFill>
                  <a:srgbClr val="1E2761"/>
                </a:solidFill>
                <a:latin typeface="Outfit" pitchFamily="34" charset="0"/>
                <a:ea typeface="Outfit" pitchFamily="34" charset="-122"/>
                <a:cs typeface="Outfit" pitchFamily="34" charset="-120"/>
              </a:rPr>
              <a:t>Actionable Insights</a:t>
            </a:r>
            <a:endParaRPr lang="en-US" sz="1400" dirty="0"/>
          </a:p>
        </p:txBody>
      </p:sp>
      <p:sp>
        <p:nvSpPr>
          <p:cNvPr id="27" name="outcome-desc-3"/>
          <p:cNvSpPr/>
          <p:nvPr/>
        </p:nvSpPr>
        <p:spPr>
          <a:xfrm>
            <a:off x="12393900" y="4473500"/>
            <a:ext cx="3214400" cy="1228660"/>
          </a:xfrm>
          <a:prstGeom prst="rect">
            <a:avLst/>
          </a:prstGeom>
          <a:noFill/>
        </p:spPr>
        <p:txBody>
          <a:bodyPr wrap="square" lIns="0" tIns="0" rIns="0" bIns="0" rtlCol="0" anchor="t"/>
          <a:lstStyle/>
          <a:p>
            <a:pPr marL="0" indent="0" algn="l">
              <a:buNone/>
            </a:pPr>
            <a:r>
              <a:rPr lang="en-US" altLang="en-US" sz="1300" dirty="0">
                <a:solidFill>
                  <a:srgbClr val="5A6B85"/>
                </a:solidFill>
                <a:latin typeface="Outfit" pitchFamily="34" charset="0"/>
                <a:ea typeface="Outfit" pitchFamily="34" charset="-122"/>
                <a:cs typeface="Outfit" pitchFamily="34" charset="-120"/>
              </a:rPr>
              <a:t>Insights surfaced on attack patterns, assets, regions, and threats.</a:t>
            </a:r>
            <a:endParaRPr lang="en-US" sz="1300" dirty="0"/>
          </a:p>
        </p:txBody>
      </p:sp>
      <p:sp>
        <p:nvSpPr>
          <p:cNvPr id="28" name="tech-skills-header"/>
          <p:cNvSpPr/>
          <p:nvPr/>
        </p:nvSpPr>
        <p:spPr>
          <a:xfrm>
            <a:off x="457200" y="6210300"/>
            <a:ext cx="5000000" cy="300000"/>
          </a:xfrm>
          <a:prstGeom prst="rect">
            <a:avLst/>
          </a:prstGeom>
          <a:noFill/>
        </p:spPr>
        <p:txBody>
          <a:bodyPr wrap="none" lIns="0" tIns="0" rIns="0" bIns="0" rtlCol="0" anchor="t"/>
          <a:lstStyle/>
          <a:p>
            <a:pPr marL="0" indent="0" algn="l">
              <a:buNone/>
            </a:pPr>
            <a:r>
              <a:rPr lang="en-US" altLang="en-US" sz="1500" b="1" dirty="0">
                <a:solidFill>
                  <a:srgbClr val="2F6FED"/>
                </a:solidFill>
                <a:latin typeface="Outfit" pitchFamily="34" charset="0"/>
                <a:ea typeface="Outfit" pitchFamily="34" charset="-122"/>
                <a:cs typeface="Outfit" pitchFamily="34" charset="-120"/>
              </a:rPr>
              <a:t>TECHNICAL SKILLS</a:t>
            </a:r>
            <a:endParaRPr lang="en-US" sz="1500" dirty="0"/>
          </a:p>
        </p:txBody>
      </p:sp>
      <p:sp>
        <p:nvSpPr>
          <p:cNvPr id="29" name="soft-skills-header"/>
          <p:cNvSpPr/>
          <p:nvPr/>
        </p:nvSpPr>
        <p:spPr>
          <a:xfrm>
            <a:off x="8382000" y="6210300"/>
            <a:ext cx="5000000" cy="300000"/>
          </a:xfrm>
          <a:prstGeom prst="rect">
            <a:avLst/>
          </a:prstGeom>
          <a:noFill/>
        </p:spPr>
        <p:txBody>
          <a:bodyPr wrap="none" lIns="0" tIns="0" rIns="0" bIns="0" rtlCol="0" anchor="t"/>
          <a:lstStyle/>
          <a:p>
            <a:pPr marL="0" indent="0" algn="l">
              <a:buNone/>
            </a:pPr>
            <a:r>
              <a:rPr lang="en-US" altLang="en-US" sz="1500" b="1" dirty="0">
                <a:solidFill>
                  <a:srgbClr val="0E8F63"/>
                </a:solidFill>
                <a:latin typeface="Outfit" pitchFamily="34" charset="0"/>
                <a:ea typeface="Outfit" pitchFamily="34" charset="-122"/>
                <a:cs typeface="Outfit" pitchFamily="34" charset="-120"/>
              </a:rPr>
              <a:t>SOFT SKILLS</a:t>
            </a:r>
            <a:endParaRPr lang="en-US" sz="1500" dirty="0"/>
          </a:p>
        </p:txBody>
      </p:sp>
      <p:sp>
        <p:nvSpPr>
          <p:cNvPr id="30" name="tech-dot-0"/>
          <p:cNvSpPr/>
          <p:nvPr/>
        </p:nvSpPr>
        <p:spPr>
          <a:xfrm>
            <a:off x="477200" y="6800300"/>
            <a:ext cx="114300" cy="114300"/>
          </a:xfrm>
          <a:prstGeom prst="ellipse">
            <a:avLst/>
          </a:prstGeom>
          <a:solidFill>
            <a:srgbClr val="2F6FED"/>
          </a:solidFill>
        </p:spPr>
      </p:sp>
      <p:sp>
        <p:nvSpPr>
          <p:cNvPr id="31" name="tech-text-0"/>
          <p:cNvSpPr/>
          <p:nvPr/>
        </p:nvSpPr>
        <p:spPr>
          <a:xfrm>
            <a:off x="707200" y="6710300"/>
            <a:ext cx="4500000" cy="300000"/>
          </a:xfrm>
          <a:prstGeom prst="rect">
            <a:avLst/>
          </a:prstGeom>
          <a:noFill/>
        </p:spPr>
        <p:txBody>
          <a:bodyPr wrap="none" lIns="0" tIns="0" rIns="0" bIns="0" rtlCol="0" anchor="t"/>
          <a:lstStyle/>
          <a:p>
            <a:pPr marL="0" indent="0" algn="l">
              <a:buNone/>
            </a:pPr>
            <a:r>
              <a:rPr lang="en-US" altLang="en-US" sz="1500" dirty="0">
                <a:solidFill>
                  <a:srgbClr val="1E2761"/>
                </a:solidFill>
                <a:latin typeface="Outfit" pitchFamily="34" charset="0"/>
                <a:ea typeface="Outfit" pitchFamily="34" charset="-122"/>
                <a:cs typeface="Outfit" pitchFamily="34" charset="-120"/>
              </a:rPr>
              <a:t>Power Query :-</a:t>
            </a:r>
            <a:endParaRPr lang="en-US" sz="1500" dirty="0"/>
          </a:p>
        </p:txBody>
      </p:sp>
      <p:sp>
        <p:nvSpPr>
          <p:cNvPr id="32" name="tech-dot-1"/>
          <p:cNvSpPr/>
          <p:nvPr/>
        </p:nvSpPr>
        <p:spPr>
          <a:xfrm>
            <a:off x="477200" y="7260300"/>
            <a:ext cx="114300" cy="114300"/>
          </a:xfrm>
          <a:prstGeom prst="ellipse">
            <a:avLst/>
          </a:prstGeom>
          <a:solidFill>
            <a:srgbClr val="2F6FED"/>
          </a:solidFill>
        </p:spPr>
      </p:sp>
      <p:sp>
        <p:nvSpPr>
          <p:cNvPr id="33" name="tech-text-1"/>
          <p:cNvSpPr/>
          <p:nvPr/>
        </p:nvSpPr>
        <p:spPr>
          <a:xfrm>
            <a:off x="707200" y="717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Data Modelling :-  </a:t>
            </a:r>
            <a:r>
              <a:rPr lang="en-US" altLang="en-US" sz="1400" dirty="0">
                <a:solidFill>
                  <a:srgbClr val="5A6B85"/>
                </a:solidFill>
                <a:latin typeface="Outfit" pitchFamily="34" charset="0"/>
                <a:ea typeface="Outfit" pitchFamily="34" charset="-122"/>
                <a:cs typeface="Outfit" pitchFamily="34" charset="-120"/>
                <a:sym typeface="+mn-ea"/>
              </a:rPr>
              <a:t>Feature preparation and analytical relationships.</a:t>
            </a:r>
            <a:endParaRPr lang="en-US" sz="1400" dirty="0"/>
          </a:p>
        </p:txBody>
      </p:sp>
      <p:sp>
        <p:nvSpPr>
          <p:cNvPr id="34" name="tech-dot-2"/>
          <p:cNvSpPr/>
          <p:nvPr/>
        </p:nvSpPr>
        <p:spPr>
          <a:xfrm>
            <a:off x="477200" y="7720300"/>
            <a:ext cx="114300" cy="114300"/>
          </a:xfrm>
          <a:prstGeom prst="ellipse">
            <a:avLst/>
          </a:prstGeom>
          <a:solidFill>
            <a:srgbClr val="2F6FED"/>
          </a:solidFill>
        </p:spPr>
      </p:sp>
      <p:sp>
        <p:nvSpPr>
          <p:cNvPr id="35" name="tech-text-2"/>
          <p:cNvSpPr/>
          <p:nvPr/>
        </p:nvSpPr>
        <p:spPr>
          <a:xfrm>
            <a:off x="707200" y="763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Visual Analytics :-  </a:t>
            </a:r>
            <a:r>
              <a:rPr lang="en-US" altLang="en-US" sz="1400" dirty="0">
                <a:solidFill>
                  <a:srgbClr val="5A6B85"/>
                </a:solidFill>
                <a:latin typeface="Outfit" pitchFamily="34" charset="0"/>
                <a:ea typeface="Outfit" pitchFamily="34" charset="-122"/>
                <a:cs typeface="Outfit" pitchFamily="34" charset="-120"/>
                <a:sym typeface="+mn-ea"/>
              </a:rPr>
              <a:t>Dashboard design, KPI summaries, and storytelling.</a:t>
            </a:r>
            <a:endParaRPr lang="en-US" sz="1400" dirty="0"/>
          </a:p>
          <a:p>
            <a:pPr marL="0" indent="0" algn="l">
              <a:buNone/>
            </a:pPr>
            <a:endParaRPr lang="en-US" sz="1400" dirty="0"/>
          </a:p>
        </p:txBody>
      </p:sp>
      <p:sp>
        <p:nvSpPr>
          <p:cNvPr id="36" name="soft-dot-0"/>
          <p:cNvSpPr/>
          <p:nvPr/>
        </p:nvSpPr>
        <p:spPr>
          <a:xfrm>
            <a:off x="8402000" y="6800300"/>
            <a:ext cx="114300" cy="114300"/>
          </a:xfrm>
          <a:prstGeom prst="ellipse">
            <a:avLst/>
          </a:prstGeom>
          <a:solidFill>
            <a:srgbClr val="0E8F63"/>
          </a:solidFill>
        </p:spPr>
      </p:sp>
      <p:sp>
        <p:nvSpPr>
          <p:cNvPr id="37" name="soft-text-0"/>
          <p:cNvSpPr/>
          <p:nvPr/>
        </p:nvSpPr>
        <p:spPr>
          <a:xfrm>
            <a:off x="8632000" y="671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Problem Solving</a:t>
            </a:r>
            <a:endParaRPr lang="en-US" sz="1400" dirty="0"/>
          </a:p>
        </p:txBody>
      </p:sp>
      <p:sp>
        <p:nvSpPr>
          <p:cNvPr id="38" name="soft-dot-1"/>
          <p:cNvSpPr/>
          <p:nvPr/>
        </p:nvSpPr>
        <p:spPr>
          <a:xfrm>
            <a:off x="8402000" y="7260300"/>
            <a:ext cx="114300" cy="114300"/>
          </a:xfrm>
          <a:prstGeom prst="ellipse">
            <a:avLst/>
          </a:prstGeom>
          <a:solidFill>
            <a:srgbClr val="0E8F63"/>
          </a:solidFill>
        </p:spPr>
      </p:sp>
      <p:sp>
        <p:nvSpPr>
          <p:cNvPr id="39" name="soft-text-1"/>
          <p:cNvSpPr/>
          <p:nvPr/>
        </p:nvSpPr>
        <p:spPr>
          <a:xfrm>
            <a:off x="8632000" y="717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Communication</a:t>
            </a:r>
            <a:endParaRPr lang="en-US" sz="1400" dirty="0"/>
          </a:p>
        </p:txBody>
      </p:sp>
      <p:sp>
        <p:nvSpPr>
          <p:cNvPr id="40" name="soft-dot-2"/>
          <p:cNvSpPr/>
          <p:nvPr/>
        </p:nvSpPr>
        <p:spPr>
          <a:xfrm>
            <a:off x="8402000" y="7720300"/>
            <a:ext cx="114300" cy="114300"/>
          </a:xfrm>
          <a:prstGeom prst="ellipse">
            <a:avLst/>
          </a:prstGeom>
          <a:solidFill>
            <a:srgbClr val="0E8F63"/>
          </a:solidFill>
        </p:spPr>
      </p:sp>
      <p:sp>
        <p:nvSpPr>
          <p:cNvPr id="41" name="soft-text-2"/>
          <p:cNvSpPr/>
          <p:nvPr/>
        </p:nvSpPr>
        <p:spPr>
          <a:xfrm>
            <a:off x="8632000" y="763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Teamwork</a:t>
            </a:r>
            <a:endParaRPr lang="en-US" sz="1400" dirty="0"/>
          </a:p>
        </p:txBody>
      </p:sp>
      <p:sp>
        <p:nvSpPr>
          <p:cNvPr id="42" name="soft-dot-3"/>
          <p:cNvSpPr/>
          <p:nvPr/>
        </p:nvSpPr>
        <p:spPr>
          <a:xfrm>
            <a:off x="8402000" y="8180300"/>
            <a:ext cx="114300" cy="114300"/>
          </a:xfrm>
          <a:prstGeom prst="ellipse">
            <a:avLst/>
          </a:prstGeom>
          <a:solidFill>
            <a:srgbClr val="0E8F63"/>
          </a:solidFill>
        </p:spPr>
      </p:sp>
      <p:sp>
        <p:nvSpPr>
          <p:cNvPr id="43" name="soft-text-3"/>
          <p:cNvSpPr/>
          <p:nvPr/>
        </p:nvSpPr>
        <p:spPr>
          <a:xfrm>
            <a:off x="8632000" y="8090300"/>
            <a:ext cx="4500000" cy="300000"/>
          </a:xfrm>
          <a:prstGeom prst="rect">
            <a:avLst/>
          </a:prstGeom>
          <a:noFill/>
        </p:spPr>
        <p:txBody>
          <a:bodyPr wrap="none" lIns="0" tIns="0" rIns="0" bIns="0" rtlCol="0" anchor="t"/>
          <a:lstStyle/>
          <a:p>
            <a:pPr marL="0" indent="0" algn="l">
              <a:buNone/>
            </a:pPr>
            <a:r>
              <a:rPr lang="en-US" altLang="en-US" sz="1400" dirty="0">
                <a:solidFill>
                  <a:srgbClr val="1E2761"/>
                </a:solidFill>
                <a:latin typeface="Outfit" pitchFamily="34" charset="0"/>
                <a:ea typeface="Outfit" pitchFamily="34" charset="-122"/>
                <a:cs typeface="Outfit" pitchFamily="34" charset="-120"/>
              </a:rPr>
              <a:t>Presentation</a:t>
            </a:r>
            <a:endParaRPr lang="en-US" sz="1400" dirty="0"/>
          </a:p>
        </p:txBody>
      </p:sp>
      <p:sp>
        <p:nvSpPr>
          <p:cNvPr id="4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06</a:t>
            </a:r>
            <a:endParaRPr lang="en-US" sz="1400" dirty="0"/>
          </a:p>
        </p:txBody>
      </p:sp>
      <p:sp>
        <p:nvSpPr>
          <p:cNvPr id="45" name="Shape 8"/>
          <p:cNvSpPr/>
          <p:nvPr/>
        </p:nvSpPr>
        <p:spPr>
          <a:xfrm>
            <a:off x="15161895" y="8593455"/>
            <a:ext cx="834390" cy="428625"/>
          </a:xfrm>
          <a:prstGeom prst="ellipse">
            <a:avLst/>
          </a:prstGeom>
          <a:solidFill>
            <a:schemeClr val="accent5"/>
          </a:solidFill>
          <a:ln w="15875">
            <a:noFill/>
            <a:prstDash val="solid"/>
          </a:ln>
        </p:spPr>
        <p:txBody>
          <a:bodyPr anchor="ctr"/>
          <a:p>
            <a:pPr marL="0" indent="0" algn="ctr">
              <a:buNone/>
            </a:pPr>
            <a:r>
              <a:rPr lang="en-US" b="1" dirty="0">
                <a:solidFill>
                  <a:srgbClr val="FFFFFF"/>
                </a:solidFill>
                <a:latin typeface="Calibri" panose="020F0502020204030204" charset="0"/>
              </a:rPr>
              <a:t>9</a:t>
            </a:r>
            <a:endParaRPr lang="en-US"/>
          </a:p>
        </p:txBody>
      </p:sp>
      <p:pic>
        <p:nvPicPr>
          <p:cNvPr id="46" name="Header Banner"/>
          <p:cNvPicPr>
            <a:picLocks noChangeAspect="1"/>
          </p:cNvPicPr>
          <p:nvPr/>
        </p:nvPicPr>
        <p:blipFill>
          <a:blip r:embed="rId1"/>
          <a:srcRect t="27119" b="14044"/>
          <a:stretch>
            <a:fillRect/>
          </a:stretch>
        </p:blipFill>
        <p:spPr>
          <a:xfrm>
            <a:off x="0" y="0"/>
            <a:ext cx="16256000" cy="745490"/>
          </a:xfrm>
          <a:prstGeom prst="rect">
            <a:avLst/>
          </a:prstGeom>
        </p:spPr>
      </p:pic>
      <p:sp>
        <p:nvSpPr>
          <p:cNvPr id="47" name="Text Box 46"/>
          <p:cNvSpPr txBox="1"/>
          <p:nvPr/>
        </p:nvSpPr>
        <p:spPr>
          <a:xfrm>
            <a:off x="2006600" y="6710045"/>
            <a:ext cx="8128000" cy="306705"/>
          </a:xfrm>
          <a:prstGeom prst="rect">
            <a:avLst/>
          </a:prstGeom>
          <a:noFill/>
        </p:spPr>
        <p:txBody>
          <a:bodyPr wrap="square" rtlCol="0" anchor="t">
            <a:spAutoFit/>
          </a:bodyPr>
          <a:p>
            <a:r>
              <a:rPr lang="en-US" altLang="en-US" sz="1400" dirty="0">
                <a:solidFill>
                  <a:srgbClr val="5A6B85"/>
                </a:solidFill>
                <a:latin typeface="Outfit" pitchFamily="34" charset="0"/>
                <a:ea typeface="Outfit" pitchFamily="34" charset="-122"/>
                <a:cs typeface="Outfit" pitchFamily="34" charset="-120"/>
                <a:sym typeface="+mn-ea"/>
              </a:rPr>
              <a:t>Repeatable data transformation and standardization.</a:t>
            </a:r>
            <a:endParaRPr lang="en-US" altLang="en-US" sz="1400" dirty="0">
              <a:solidFill>
                <a:srgbClr val="5A6B85"/>
              </a:solidFill>
              <a:latin typeface="Outfit" pitchFamily="34" charset="0"/>
              <a:ea typeface="Outfit" pitchFamily="34" charset="-122"/>
              <a:cs typeface="Outfit" pitchFamily="34" charset="-120"/>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B"/>
        </a:solidFill>
        <a:effectLst/>
      </p:bgPr>
    </p:bg>
    <p:spTree>
      <p:nvGrpSpPr>
        <p:cNvPr id="1" name=""/>
        <p:cNvGrpSpPr/>
        <p:nvPr/>
      </p:nvGrpSpPr>
      <p:grpSpPr>
        <a:xfrm>
          <a:off x="0" y="0"/>
          <a:ext cx="0" cy="0"/>
          <a:chOff x="0" y="0"/>
          <a:chExt cx="0" cy="0"/>
        </a:xfrm>
      </p:grpSpPr>
      <p:sp>
        <p:nvSpPr>
          <p:cNvPr id="2" name="title-rule"/>
          <p:cNvSpPr/>
          <p:nvPr/>
        </p:nvSpPr>
        <p:spPr>
          <a:xfrm>
            <a:off x="457200" y="762000"/>
            <a:ext cx="50800" cy="368300"/>
          </a:xfrm>
          <a:prstGeom prst="rect">
            <a:avLst/>
          </a:prstGeom>
          <a:solidFill>
            <a:srgbClr val="0E8F63"/>
          </a:solidFill>
        </p:spPr>
      </p:sp>
      <p:sp>
        <p:nvSpPr>
          <p:cNvPr id="3" name="slide-title"/>
          <p:cNvSpPr/>
          <p:nvPr/>
        </p:nvSpPr>
        <p:spPr>
          <a:xfrm>
            <a:off x="762000" y="736600"/>
            <a:ext cx="12700000" cy="482600"/>
          </a:xfrm>
          <a:prstGeom prst="rect">
            <a:avLst/>
          </a:prstGeom>
          <a:noFill/>
        </p:spPr>
        <p:txBody>
          <a:bodyPr wrap="none" lIns="0" tIns="0" rIns="0" bIns="0" rtlCol="0" anchor="t"/>
          <a:lstStyle/>
          <a:p>
            <a:pPr marL="0" indent="0" algn="l">
              <a:buNone/>
            </a:pPr>
            <a:r>
              <a:rPr lang="en-US" altLang="en-US" sz="3000" b="1" dirty="0">
                <a:solidFill>
                  <a:srgbClr val="1E2761"/>
                </a:solidFill>
                <a:latin typeface="Corbel" panose="020B0503020204020204" pitchFamily="34" charset="0"/>
                <a:ea typeface="Corbel" panose="020B0503020204020204" pitchFamily="34" charset="-122"/>
                <a:cs typeface="Corbel" panose="020B0503020204020204" pitchFamily="34" charset="-120"/>
              </a:rPr>
              <a:t>Acknowledgements &amp; References</a:t>
            </a:r>
            <a:endParaRPr lang="en-US" sz="3000" dirty="0"/>
          </a:p>
        </p:txBody>
      </p:sp>
      <p:sp>
        <p:nvSpPr>
          <p:cNvPr id="4" name="slide-number"/>
          <p:cNvSpPr/>
          <p:nvPr/>
        </p:nvSpPr>
        <p:spPr>
          <a:xfrm>
            <a:off x="15113000" y="355600"/>
            <a:ext cx="635000" cy="304800"/>
          </a:xfrm>
          <a:prstGeom prst="rect">
            <a:avLst/>
          </a:prstGeom>
          <a:noFill/>
        </p:spPr>
        <p:txBody>
          <a:bodyPr wrap="none" lIns="0" tIns="0" rIns="0" bIns="0" rtlCol="0" anchor="t"/>
          <a:lstStyle/>
          <a:p>
            <a:pPr marL="0" indent="0" algn="r">
              <a:buNone/>
            </a:pPr>
            <a:r>
              <a:rPr lang="en-US" altLang="en-US" sz="1400" dirty="0">
                <a:solidFill>
                  <a:srgbClr val="5A6B85"/>
                </a:solidFill>
                <a:latin typeface="Outfit" pitchFamily="34" charset="0"/>
                <a:ea typeface="Outfit" pitchFamily="34" charset="-122"/>
                <a:cs typeface="Outfit" pitchFamily="34" charset="-120"/>
              </a:rPr>
              <a:t>07</a:t>
            </a:r>
            <a:endParaRPr lang="en-US" sz="1400" dirty="0"/>
          </a:p>
        </p:txBody>
      </p:sp>
      <p:sp>
        <p:nvSpPr>
          <p:cNvPr id="5" name="ack-tag"/>
          <p:cNvSpPr/>
          <p:nvPr/>
        </p:nvSpPr>
        <p:spPr>
          <a:xfrm>
            <a:off x="939800" y="1424305"/>
            <a:ext cx="3030220" cy="314325"/>
          </a:xfrm>
          <a:prstGeom prst="roundRect">
            <a:avLst>
              <a:gd name="adj" fmla="val 50000"/>
            </a:avLst>
          </a:prstGeom>
          <a:solidFill>
            <a:srgbClr val="EAF1FB"/>
          </a:solidFill>
        </p:spPr>
      </p:sp>
      <p:sp>
        <p:nvSpPr>
          <p:cNvPr id="6" name="ack-tag-text"/>
          <p:cNvSpPr/>
          <p:nvPr/>
        </p:nvSpPr>
        <p:spPr>
          <a:xfrm>
            <a:off x="1629410" y="1483360"/>
            <a:ext cx="1866900" cy="157480"/>
          </a:xfrm>
          <a:prstGeom prst="rect">
            <a:avLst/>
          </a:prstGeom>
          <a:noFill/>
        </p:spPr>
        <p:txBody>
          <a:bodyPr wrap="none" lIns="0" tIns="0" rIns="0" bIns="0" rtlCol="0" anchor="t"/>
          <a:lstStyle/>
          <a:p>
            <a:pPr marL="0" indent="0" algn="ctr">
              <a:buNone/>
            </a:pPr>
            <a:r>
              <a:rPr lang="en-US" altLang="en-US" sz="1700" b="1" dirty="0">
                <a:solidFill>
                  <a:srgbClr val="2F6FED"/>
                </a:solidFill>
                <a:latin typeface="Outfit" pitchFamily="34" charset="0"/>
                <a:ea typeface="Outfit" pitchFamily="34" charset="-122"/>
                <a:cs typeface="Outfit" pitchFamily="34" charset="-120"/>
              </a:rPr>
              <a:t>ACKNOWLEDGEMENTS</a:t>
            </a:r>
            <a:endParaRPr lang="en-US" sz="1700" dirty="0"/>
          </a:p>
        </p:txBody>
      </p:sp>
      <p:sp>
        <p:nvSpPr>
          <p:cNvPr id="7" name="ref-tag"/>
          <p:cNvSpPr/>
          <p:nvPr/>
        </p:nvSpPr>
        <p:spPr>
          <a:xfrm>
            <a:off x="939800" y="7105650"/>
            <a:ext cx="2038350" cy="231775"/>
          </a:xfrm>
          <a:prstGeom prst="roundRect">
            <a:avLst>
              <a:gd name="adj" fmla="val 50000"/>
            </a:avLst>
          </a:prstGeom>
          <a:solidFill>
            <a:srgbClr val="E9F6F0"/>
          </a:solidFill>
        </p:spPr>
      </p:sp>
      <p:sp>
        <p:nvSpPr>
          <p:cNvPr id="8" name="ref-tag-text"/>
          <p:cNvSpPr/>
          <p:nvPr/>
        </p:nvSpPr>
        <p:spPr>
          <a:xfrm>
            <a:off x="1193800" y="7105650"/>
            <a:ext cx="1244600" cy="215900"/>
          </a:xfrm>
          <a:prstGeom prst="rect">
            <a:avLst/>
          </a:prstGeom>
          <a:noFill/>
        </p:spPr>
        <p:txBody>
          <a:bodyPr wrap="none" lIns="0" tIns="0" rIns="0" bIns="0" rtlCol="0" anchor="t"/>
          <a:lstStyle/>
          <a:p>
            <a:pPr marL="0" indent="0" algn="ctr">
              <a:buNone/>
            </a:pPr>
            <a:r>
              <a:rPr lang="en-US" altLang="en-US" sz="1700" b="1" dirty="0">
                <a:solidFill>
                  <a:srgbClr val="0E8F63"/>
                </a:solidFill>
                <a:latin typeface="Outfit" pitchFamily="34" charset="0"/>
                <a:ea typeface="Outfit" pitchFamily="34" charset="-122"/>
                <a:cs typeface="Outfit" pitchFamily="34" charset="-120"/>
              </a:rPr>
              <a:t>REFERENCES</a:t>
            </a:r>
            <a:endParaRPr lang="en-US" sz="1700" dirty="0"/>
          </a:p>
        </p:txBody>
      </p:sp>
      <p:sp>
        <p:nvSpPr>
          <p:cNvPr id="9" name="ack-card"/>
          <p:cNvSpPr/>
          <p:nvPr/>
        </p:nvSpPr>
        <p:spPr>
          <a:xfrm>
            <a:off x="762000" y="1905000"/>
            <a:ext cx="14986000" cy="5034280"/>
          </a:xfrm>
          <a:prstGeom prst="roundRect">
            <a:avLst>
              <a:gd name="adj" fmla="val 3784"/>
            </a:avLst>
          </a:prstGeom>
          <a:solidFill>
            <a:srgbClr val="FFFFFF"/>
          </a:solidFill>
          <a:ln w="12700">
            <a:solidFill>
              <a:srgbClr val="E2E8F0"/>
            </a:solidFill>
            <a:prstDash val="solid"/>
          </a:ln>
        </p:spPr>
        <p:txBody>
          <a:bodyPr/>
          <a:p>
            <a:r>
              <a:rPr lang="en-US" altLang="en-US">
                <a:solidFill>
                  <a:schemeClr val="bg2">
                    <a:lumMod val="50000"/>
                  </a:schemeClr>
                </a:solidFill>
                <a:latin typeface="Cambria" panose="02040503050406030204" charset="0"/>
                <a:cs typeface="Cambria" panose="02040503050406030204" charset="0"/>
              </a:rPr>
              <a:t>We would like to express our sincere gratitude to the Infosys Springboard Team for organizing this highly enriching virtual internship program and for</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providing a structured, industry-aligned learning platform. The well- designed modules, milestone-based framework, and practical orientation of the internship enabled us to gain meaningful exposure to real-world business intelligence applications.</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We extend our heartfelt appreciation to our mentor, Mrs. Nithyasree, for her consistent guidance, valuable feedback, and continuous encouragement</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throughout the project lifecycle. Her insights and structured direction played a significant role in shaping the analytical depth and professional quality of this project.</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We would also like to acknowledge our team members for their strong collaboration, accountability, and shared commitment toward achieving project objectives. The coordinated distribution of responsibilities, open communication, and collective problem-solving approach significantly contributed to the successful execution of this project.</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In addition, we extend our appreciation to the creators and maintainers of Microsoft Power BI documentation and community resources, which served</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as essential references during dashboard development and KPI implementation. We are also grateful to Kaggle for providing access to publicly available datasets that facilitated practical, hands-on analytical experience. </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The structured learning resources and practical exposure provided through this internship have significantly strengthened our analytical thinking, technical proficiency, and business interpretation skills. This experience has enhanced our ability to approach data with a strategic mindset, collaborate effectively within a team environment, and execute projects with professional discipline. </a:t>
            </a:r>
            <a:endParaRPr lang="en-US" altLang="en-US">
              <a:solidFill>
                <a:schemeClr val="bg2">
                  <a:lumMod val="50000"/>
                </a:schemeClr>
              </a:solidFill>
              <a:latin typeface="Cambria" panose="02040503050406030204" charset="0"/>
              <a:cs typeface="Cambria" panose="02040503050406030204" charset="0"/>
            </a:endParaRPr>
          </a:p>
          <a:p>
            <a:r>
              <a:rPr lang="en-US" altLang="en-US">
                <a:solidFill>
                  <a:schemeClr val="bg2">
                    <a:lumMod val="50000"/>
                  </a:schemeClr>
                </a:solidFill>
                <a:latin typeface="Cambria" panose="02040503050406030204" charset="0"/>
                <a:cs typeface="Cambria" panose="02040503050406030204" charset="0"/>
              </a:rPr>
              <a:t>Overall, this internship has been a meaningful milestone in our academic and professional journey, reinforcing the value of data-driven decision-making and structured analytical execution in modern business environments.</a:t>
            </a:r>
            <a:endParaRPr lang="en-US" altLang="en-US">
              <a:solidFill>
                <a:schemeClr val="bg2">
                  <a:lumMod val="50000"/>
                </a:schemeClr>
              </a:solidFill>
              <a:latin typeface="Cambria" panose="02040503050406030204" charset="0"/>
              <a:cs typeface="Cambria" panose="02040503050406030204" charset="0"/>
            </a:endParaRPr>
          </a:p>
          <a:p>
            <a:endParaRPr lang="en-US" altLang="en-US">
              <a:solidFill>
                <a:schemeClr val="bg2">
                  <a:lumMod val="50000"/>
                </a:schemeClr>
              </a:solidFill>
              <a:latin typeface="Cambria" panose="02040503050406030204" charset="0"/>
              <a:cs typeface="Cambria" panose="02040503050406030204" charset="0"/>
            </a:endParaRPr>
          </a:p>
        </p:txBody>
      </p:sp>
      <p:sp>
        <p:nvSpPr>
          <p:cNvPr id="10" name="ack-list"/>
          <p:cNvSpPr/>
          <p:nvPr/>
        </p:nvSpPr>
        <p:spPr>
          <a:xfrm>
            <a:off x="1193800" y="2413000"/>
            <a:ext cx="6223000" cy="3429000"/>
          </a:xfrm>
          <a:prstGeom prst="rect">
            <a:avLst/>
          </a:prstGeom>
          <a:noFill/>
        </p:spPr>
        <p:txBody>
          <a:bodyPr wrap="square" lIns="0" tIns="0" rIns="0" bIns="0" rtlCol="0" anchor="t"/>
          <a:lstStyle/>
          <a:p>
            <a:pPr indent="0" algn="l">
              <a:lnSpc>
                <a:spcPts val="2295"/>
              </a:lnSpc>
              <a:spcBef>
                <a:spcPts val="10"/>
              </a:spcBef>
              <a:buSzPct val="100000"/>
              <a:buNone/>
            </a:pPr>
            <a:endParaRPr lang="en-US" sz="1700" dirty="0"/>
          </a:p>
        </p:txBody>
      </p:sp>
      <p:sp>
        <p:nvSpPr>
          <p:cNvPr id="12" name="ref-list"/>
          <p:cNvSpPr/>
          <p:nvPr/>
        </p:nvSpPr>
        <p:spPr>
          <a:xfrm>
            <a:off x="8813800" y="2413000"/>
            <a:ext cx="6223000" cy="3048000"/>
          </a:xfrm>
          <a:prstGeom prst="rect">
            <a:avLst/>
          </a:prstGeom>
          <a:noFill/>
        </p:spPr>
        <p:txBody>
          <a:bodyPr wrap="square" lIns="0" tIns="0" rIns="0" bIns="0" rtlCol="0" anchor="t"/>
          <a:lstStyle/>
          <a:p>
            <a:pPr indent="0" algn="l">
              <a:lnSpc>
                <a:spcPts val="2295"/>
              </a:lnSpc>
              <a:spcBef>
                <a:spcPts val="10"/>
              </a:spcBef>
              <a:buSzPct val="100000"/>
              <a:buNone/>
            </a:pPr>
            <a:endParaRPr lang="en-US" sz="2000" dirty="0"/>
          </a:p>
        </p:txBody>
      </p:sp>
      <p:pic>
        <p:nvPicPr>
          <p:cNvPr id="49" name="Picture 48"/>
          <p:cNvPicPr>
            <a:picLocks noChangeAspect="1"/>
          </p:cNvPicPr>
          <p:nvPr/>
        </p:nvPicPr>
        <p:blipFill>
          <a:blip r:embed="rId1"/>
          <a:srcRect t="27119" b="14044"/>
          <a:stretch>
            <a:fillRect/>
          </a:stretch>
        </p:blipFill>
        <p:spPr>
          <a:xfrm>
            <a:off x="0" y="0"/>
            <a:ext cx="16256000" cy="660400"/>
          </a:xfrm>
          <a:prstGeom prst="rect">
            <a:avLst/>
          </a:prstGeom>
        </p:spPr>
      </p:pic>
      <p:sp>
        <p:nvSpPr>
          <p:cNvPr id="16" name="ref-card"/>
          <p:cNvSpPr/>
          <p:nvPr/>
        </p:nvSpPr>
        <p:spPr>
          <a:xfrm>
            <a:off x="762000" y="7487920"/>
            <a:ext cx="8482330" cy="1286510"/>
          </a:xfrm>
          <a:prstGeom prst="roundRect">
            <a:avLst>
              <a:gd name="adj" fmla="val 3784"/>
            </a:avLst>
          </a:prstGeom>
          <a:solidFill>
            <a:srgbClr val="FFFFFF"/>
          </a:solidFill>
          <a:ln w="12700">
            <a:solidFill>
              <a:srgbClr val="C8E8D9"/>
            </a:solidFill>
            <a:prstDash val="solid"/>
          </a:ln>
        </p:spPr>
        <p:txBody>
          <a:bodyPr/>
          <a:p>
            <a:pPr marL="269875" indent="-269875" algn="l">
              <a:lnSpc>
                <a:spcPts val="2295"/>
              </a:lnSpc>
              <a:spcBef>
                <a:spcPts val="10"/>
              </a:spcBef>
              <a:buSzPct val="100000"/>
              <a:buChar char="•"/>
            </a:pPr>
            <a:r>
              <a:rPr lang="en-US" altLang="en-US" dirty="0">
                <a:solidFill>
                  <a:srgbClr val="5A6B85"/>
                </a:solidFill>
                <a:latin typeface="Outfit" pitchFamily="34" charset="0"/>
                <a:ea typeface="Outfit" pitchFamily="34" charset="-122"/>
                <a:cs typeface="Outfit" pitchFamily="34" charset="-120"/>
                <a:sym typeface="+mn-ea"/>
              </a:rPr>
              <a:t>VERIS Community Database (VCDB), accessed through Kaggle</a:t>
            </a:r>
            <a:endParaRPr lang="en-US" dirty="0"/>
          </a:p>
          <a:p>
            <a:pPr marL="269875" indent="-269875" algn="l">
              <a:lnSpc>
                <a:spcPts val="2295"/>
              </a:lnSpc>
              <a:spcBef>
                <a:spcPts val="10"/>
              </a:spcBef>
              <a:buSzPct val="100000"/>
              <a:buChar char="•"/>
            </a:pPr>
            <a:r>
              <a:rPr lang="en-US" altLang="en-US" dirty="0">
                <a:solidFill>
                  <a:srgbClr val="5A6B85"/>
                </a:solidFill>
                <a:latin typeface="Outfit" pitchFamily="34" charset="0"/>
                <a:ea typeface="Outfit" pitchFamily="34" charset="-122"/>
                <a:cs typeface="Outfit" pitchFamily="34" charset="-120"/>
                <a:sym typeface="+mn-ea"/>
              </a:rPr>
              <a:t>Microsoft Learn — Power Query documentation</a:t>
            </a:r>
            <a:endParaRPr lang="en-US" dirty="0"/>
          </a:p>
          <a:p>
            <a:pPr marL="269875" indent="-269875" algn="l">
              <a:lnSpc>
                <a:spcPts val="2295"/>
              </a:lnSpc>
              <a:spcBef>
                <a:spcPts val="10"/>
              </a:spcBef>
              <a:buSzPct val="100000"/>
              <a:buChar char="•"/>
            </a:pPr>
            <a:r>
              <a:rPr lang="en-US" altLang="en-US" dirty="0">
                <a:solidFill>
                  <a:srgbClr val="5A6B85"/>
                </a:solidFill>
                <a:latin typeface="Outfit" pitchFamily="34" charset="0"/>
                <a:ea typeface="Outfit" pitchFamily="34" charset="-122"/>
                <a:cs typeface="Outfit" pitchFamily="34" charset="-120"/>
                <a:sym typeface="+mn-ea"/>
              </a:rPr>
              <a:t>Internship course and training materials</a:t>
            </a:r>
            <a:endParaRPr lang="en-US"/>
          </a:p>
        </p:txBody>
      </p:sp>
      <p:sp>
        <p:nvSpPr>
          <p:cNvPr id="11" name="Shape 8"/>
          <p:cNvSpPr/>
          <p:nvPr/>
        </p:nvSpPr>
        <p:spPr>
          <a:xfrm>
            <a:off x="15200630" y="8593455"/>
            <a:ext cx="795655" cy="415290"/>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hanks-title"/>
          <p:cNvSpPr/>
          <p:nvPr/>
        </p:nvSpPr>
        <p:spPr>
          <a:xfrm>
            <a:off x="2631440" y="3511550"/>
            <a:ext cx="11430000" cy="889000"/>
          </a:xfrm>
          <a:prstGeom prst="rect">
            <a:avLst/>
          </a:prstGeom>
          <a:noFill/>
        </p:spPr>
        <p:txBody>
          <a:bodyPr wrap="none" lIns="0" tIns="0" rIns="0" bIns="0" rtlCol="0" anchor="ctr"/>
          <a:lstStyle/>
          <a:p>
            <a:pPr marL="0" indent="0" algn="ctr">
              <a:buNone/>
            </a:pPr>
            <a:r>
              <a:rPr lang="en-US" altLang="en-US" sz="4000" b="1" dirty="0">
                <a:solidFill>
                  <a:srgbClr val="1E2761"/>
                </a:solidFill>
                <a:latin typeface="Corbel" panose="020B0503020204020204" pitchFamily="34" charset="0"/>
                <a:ea typeface="Corbel" panose="020B0503020204020204" pitchFamily="34" charset="-122"/>
                <a:cs typeface="Corbel" panose="020B0503020204020204" pitchFamily="34" charset="-120"/>
              </a:rPr>
              <a:t>Thank You</a:t>
            </a:r>
            <a:endParaRPr lang="en-US" sz="4000" dirty="0"/>
          </a:p>
        </p:txBody>
      </p:sp>
      <p:sp>
        <p:nvSpPr>
          <p:cNvPr id="3" name="thanks-accent"/>
          <p:cNvSpPr/>
          <p:nvPr/>
        </p:nvSpPr>
        <p:spPr>
          <a:xfrm>
            <a:off x="7074535" y="4889500"/>
            <a:ext cx="2794000" cy="63500"/>
          </a:xfrm>
          <a:prstGeom prst="rect">
            <a:avLst/>
          </a:prstGeom>
          <a:solidFill>
            <a:srgbClr val="0E8F63"/>
          </a:solidFill>
        </p:spPr>
      </p:sp>
      <p:sp>
        <p:nvSpPr>
          <p:cNvPr id="4" name="discussion-text"/>
          <p:cNvSpPr/>
          <p:nvPr/>
        </p:nvSpPr>
        <p:spPr>
          <a:xfrm>
            <a:off x="4572000" y="4889500"/>
            <a:ext cx="7112000" cy="355600"/>
          </a:xfrm>
          <a:prstGeom prst="rect">
            <a:avLst/>
          </a:prstGeom>
          <a:noFill/>
        </p:spPr>
        <p:txBody>
          <a:bodyPr wrap="none" lIns="0" tIns="0" rIns="0" bIns="0" rtlCol="0" anchor="ctr"/>
          <a:lstStyle/>
          <a:p>
            <a:pPr marL="0" indent="0" algn="ctr">
              <a:buNone/>
            </a:pPr>
            <a:endParaRPr lang="en-US" sz="1700" dirty="0"/>
          </a:p>
        </p:txBody>
      </p:sp>
      <p:sp>
        <p:nvSpPr>
          <p:cNvPr id="5" name="project-signature"/>
          <p:cNvSpPr/>
          <p:nvPr/>
        </p:nvSpPr>
        <p:spPr>
          <a:xfrm>
            <a:off x="2286000" y="7239000"/>
            <a:ext cx="11684000" cy="304800"/>
          </a:xfrm>
          <a:prstGeom prst="rect">
            <a:avLst/>
          </a:prstGeom>
          <a:noFill/>
        </p:spPr>
        <p:txBody>
          <a:bodyPr wrap="none" lIns="0" tIns="0" rIns="0" bIns="0" rtlCol="0" anchor="ctr"/>
          <a:lstStyle/>
          <a:p>
            <a:pPr marL="0" indent="0" algn="ctr">
              <a:buNone/>
            </a:pPr>
            <a:endParaRPr lang="en-US" sz="1400" dirty="0"/>
          </a:p>
        </p:txBody>
      </p:sp>
      <p:pic>
        <p:nvPicPr>
          <p:cNvPr id="49" name="Picture 48"/>
          <p:cNvPicPr>
            <a:picLocks noChangeAspect="1"/>
          </p:cNvPicPr>
          <p:nvPr/>
        </p:nvPicPr>
        <p:blipFill>
          <a:blip r:embed="rId1"/>
          <a:srcRect t="27119" b="14044"/>
          <a:stretch>
            <a:fillRect/>
          </a:stretch>
        </p:blipFill>
        <p:spPr>
          <a:xfrm>
            <a:off x="0" y="0"/>
            <a:ext cx="16256000" cy="828040"/>
          </a:xfrm>
          <a:prstGeom prst="rect">
            <a:avLst/>
          </a:prstGeom>
        </p:spPr>
      </p:pic>
      <p:sp>
        <p:nvSpPr>
          <p:cNvPr id="6" name="Shape 3"/>
          <p:cNvSpPr/>
          <p:nvPr/>
        </p:nvSpPr>
        <p:spPr>
          <a:xfrm>
            <a:off x="7670800" y="2062480"/>
            <a:ext cx="882650" cy="960120"/>
          </a:xfrm>
          <a:prstGeom prst="ellipse">
            <a:avLst/>
          </a:prstGeom>
          <a:solidFill>
            <a:srgbClr val="92D050"/>
          </a:solidFill>
        </p:spPr>
        <p:txBody>
          <a:bodyPr/>
          <a:p>
            <a:endParaRPr lang="en-US"/>
          </a:p>
        </p:txBody>
      </p:sp>
      <p:pic>
        <p:nvPicPr>
          <p:cNvPr id="18" name="Picture 17"/>
          <p:cNvPicPr>
            <a:picLocks noChangeAspect="1"/>
          </p:cNvPicPr>
          <p:nvPr/>
        </p:nvPicPr>
        <p:blipFill>
          <a:blip r:embed="rId2"/>
          <a:stretch>
            <a:fillRect/>
          </a:stretch>
        </p:blipFill>
        <p:spPr>
          <a:xfrm>
            <a:off x="7849235" y="2279650"/>
            <a:ext cx="525780" cy="525780"/>
          </a:xfrm>
          <a:prstGeom prst="rect">
            <a:avLst/>
          </a:prstGeom>
        </p:spPr>
      </p:pic>
      <p:sp>
        <p:nvSpPr>
          <p:cNvPr id="7" name="Shape 8"/>
          <p:cNvSpPr/>
          <p:nvPr/>
        </p:nvSpPr>
        <p:spPr>
          <a:xfrm>
            <a:off x="15200630" y="8593455"/>
            <a:ext cx="795655" cy="415290"/>
          </a:xfrm>
          <a:prstGeom prst="ellipse">
            <a:avLst/>
          </a:prstGeom>
          <a:solidFill>
            <a:schemeClr val="accent5"/>
          </a:solidFill>
          <a:ln w="15875">
            <a:noFill/>
            <a:prstDash val="solid"/>
          </a:ln>
        </p:spPr>
        <p:txBody>
          <a:bodyPr/>
          <a:p>
            <a:pPr marL="0" indent="0" algn="ctr">
              <a:buNone/>
            </a:pPr>
            <a:r>
              <a:rPr lang="en-US" b="1" dirty="0">
                <a:solidFill>
                  <a:srgbClr val="FFFFFF"/>
                </a:solidFill>
                <a:latin typeface="Calibri" panose="020F0502020204030204" charset="0"/>
                <a:ea typeface="Calibri" panose="020F0502020204030204" pitchFamily="34" charset="-122"/>
                <a:cs typeface="Calibri" panose="020F0502020204030204" pitchFamily="34" charset="-120"/>
                <a:sym typeface="+mn-ea"/>
              </a:rPr>
              <a:t>11</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5999</Words>
  <Application>WPS Presentation</Application>
  <PresentationFormat>On-screen Show (16:9)</PresentationFormat>
  <Paragraphs>297</Paragraphs>
  <Slides>11</Slides>
  <Notes>8</Notes>
  <HiddenSlides>0</HiddenSlides>
  <MMClips>0</MMClips>
  <ScaleCrop>false</ScaleCrop>
  <HeadingPairs>
    <vt:vector size="6" baseType="variant">
      <vt:variant>
        <vt:lpstr>已用的字体</vt:lpstr>
      </vt:variant>
      <vt:variant>
        <vt:i4>22</vt:i4>
      </vt:variant>
      <vt:variant>
        <vt:lpstr>主题</vt:lpstr>
      </vt:variant>
      <vt:variant>
        <vt:i4>1</vt:i4>
      </vt:variant>
      <vt:variant>
        <vt:lpstr>幻灯片标题</vt:lpstr>
      </vt:variant>
      <vt:variant>
        <vt:i4>11</vt:i4>
      </vt:variant>
    </vt:vector>
  </HeadingPairs>
  <TitlesOfParts>
    <vt:vector size="34" baseType="lpstr">
      <vt:lpstr>Arial</vt:lpstr>
      <vt:lpstr>SimSun</vt:lpstr>
      <vt:lpstr>Wingdings</vt:lpstr>
      <vt:lpstr>Space Grotesk Medium</vt:lpstr>
      <vt:lpstr>Outfit Light</vt:lpstr>
      <vt:lpstr>Outfit</vt:lpstr>
      <vt:lpstr>Outfit</vt:lpstr>
      <vt:lpstr>Outfit</vt:lpstr>
      <vt:lpstr>Times New Roman</vt:lpstr>
      <vt:lpstr>Aptos</vt:lpstr>
      <vt:lpstr>Calibri</vt:lpstr>
      <vt:lpstr>Calibri</vt:lpstr>
      <vt:lpstr>Calibri</vt:lpstr>
      <vt:lpstr>Britannic Bold</vt:lpstr>
      <vt:lpstr>Corbel</vt:lpstr>
      <vt:lpstr>Corbel</vt:lpstr>
      <vt:lpstr>Corbel</vt:lpstr>
      <vt:lpstr>Cambria</vt:lpstr>
      <vt:lpstr>AMGDT</vt:lpstr>
      <vt:lpstr>Microsoft YaHei</vt:lpstr>
      <vt:lpstr>Arial Unicode MS</vt:lpstr>
      <vt:lpstr>Segoe UI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Manus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Cyber Threat Analytics Platform with Incident Visualization System</dc:title>
  <dc:creator>Manus</dc:creator>
  <dc:subject>Cyber Threat Analytics Platform with Incident Visualization System</dc:subject>
  <cp:lastModifiedBy>twinklemohanty42</cp:lastModifiedBy>
  <cp:revision>13</cp:revision>
  <dcterms:created xsi:type="dcterms:W3CDTF">2026-08-16T14:43:00Z</dcterms:created>
  <dcterms:modified xsi:type="dcterms:W3CDTF">2026-08-25T10:34:29Z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1033-12.1.0.28032</vt:lpwstr>
  </property>
  <property fmtid="{D5CDD505-2E9C-101B-9397-08002B2CF9AE}" pid="3" name="ICV">
    <vt:lpwstr>5A5D8A83E6114B0DBF124BAC6BAF947E_13</vt:lpwstr>
  </property>
</Properties>
</file>